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aleway"/>
      <p:regular r:id="rId31"/>
      <p:bold r:id="rId32"/>
      <p:italic r:id="rId33"/>
      <p:boldItalic r:id="rId34"/>
    </p:embeddedFont>
    <p:embeddedFont>
      <p:font typeface="Nunito"/>
      <p:regular r:id="rId35"/>
      <p:bold r:id="rId36"/>
      <p:italic r:id="rId37"/>
      <p:boldItalic r:id="rId38"/>
    </p:embeddedFont>
    <p:embeddedFont>
      <p:font typeface="Lat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fntdata"/><Relationship Id="rId20" Type="http://schemas.openxmlformats.org/officeDocument/2006/relationships/slide" Target="slides/slide15.xml"/><Relationship Id="rId42" Type="http://schemas.openxmlformats.org/officeDocument/2006/relationships/font" Target="fonts/Lato-boldItalic.fntdata"/><Relationship Id="rId41" Type="http://schemas.openxmlformats.org/officeDocument/2006/relationships/font" Target="fonts/Lat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leway-italic.fntdata"/><Relationship Id="rId10" Type="http://schemas.openxmlformats.org/officeDocument/2006/relationships/slide" Target="slides/slide5.xml"/><Relationship Id="rId32" Type="http://schemas.openxmlformats.org/officeDocument/2006/relationships/font" Target="fonts/Raleway-bold.fntdata"/><Relationship Id="rId13" Type="http://schemas.openxmlformats.org/officeDocument/2006/relationships/slide" Target="slides/slide8.xml"/><Relationship Id="rId35" Type="http://schemas.openxmlformats.org/officeDocument/2006/relationships/font" Target="fonts/Nunito-regular.fntdata"/><Relationship Id="rId12" Type="http://schemas.openxmlformats.org/officeDocument/2006/relationships/slide" Target="slides/slide7.xml"/><Relationship Id="rId34" Type="http://schemas.openxmlformats.org/officeDocument/2006/relationships/font" Target="fonts/Raleway-boldItalic.fntdata"/><Relationship Id="rId15" Type="http://schemas.openxmlformats.org/officeDocument/2006/relationships/slide" Target="slides/slide10.xml"/><Relationship Id="rId37" Type="http://schemas.openxmlformats.org/officeDocument/2006/relationships/font" Target="fonts/Nunito-italic.fntdata"/><Relationship Id="rId14" Type="http://schemas.openxmlformats.org/officeDocument/2006/relationships/slide" Target="slides/slide9.xml"/><Relationship Id="rId36" Type="http://schemas.openxmlformats.org/officeDocument/2006/relationships/font" Target="fonts/Nunito-bold.fntdata"/><Relationship Id="rId17" Type="http://schemas.openxmlformats.org/officeDocument/2006/relationships/slide" Target="slides/slide12.xml"/><Relationship Id="rId39" Type="http://schemas.openxmlformats.org/officeDocument/2006/relationships/font" Target="fonts/Lato-regular.fntdata"/><Relationship Id="rId16" Type="http://schemas.openxmlformats.org/officeDocument/2006/relationships/slide" Target="slides/slide11.xml"/><Relationship Id="rId38" Type="http://schemas.openxmlformats.org/officeDocument/2006/relationships/font" Target="fonts/Nuni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5ae0a1e0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5ae0a1e0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5ae0a1e0f7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5ae0a1e0f7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5ae0a1e0f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5ae0a1e0f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5ae0a1e0f7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5ae0a1e0f7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5ae0a1e0f7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5ae0a1e0f7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5ae0a1e0f7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5ae0a1e0f7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5ae0a1e0f7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5ae0a1e0f7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5ae0a1e0f7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5ae0a1e0f7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5ae857908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5ae857908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5ae0a1e0f7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5ae0a1e0f7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5ae0a1e0f7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5ae0a1e0f7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5ae0a1e0f7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5ae0a1e0f7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ae0a1e0f7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ae0a1e0f7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5ae857908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5ae85790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5ae857908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5ae857908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5ae857908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5ae857908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5ae857908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5ae857908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5ae857908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5ae857908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5ae857908c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5ae857908c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5ae857908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5ae857908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5ae857908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25ae857908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5ae857908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5ae857908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5ae857908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5ae857908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5ae857908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5ae857908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Web Dev’t for Beginners using HTML, CSS, and JavaScript - Sep 2026</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John Oliver Amurao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Course expectation</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Learn and use </a:t>
            </a:r>
            <a:r>
              <a:rPr b="1" i="1" lang="en" sz="1500">
                <a:solidFill>
                  <a:srgbClr val="000000"/>
                </a:solidFill>
                <a:latin typeface="Arial"/>
                <a:ea typeface="Arial"/>
                <a:cs typeface="Arial"/>
                <a:sym typeface="Arial"/>
              </a:rPr>
              <a:t>HTML, CSS, </a:t>
            </a:r>
            <a:r>
              <a:rPr lang="en" sz="1500">
                <a:solidFill>
                  <a:srgbClr val="000000"/>
                </a:solidFill>
                <a:latin typeface="Arial"/>
                <a:ea typeface="Arial"/>
                <a:cs typeface="Arial"/>
                <a:sym typeface="Arial"/>
              </a:rPr>
              <a:t>and </a:t>
            </a:r>
            <a:r>
              <a:rPr b="1" i="1" lang="en" sz="1500">
                <a:solidFill>
                  <a:srgbClr val="000000"/>
                </a:solidFill>
                <a:latin typeface="Arial"/>
                <a:ea typeface="Arial"/>
                <a:cs typeface="Arial"/>
                <a:sym typeface="Arial"/>
              </a:rPr>
              <a:t>JavaScript</a:t>
            </a:r>
            <a:r>
              <a:rPr lang="en" sz="1500">
                <a:solidFill>
                  <a:srgbClr val="000000"/>
                </a:solidFill>
                <a:latin typeface="Arial"/>
                <a:ea typeface="Arial"/>
                <a:cs typeface="Arial"/>
                <a:sym typeface="Arial"/>
              </a:rPr>
              <a:t> for web development</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Create a webpage applying the HTML, CSS, and JavaScript</a:t>
            </a:r>
            <a:endParaRPr sz="1500">
              <a:solidFill>
                <a:srgbClr val="000000"/>
              </a:solidFill>
              <a:latin typeface="Arial"/>
              <a:ea typeface="Arial"/>
              <a:cs typeface="Arial"/>
              <a:sym typeface="Arial"/>
            </a:endParaRPr>
          </a:p>
          <a:p>
            <a:pPr indent="-323850" lvl="1" marL="914400" rtl="0" algn="l">
              <a:spcBef>
                <a:spcPts val="0"/>
              </a:spcBef>
              <a:spcAft>
                <a:spcPts val="0"/>
              </a:spcAft>
              <a:buClr>
                <a:srgbClr val="000000"/>
              </a:buClr>
              <a:buSzPts val="1500"/>
              <a:buFont typeface="Arial"/>
              <a:buChar char="-"/>
            </a:pPr>
            <a:r>
              <a:rPr b="1" i="1" lang="en" sz="1500">
                <a:solidFill>
                  <a:srgbClr val="000000"/>
                </a:solidFill>
                <a:latin typeface="Arial"/>
                <a:ea typeface="Arial"/>
                <a:cs typeface="Arial"/>
                <a:sym typeface="Arial"/>
              </a:rPr>
              <a:t>HTML</a:t>
            </a:r>
            <a:r>
              <a:rPr lang="en" sz="1500">
                <a:solidFill>
                  <a:srgbClr val="000000"/>
                </a:solidFill>
                <a:latin typeface="Arial"/>
                <a:ea typeface="Arial"/>
                <a:cs typeface="Arial"/>
                <a:sym typeface="Arial"/>
              </a:rPr>
              <a:t> - Apply markup language to lay fundamental blueprint of the web page</a:t>
            </a:r>
            <a:endParaRPr sz="1500">
              <a:solidFill>
                <a:srgbClr val="000000"/>
              </a:solidFill>
              <a:latin typeface="Arial"/>
              <a:ea typeface="Arial"/>
              <a:cs typeface="Arial"/>
              <a:sym typeface="Arial"/>
            </a:endParaRPr>
          </a:p>
          <a:p>
            <a:pPr indent="-323850" lvl="1" marL="914400" rtl="0" algn="l">
              <a:spcBef>
                <a:spcPts val="0"/>
              </a:spcBef>
              <a:spcAft>
                <a:spcPts val="0"/>
              </a:spcAft>
              <a:buClr>
                <a:srgbClr val="000000"/>
              </a:buClr>
              <a:buSzPts val="1500"/>
              <a:buFont typeface="Arial"/>
              <a:buChar char="-"/>
            </a:pPr>
            <a:r>
              <a:rPr b="1" i="1" lang="en" sz="1500">
                <a:solidFill>
                  <a:srgbClr val="000000"/>
                </a:solidFill>
                <a:latin typeface="Arial"/>
                <a:ea typeface="Arial"/>
                <a:cs typeface="Arial"/>
                <a:sym typeface="Arial"/>
              </a:rPr>
              <a:t>CSS</a:t>
            </a:r>
            <a:r>
              <a:rPr lang="en" sz="1500">
                <a:solidFill>
                  <a:srgbClr val="000000"/>
                </a:solidFill>
                <a:latin typeface="Arial"/>
                <a:ea typeface="Arial"/>
                <a:cs typeface="Arial"/>
                <a:sym typeface="Arial"/>
              </a:rPr>
              <a:t> - Apply design to the web page</a:t>
            </a:r>
            <a:endParaRPr sz="1500">
              <a:solidFill>
                <a:srgbClr val="000000"/>
              </a:solidFill>
              <a:latin typeface="Arial"/>
              <a:ea typeface="Arial"/>
              <a:cs typeface="Arial"/>
              <a:sym typeface="Arial"/>
            </a:endParaRPr>
          </a:p>
          <a:p>
            <a:pPr indent="-323850" lvl="1" marL="914400" rtl="0" algn="l">
              <a:spcBef>
                <a:spcPts val="0"/>
              </a:spcBef>
              <a:spcAft>
                <a:spcPts val="0"/>
              </a:spcAft>
              <a:buClr>
                <a:srgbClr val="000000"/>
              </a:buClr>
              <a:buSzPts val="1500"/>
              <a:buFont typeface="Arial"/>
              <a:buChar char="-"/>
            </a:pPr>
            <a:r>
              <a:rPr b="1" i="1" lang="en" sz="1500">
                <a:solidFill>
                  <a:srgbClr val="000000"/>
                </a:solidFill>
                <a:latin typeface="Arial"/>
                <a:ea typeface="Arial"/>
                <a:cs typeface="Arial"/>
                <a:sym typeface="Arial"/>
              </a:rPr>
              <a:t>JavaScript</a:t>
            </a:r>
            <a:r>
              <a:rPr lang="en" sz="1500">
                <a:solidFill>
                  <a:srgbClr val="000000"/>
                </a:solidFill>
                <a:latin typeface="Arial"/>
                <a:ea typeface="Arial"/>
                <a:cs typeface="Arial"/>
                <a:sym typeface="Arial"/>
              </a:rPr>
              <a:t> - Interactivity of web pages</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600">
                <a:solidFill>
                  <a:srgbClr val="1A1A1A"/>
                </a:solidFill>
                <a:latin typeface="Raleway"/>
                <a:ea typeface="Raleway"/>
                <a:cs typeface="Raleway"/>
                <a:sym typeface="Raleway"/>
              </a:rPr>
              <a:t>whoami</a:t>
            </a:r>
            <a:endParaRPr b="1" sz="2600">
              <a:solidFill>
                <a:srgbClr val="1A1A1A"/>
              </a:solidFill>
              <a:latin typeface="Raleway"/>
              <a:ea typeface="Raleway"/>
              <a:cs typeface="Raleway"/>
              <a:sym typeface="Raleway"/>
            </a:endParaRPr>
          </a:p>
          <a:p>
            <a:pPr indent="0" lvl="0" marL="0" rtl="0" algn="l">
              <a:spcBef>
                <a:spcPts val="0"/>
              </a:spcBef>
              <a:spcAft>
                <a:spcPts val="0"/>
              </a:spcAft>
              <a:buNone/>
            </a:pPr>
            <a:r>
              <a:t/>
            </a:r>
            <a:endParaRPr/>
          </a:p>
        </p:txBody>
      </p:sp>
      <p:sp>
        <p:nvSpPr>
          <p:cNvPr id="141" name="Google Shape;141;p15"/>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75000"/>
              </a:lnSpc>
              <a:spcBef>
                <a:spcPts val="0"/>
              </a:spcBef>
              <a:spcAft>
                <a:spcPts val="0"/>
              </a:spcAft>
              <a:buClr>
                <a:srgbClr val="000000"/>
              </a:buClr>
              <a:buSzPts val="853"/>
              <a:buFont typeface="Arial"/>
              <a:buNone/>
            </a:pPr>
            <a:r>
              <a:rPr b="1" lang="en" sz="1544">
                <a:solidFill>
                  <a:srgbClr val="595959"/>
                </a:solidFill>
                <a:latin typeface="Lato"/>
                <a:ea typeface="Lato"/>
                <a:cs typeface="Lato"/>
                <a:sym typeface="Lato"/>
              </a:rPr>
              <a:t>const </a:t>
            </a:r>
            <a:r>
              <a:rPr b="1" i="1" lang="en" sz="1544">
                <a:solidFill>
                  <a:srgbClr val="595959"/>
                </a:solidFill>
                <a:latin typeface="Lato"/>
                <a:ea typeface="Lato"/>
                <a:cs typeface="Lato"/>
                <a:sym typeface="Lato"/>
              </a:rPr>
              <a:t>john_oliver_amurao</a:t>
            </a:r>
            <a:r>
              <a:rPr lang="en" sz="1544">
                <a:solidFill>
                  <a:srgbClr val="595959"/>
                </a:solidFill>
                <a:latin typeface="Lato"/>
                <a:ea typeface="Lato"/>
                <a:cs typeface="Lato"/>
                <a:sym typeface="Lato"/>
              </a:rPr>
              <a:t> =</a:t>
            </a:r>
            <a:endParaRPr sz="1544">
              <a:solidFill>
                <a:srgbClr val="595959"/>
              </a:solidFill>
              <a:latin typeface="Lato"/>
              <a:ea typeface="Lato"/>
              <a:cs typeface="Lato"/>
              <a:sym typeface="Lato"/>
            </a:endParaRPr>
          </a:p>
          <a:p>
            <a:pPr indent="0" lvl="0" marL="0" rtl="0" algn="l">
              <a:lnSpc>
                <a:spcPct val="75000"/>
              </a:lnSpc>
              <a:spcBef>
                <a:spcPts val="1200"/>
              </a:spcBef>
              <a:spcAft>
                <a:spcPts val="0"/>
              </a:spcAft>
              <a:buClr>
                <a:srgbClr val="000000"/>
              </a:buClr>
              <a:buSzPts val="853"/>
              <a:buFont typeface="Arial"/>
              <a:buNone/>
            </a:pPr>
            <a:r>
              <a:rPr lang="en" sz="1544">
                <a:solidFill>
                  <a:srgbClr val="595959"/>
                </a:solidFill>
                <a:latin typeface="Lato"/>
                <a:ea typeface="Lato"/>
                <a:cs typeface="Lato"/>
                <a:sym typeface="Lato"/>
              </a:rPr>
              <a:t>{</a:t>
            </a:r>
            <a:endParaRPr sz="1544">
              <a:solidFill>
                <a:srgbClr val="595959"/>
              </a:solidFill>
              <a:latin typeface="Lato"/>
              <a:ea typeface="Lato"/>
              <a:cs typeface="Lato"/>
              <a:sym typeface="Lato"/>
            </a:endParaRPr>
          </a:p>
          <a:p>
            <a:pPr indent="0" lvl="0" marL="0" rtl="0" algn="l">
              <a:lnSpc>
                <a:spcPct val="75000"/>
              </a:lnSpc>
              <a:spcBef>
                <a:spcPts val="1200"/>
              </a:spcBef>
              <a:spcAft>
                <a:spcPts val="0"/>
              </a:spcAft>
              <a:buClr>
                <a:srgbClr val="000000"/>
              </a:buClr>
              <a:buSzPts val="853"/>
              <a:buFont typeface="Arial"/>
              <a:buNone/>
            </a:pPr>
            <a:r>
              <a:rPr b="1" lang="en" sz="1544">
                <a:solidFill>
                  <a:srgbClr val="595959"/>
                </a:solidFill>
                <a:latin typeface="Lato"/>
                <a:ea typeface="Lato"/>
                <a:cs typeface="Lato"/>
                <a:sym typeface="Lato"/>
              </a:rPr>
              <a:t>“job”</a:t>
            </a:r>
            <a:r>
              <a:rPr lang="en" sz="1544">
                <a:solidFill>
                  <a:srgbClr val="595959"/>
                </a:solidFill>
                <a:latin typeface="Lato"/>
                <a:ea typeface="Lato"/>
                <a:cs typeface="Lato"/>
                <a:sym typeface="Lato"/>
              </a:rPr>
              <a:t>: [“IT Trainer”,”Technology Consultant”</a:t>
            </a:r>
            <a:r>
              <a:rPr lang="en" sz="1544">
                <a:solidFill>
                  <a:srgbClr val="595959"/>
                </a:solidFill>
                <a:latin typeface="Lato"/>
                <a:ea typeface="Lato"/>
                <a:cs typeface="Lato"/>
                <a:sym typeface="Lato"/>
              </a:rPr>
              <a:t>,</a:t>
            </a:r>
            <a:r>
              <a:rPr lang="en" sz="1544">
                <a:solidFill>
                  <a:srgbClr val="595959"/>
                </a:solidFill>
                <a:latin typeface="Lato"/>
                <a:ea typeface="Lato"/>
                <a:cs typeface="Lato"/>
                <a:sym typeface="Lato"/>
              </a:rPr>
              <a:t>”Student”],</a:t>
            </a:r>
            <a:endParaRPr sz="1544">
              <a:solidFill>
                <a:srgbClr val="595959"/>
              </a:solidFill>
              <a:latin typeface="Lato"/>
              <a:ea typeface="Lato"/>
              <a:cs typeface="Lato"/>
              <a:sym typeface="Lato"/>
            </a:endParaRPr>
          </a:p>
          <a:p>
            <a:pPr indent="0" lvl="0" marL="0" rtl="0" algn="l">
              <a:lnSpc>
                <a:spcPct val="75000"/>
              </a:lnSpc>
              <a:spcBef>
                <a:spcPts val="1200"/>
              </a:spcBef>
              <a:spcAft>
                <a:spcPts val="0"/>
              </a:spcAft>
              <a:buClr>
                <a:srgbClr val="000000"/>
              </a:buClr>
              <a:buSzPts val="853"/>
              <a:buFont typeface="Arial"/>
              <a:buNone/>
            </a:pPr>
            <a:r>
              <a:rPr b="1" lang="en" sz="1544">
                <a:solidFill>
                  <a:srgbClr val="595959"/>
                </a:solidFill>
                <a:latin typeface="Lato"/>
                <a:ea typeface="Lato"/>
                <a:cs typeface="Lato"/>
                <a:sym typeface="Lato"/>
              </a:rPr>
              <a:t>“experience”</a:t>
            </a:r>
            <a:r>
              <a:rPr lang="en" sz="1544">
                <a:solidFill>
                  <a:srgbClr val="595959"/>
                </a:solidFill>
                <a:latin typeface="Lato"/>
                <a:ea typeface="Lato"/>
                <a:cs typeface="Lato"/>
                <a:sym typeface="Lato"/>
              </a:rPr>
              <a:t>: 6,</a:t>
            </a:r>
            <a:endParaRPr sz="1544">
              <a:solidFill>
                <a:srgbClr val="595959"/>
              </a:solidFill>
              <a:latin typeface="Lato"/>
              <a:ea typeface="Lato"/>
              <a:cs typeface="Lato"/>
              <a:sym typeface="Lato"/>
            </a:endParaRPr>
          </a:p>
          <a:p>
            <a:pPr indent="0" lvl="0" marL="0" rtl="0" algn="l">
              <a:lnSpc>
                <a:spcPct val="75000"/>
              </a:lnSpc>
              <a:spcBef>
                <a:spcPts val="1200"/>
              </a:spcBef>
              <a:spcAft>
                <a:spcPts val="0"/>
              </a:spcAft>
              <a:buClr>
                <a:srgbClr val="000000"/>
              </a:buClr>
              <a:buSzPts val="853"/>
              <a:buFont typeface="Arial"/>
              <a:buNone/>
            </a:pPr>
            <a:r>
              <a:rPr b="1" lang="en" sz="1544">
                <a:solidFill>
                  <a:srgbClr val="595959"/>
                </a:solidFill>
                <a:latin typeface="Lato"/>
                <a:ea typeface="Lato"/>
                <a:cs typeface="Lato"/>
                <a:sym typeface="Lato"/>
              </a:rPr>
              <a:t>“platforms”</a:t>
            </a:r>
            <a:r>
              <a:rPr lang="en" sz="1544">
                <a:solidFill>
                  <a:srgbClr val="595959"/>
                </a:solidFill>
                <a:latin typeface="Lato"/>
                <a:ea typeface="Lato"/>
                <a:cs typeface="Lato"/>
                <a:sym typeface="Lato"/>
              </a:rPr>
              <a:t>: [“JavaScript”, “Java”, “C#”, “VisualBasic”, “PHP”, “Python”,”Low/No Code”],</a:t>
            </a:r>
            <a:endParaRPr sz="1544">
              <a:solidFill>
                <a:srgbClr val="595959"/>
              </a:solidFill>
              <a:latin typeface="Lato"/>
              <a:ea typeface="Lato"/>
              <a:cs typeface="Lato"/>
              <a:sym typeface="Lato"/>
            </a:endParaRPr>
          </a:p>
          <a:p>
            <a:pPr indent="0" lvl="0" marL="0" rtl="0" algn="l">
              <a:lnSpc>
                <a:spcPct val="75000"/>
              </a:lnSpc>
              <a:spcBef>
                <a:spcPts val="1200"/>
              </a:spcBef>
              <a:spcAft>
                <a:spcPts val="0"/>
              </a:spcAft>
              <a:buClr>
                <a:srgbClr val="000000"/>
              </a:buClr>
              <a:buSzPts val="853"/>
              <a:buFont typeface="Arial"/>
              <a:buNone/>
            </a:pPr>
            <a:r>
              <a:rPr b="1" lang="en" sz="1544">
                <a:solidFill>
                  <a:srgbClr val="595959"/>
                </a:solidFill>
                <a:latin typeface="Lato"/>
                <a:ea typeface="Lato"/>
                <a:cs typeface="Lato"/>
                <a:sym typeface="Lato"/>
              </a:rPr>
              <a:t>“hobbies”</a:t>
            </a:r>
            <a:r>
              <a:rPr lang="en" sz="1544">
                <a:solidFill>
                  <a:srgbClr val="595959"/>
                </a:solidFill>
                <a:latin typeface="Lato"/>
                <a:ea typeface="Lato"/>
                <a:cs typeface="Lato"/>
                <a:sym typeface="Lato"/>
              </a:rPr>
              <a:t>: [“programming”,”book collecting”,”retro gaming”]</a:t>
            </a:r>
            <a:endParaRPr sz="1544">
              <a:solidFill>
                <a:srgbClr val="595959"/>
              </a:solidFill>
              <a:latin typeface="Lato"/>
              <a:ea typeface="Lato"/>
              <a:cs typeface="Lato"/>
              <a:sym typeface="Lato"/>
            </a:endParaRPr>
          </a:p>
          <a:p>
            <a:pPr indent="0" lvl="0" marL="0" rtl="0" algn="l">
              <a:lnSpc>
                <a:spcPct val="75000"/>
              </a:lnSpc>
              <a:spcBef>
                <a:spcPts val="1200"/>
              </a:spcBef>
              <a:spcAft>
                <a:spcPts val="0"/>
              </a:spcAft>
              <a:buClr>
                <a:srgbClr val="000000"/>
              </a:buClr>
              <a:buSzPts val="853"/>
              <a:buFont typeface="Arial"/>
              <a:buNone/>
            </a:pPr>
            <a:r>
              <a:rPr lang="en" sz="1544">
                <a:solidFill>
                  <a:srgbClr val="595959"/>
                </a:solidFill>
                <a:latin typeface="Lato"/>
                <a:ea typeface="Lato"/>
                <a:cs typeface="Lato"/>
                <a:sym typeface="Lato"/>
              </a:rPr>
              <a:t>}</a:t>
            </a:r>
            <a:endParaRPr sz="1544">
              <a:solidFill>
                <a:srgbClr val="595959"/>
              </a:solidFill>
              <a:latin typeface="Lato"/>
              <a:ea typeface="Lato"/>
              <a:cs typeface="Lato"/>
              <a:sym typeface="Lato"/>
            </a:endParaRPr>
          </a:p>
          <a:p>
            <a:pPr indent="0" lvl="0" marL="0" rtl="0" algn="l">
              <a:lnSpc>
                <a:spcPct val="95000"/>
              </a:lnSpc>
              <a:spcBef>
                <a:spcPts val="1200"/>
              </a:spcBef>
              <a:spcAft>
                <a:spcPts val="1200"/>
              </a:spcAft>
              <a:buSzPts val="853"/>
              <a:buNone/>
            </a:pPr>
            <a:r>
              <a:t/>
            </a:r>
            <a:endParaRPr sz="1308"/>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to HTML</a:t>
            </a:r>
            <a:endParaRPr/>
          </a:p>
        </p:txBody>
      </p:sp>
      <p:sp>
        <p:nvSpPr>
          <p:cNvPr id="147" name="Google Shape;147;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History of HTML</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HTML Structure</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Attributes</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HTML Tags</a:t>
            </a: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en" sz="1600">
                <a:solidFill>
                  <a:srgbClr val="000000"/>
                </a:solidFill>
                <a:latin typeface="Arial"/>
                <a:ea typeface="Arial"/>
                <a:cs typeface="Arial"/>
                <a:sym typeface="Arial"/>
              </a:rPr>
              <a:t>Media (Image, Audio, and Video)</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History of HTML</a:t>
            </a:r>
            <a:endParaRPr/>
          </a:p>
        </p:txBody>
      </p:sp>
      <p:sp>
        <p:nvSpPr>
          <p:cNvPr id="153" name="Google Shape;153;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t>What is HTML?</a:t>
            </a:r>
            <a:endParaRPr b="1" sz="1600"/>
          </a:p>
          <a:p>
            <a:pPr indent="-330200" lvl="0" marL="457200" rtl="0" algn="l">
              <a:spcBef>
                <a:spcPts val="1200"/>
              </a:spcBef>
              <a:spcAft>
                <a:spcPts val="0"/>
              </a:spcAft>
              <a:buSzPts val="1600"/>
              <a:buChar char="●"/>
            </a:pPr>
            <a:r>
              <a:rPr lang="en" sz="1600"/>
              <a:t>A </a:t>
            </a:r>
            <a:r>
              <a:rPr lang="en" sz="1600"/>
              <a:t>markup language we use to structure content that we consume on the Web</a:t>
            </a:r>
            <a:endParaRPr sz="1600"/>
          </a:p>
          <a:p>
            <a:pPr indent="-330200" lvl="0" marL="457200" rtl="0" algn="l">
              <a:spcBef>
                <a:spcPts val="0"/>
              </a:spcBef>
              <a:spcAft>
                <a:spcPts val="0"/>
              </a:spcAft>
              <a:buSzPts val="1600"/>
              <a:buChar char="●"/>
            </a:pPr>
            <a:r>
              <a:rPr lang="en" sz="1600"/>
              <a:t>The standard to create web pages, the backbone of all web pages</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History of HTML (cont’d)</a:t>
            </a:r>
            <a:endParaRPr/>
          </a:p>
        </p:txBody>
      </p:sp>
      <p:sp>
        <p:nvSpPr>
          <p:cNvPr id="159" name="Google Shape;159;p18"/>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853"/>
              <a:buNone/>
            </a:pPr>
            <a:r>
              <a:rPr b="1" lang="en" sz="953">
                <a:solidFill>
                  <a:srgbClr val="000000"/>
                </a:solidFill>
                <a:latin typeface="Arial"/>
                <a:ea typeface="Arial"/>
                <a:cs typeface="Arial"/>
                <a:sym typeface="Arial"/>
              </a:rPr>
              <a:t>1991-</a:t>
            </a:r>
            <a:r>
              <a:rPr lang="en" sz="953">
                <a:solidFill>
                  <a:srgbClr val="000000"/>
                </a:solidFill>
                <a:latin typeface="Arial"/>
                <a:ea typeface="Arial"/>
                <a:cs typeface="Arial"/>
                <a:sym typeface="Arial"/>
              </a:rPr>
              <a:t> Tim Berners-Lee invents HTML 1.0</a:t>
            </a:r>
            <a:endParaRPr sz="953">
              <a:solidFill>
                <a:srgbClr val="000000"/>
              </a:solidFill>
              <a:latin typeface="Arial"/>
              <a:ea typeface="Arial"/>
              <a:cs typeface="Arial"/>
              <a:sym typeface="Arial"/>
            </a:endParaRPr>
          </a:p>
          <a:p>
            <a:pPr indent="0" lvl="0" marL="0" rtl="0" algn="l">
              <a:lnSpc>
                <a:spcPct val="100000"/>
              </a:lnSpc>
              <a:spcBef>
                <a:spcPts val="1200"/>
              </a:spcBef>
              <a:spcAft>
                <a:spcPts val="0"/>
              </a:spcAft>
              <a:buSzPts val="853"/>
              <a:buNone/>
            </a:pPr>
            <a:r>
              <a:rPr b="1" lang="en" sz="953">
                <a:solidFill>
                  <a:srgbClr val="000000"/>
                </a:solidFill>
                <a:latin typeface="Arial"/>
                <a:ea typeface="Arial"/>
                <a:cs typeface="Arial"/>
                <a:sym typeface="Arial"/>
              </a:rPr>
              <a:t>1993-</a:t>
            </a:r>
            <a:r>
              <a:rPr lang="en" sz="953">
                <a:solidFill>
                  <a:srgbClr val="000000"/>
                </a:solidFill>
                <a:latin typeface="Arial"/>
                <a:ea typeface="Arial"/>
                <a:cs typeface="Arial"/>
                <a:sym typeface="Arial"/>
              </a:rPr>
              <a:t> HTML 1.0 is released. Not many developers are creating websites at this time.</a:t>
            </a:r>
            <a:endParaRPr sz="953">
              <a:solidFill>
                <a:srgbClr val="000000"/>
              </a:solidFill>
              <a:latin typeface="Arial"/>
              <a:ea typeface="Arial"/>
              <a:cs typeface="Arial"/>
              <a:sym typeface="Arial"/>
            </a:endParaRPr>
          </a:p>
          <a:p>
            <a:pPr indent="0" lvl="0" marL="0" rtl="0" algn="l">
              <a:lnSpc>
                <a:spcPct val="100000"/>
              </a:lnSpc>
              <a:spcBef>
                <a:spcPts val="1200"/>
              </a:spcBef>
              <a:spcAft>
                <a:spcPts val="0"/>
              </a:spcAft>
              <a:buSzPts val="853"/>
              <a:buNone/>
            </a:pPr>
            <a:r>
              <a:rPr b="1" lang="en" sz="953">
                <a:solidFill>
                  <a:srgbClr val="000000"/>
                </a:solidFill>
                <a:latin typeface="Arial"/>
                <a:ea typeface="Arial"/>
                <a:cs typeface="Arial"/>
                <a:sym typeface="Arial"/>
              </a:rPr>
              <a:t>1995-</a:t>
            </a:r>
            <a:r>
              <a:rPr lang="en" sz="953">
                <a:solidFill>
                  <a:srgbClr val="000000"/>
                </a:solidFill>
                <a:latin typeface="Arial"/>
                <a:ea typeface="Arial"/>
                <a:cs typeface="Arial"/>
                <a:sym typeface="Arial"/>
              </a:rPr>
              <a:t> HTML 2.0 is published. This contains the features of HTML 1.0 plus new features. This remained the standard markup language for designing and creating websites until 1997.</a:t>
            </a:r>
            <a:endParaRPr sz="953">
              <a:solidFill>
                <a:srgbClr val="000000"/>
              </a:solidFill>
              <a:latin typeface="Arial"/>
              <a:ea typeface="Arial"/>
              <a:cs typeface="Arial"/>
              <a:sym typeface="Arial"/>
            </a:endParaRPr>
          </a:p>
          <a:p>
            <a:pPr indent="0" lvl="0" marL="0" rtl="0" algn="l">
              <a:lnSpc>
                <a:spcPct val="100000"/>
              </a:lnSpc>
              <a:spcBef>
                <a:spcPts val="1200"/>
              </a:spcBef>
              <a:spcAft>
                <a:spcPts val="0"/>
              </a:spcAft>
              <a:buSzPts val="853"/>
              <a:buNone/>
            </a:pPr>
            <a:r>
              <a:rPr b="1" lang="en" sz="953">
                <a:solidFill>
                  <a:srgbClr val="000000"/>
                </a:solidFill>
                <a:latin typeface="Arial"/>
                <a:ea typeface="Arial"/>
                <a:cs typeface="Arial"/>
                <a:sym typeface="Arial"/>
              </a:rPr>
              <a:t>1997-</a:t>
            </a:r>
            <a:r>
              <a:rPr lang="en" sz="953">
                <a:solidFill>
                  <a:srgbClr val="000000"/>
                </a:solidFill>
                <a:latin typeface="Arial"/>
                <a:ea typeface="Arial"/>
                <a:cs typeface="Arial"/>
                <a:sym typeface="Arial"/>
              </a:rPr>
              <a:t> HTML 3.0 was invented. Here, Dave Raggett introduced a fresh draft on HTML, which improved new features of HTML and gave more powerful characteristics for webmasters in designing websites. Unfortunately, the powerful features slowed down the browser in applying further improvements.</a:t>
            </a:r>
            <a:endParaRPr sz="953">
              <a:solidFill>
                <a:srgbClr val="000000"/>
              </a:solidFill>
              <a:latin typeface="Arial"/>
              <a:ea typeface="Arial"/>
              <a:cs typeface="Arial"/>
              <a:sym typeface="Arial"/>
            </a:endParaRPr>
          </a:p>
          <a:p>
            <a:pPr indent="0" lvl="0" marL="0" rtl="0" algn="l">
              <a:lnSpc>
                <a:spcPct val="100000"/>
              </a:lnSpc>
              <a:spcBef>
                <a:spcPts val="1200"/>
              </a:spcBef>
              <a:spcAft>
                <a:spcPts val="0"/>
              </a:spcAft>
              <a:buSzPts val="853"/>
              <a:buNone/>
            </a:pPr>
            <a:r>
              <a:rPr b="1" lang="en" sz="953">
                <a:solidFill>
                  <a:srgbClr val="000000"/>
                </a:solidFill>
                <a:latin typeface="Arial"/>
                <a:ea typeface="Arial"/>
                <a:cs typeface="Arial"/>
                <a:sym typeface="Arial"/>
              </a:rPr>
              <a:t>1999-</a:t>
            </a:r>
            <a:r>
              <a:rPr lang="en" sz="953">
                <a:solidFill>
                  <a:srgbClr val="000000"/>
                </a:solidFill>
                <a:latin typeface="Arial"/>
                <a:ea typeface="Arial"/>
                <a:cs typeface="Arial"/>
                <a:sym typeface="Arial"/>
              </a:rPr>
              <a:t> The widely-used HTML 4.0 comes out. It is very successful.</a:t>
            </a:r>
            <a:endParaRPr sz="953">
              <a:solidFill>
                <a:srgbClr val="000000"/>
              </a:solidFill>
              <a:latin typeface="Arial"/>
              <a:ea typeface="Arial"/>
              <a:cs typeface="Arial"/>
              <a:sym typeface="Arial"/>
            </a:endParaRPr>
          </a:p>
          <a:p>
            <a:pPr indent="0" lvl="0" marL="0" rtl="0" algn="l">
              <a:lnSpc>
                <a:spcPct val="100000"/>
              </a:lnSpc>
              <a:spcBef>
                <a:spcPts val="1200"/>
              </a:spcBef>
              <a:spcAft>
                <a:spcPts val="0"/>
              </a:spcAft>
              <a:buSzPts val="853"/>
              <a:buNone/>
            </a:pPr>
            <a:r>
              <a:rPr b="1" lang="en" sz="953">
                <a:solidFill>
                  <a:srgbClr val="000000"/>
                </a:solidFill>
                <a:latin typeface="Arial"/>
                <a:ea typeface="Arial"/>
                <a:cs typeface="Arial"/>
                <a:sym typeface="Arial"/>
              </a:rPr>
              <a:t>2014-</a:t>
            </a:r>
            <a:r>
              <a:rPr lang="en" sz="953">
                <a:solidFill>
                  <a:srgbClr val="000000"/>
                </a:solidFill>
                <a:latin typeface="Arial"/>
                <a:ea typeface="Arial"/>
                <a:cs typeface="Arial"/>
                <a:sym typeface="Arial"/>
              </a:rPr>
              <a:t> HTML 5.0 is released and used worldwide. It is said to be the extended version of HTML 4.01 which was published in 2012.</a:t>
            </a:r>
            <a:endParaRPr sz="953">
              <a:solidFill>
                <a:srgbClr val="000000"/>
              </a:solidFill>
              <a:latin typeface="Arial"/>
              <a:ea typeface="Arial"/>
              <a:cs typeface="Arial"/>
              <a:sym typeface="Arial"/>
            </a:endParaRPr>
          </a:p>
          <a:p>
            <a:pPr indent="0" lvl="0" marL="0" rtl="0" algn="l">
              <a:lnSpc>
                <a:spcPct val="100000"/>
              </a:lnSpc>
              <a:spcBef>
                <a:spcPts val="0"/>
              </a:spcBef>
              <a:spcAft>
                <a:spcPts val="0"/>
              </a:spcAft>
              <a:buSzPts val="853"/>
              <a:buNone/>
            </a:pPr>
            <a:r>
              <a:rPr lang="en" sz="953">
                <a:solidFill>
                  <a:srgbClr val="000000"/>
                </a:solidFill>
                <a:latin typeface="Arial"/>
                <a:ea typeface="Arial"/>
                <a:cs typeface="Arial"/>
                <a:sym typeface="Arial"/>
              </a:rPr>
              <a:t>		</a:t>
            </a:r>
            <a:endParaRPr sz="1108"/>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Structure</a:t>
            </a:r>
            <a:endParaRPr/>
          </a:p>
        </p:txBody>
      </p:sp>
      <p:sp>
        <p:nvSpPr>
          <p:cNvPr id="165" name="Google Shape;165;p19"/>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1600"/>
              <a:t>&lt;!DOCTYPE html&gt;</a:t>
            </a:r>
            <a:endParaRPr i="1" sz="1600"/>
          </a:p>
          <a:p>
            <a:pPr indent="0" lvl="0" marL="0" rtl="0" algn="l">
              <a:spcBef>
                <a:spcPts val="0"/>
              </a:spcBef>
              <a:spcAft>
                <a:spcPts val="0"/>
              </a:spcAft>
              <a:buNone/>
            </a:pPr>
            <a:r>
              <a:rPr i="1" lang="en" sz="1600"/>
              <a:t>&lt;html&gt;</a:t>
            </a:r>
            <a:endParaRPr i="1" sz="1600"/>
          </a:p>
          <a:p>
            <a:pPr indent="0" lvl="0" marL="0" rtl="0" algn="l">
              <a:spcBef>
                <a:spcPts val="0"/>
              </a:spcBef>
              <a:spcAft>
                <a:spcPts val="0"/>
              </a:spcAft>
              <a:buNone/>
            </a:pPr>
            <a:r>
              <a:rPr i="1" lang="en" sz="1600"/>
              <a:t>&lt;head&gt;</a:t>
            </a:r>
            <a:endParaRPr i="1" sz="1600"/>
          </a:p>
          <a:p>
            <a:pPr indent="0" lvl="0" marL="0" rtl="0" algn="l">
              <a:spcBef>
                <a:spcPts val="0"/>
              </a:spcBef>
              <a:spcAft>
                <a:spcPts val="0"/>
              </a:spcAft>
              <a:buNone/>
            </a:pPr>
            <a:r>
              <a:rPr i="1" lang="en" sz="1600"/>
              <a:t>...</a:t>
            </a:r>
            <a:endParaRPr i="1" sz="1600"/>
          </a:p>
          <a:p>
            <a:pPr indent="0" lvl="0" marL="0" rtl="0" algn="l">
              <a:spcBef>
                <a:spcPts val="0"/>
              </a:spcBef>
              <a:spcAft>
                <a:spcPts val="0"/>
              </a:spcAft>
              <a:buNone/>
            </a:pPr>
            <a:r>
              <a:rPr i="1" lang="en" sz="1600"/>
              <a:t>&lt;/head&gt;</a:t>
            </a:r>
            <a:endParaRPr i="1" sz="1600"/>
          </a:p>
          <a:p>
            <a:pPr indent="0" lvl="0" marL="0" rtl="0" algn="l">
              <a:spcBef>
                <a:spcPts val="0"/>
              </a:spcBef>
              <a:spcAft>
                <a:spcPts val="0"/>
              </a:spcAft>
              <a:buNone/>
            </a:pPr>
            <a:r>
              <a:rPr i="1" lang="en" sz="1600"/>
              <a:t>&lt;body&gt;</a:t>
            </a:r>
            <a:endParaRPr i="1" sz="1600"/>
          </a:p>
          <a:p>
            <a:pPr indent="0" lvl="0" marL="0" rtl="0" algn="l">
              <a:spcBef>
                <a:spcPts val="0"/>
              </a:spcBef>
              <a:spcAft>
                <a:spcPts val="0"/>
              </a:spcAft>
              <a:buNone/>
            </a:pPr>
            <a:r>
              <a:rPr i="1" lang="en" sz="1600"/>
              <a:t>...</a:t>
            </a:r>
            <a:endParaRPr i="1" sz="1600"/>
          </a:p>
          <a:p>
            <a:pPr indent="0" lvl="0" marL="0" rtl="0" algn="l">
              <a:spcBef>
                <a:spcPts val="0"/>
              </a:spcBef>
              <a:spcAft>
                <a:spcPts val="0"/>
              </a:spcAft>
              <a:buNone/>
            </a:pPr>
            <a:r>
              <a:rPr i="1" lang="en" sz="1600"/>
              <a:t>&lt;/body&gt;</a:t>
            </a:r>
            <a:endParaRPr i="1" sz="1600"/>
          </a:p>
          <a:p>
            <a:pPr indent="0" lvl="0" marL="0" rtl="0" algn="l">
              <a:spcBef>
                <a:spcPts val="0"/>
              </a:spcBef>
              <a:spcAft>
                <a:spcPts val="0"/>
              </a:spcAft>
              <a:buNone/>
            </a:pPr>
            <a:r>
              <a:rPr i="1" lang="en" sz="1600"/>
              <a:t>&lt;/html&gt;</a:t>
            </a:r>
            <a:endParaRPr i="1"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Structure (cont’d)</a:t>
            </a:r>
            <a:endParaRPr/>
          </a:p>
        </p:txBody>
      </p:sp>
      <p:sp>
        <p:nvSpPr>
          <p:cNvPr id="171" name="Google Shape;171;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AutoNum type="arabicPeriod"/>
            </a:pPr>
            <a:r>
              <a:rPr lang="en" sz="1500"/>
              <a:t>Things start with the Document Type Declaration (aka doctype), a way to tell the browser this is an HTML page, and which version of HTML we are using </a:t>
            </a:r>
            <a:r>
              <a:rPr b="1" i="1" lang="en" sz="1500"/>
              <a:t>&lt;!doctype html&gt;</a:t>
            </a:r>
            <a:endParaRPr b="1" i="1" sz="1500"/>
          </a:p>
          <a:p>
            <a:pPr indent="-323850" lvl="0" marL="457200" rtl="0" algn="l">
              <a:spcBef>
                <a:spcPts val="0"/>
              </a:spcBef>
              <a:spcAft>
                <a:spcPts val="0"/>
              </a:spcAft>
              <a:buSzPts val="1500"/>
              <a:buAutoNum type="arabicPeriod"/>
            </a:pPr>
            <a:r>
              <a:rPr lang="en" sz="1500"/>
              <a:t>Then we have the html element, which has an opening and closing tag: </a:t>
            </a:r>
            <a:r>
              <a:rPr b="1" i="1" lang="en" sz="1500"/>
              <a:t>&lt;html&gt;..&lt;/html&gt;</a:t>
            </a:r>
            <a:endParaRPr sz="1500"/>
          </a:p>
          <a:p>
            <a:pPr indent="-323850" lvl="0" marL="457200" rtl="0" algn="l">
              <a:spcBef>
                <a:spcPts val="0"/>
              </a:spcBef>
              <a:spcAft>
                <a:spcPts val="0"/>
              </a:spcAft>
              <a:buSzPts val="1500"/>
              <a:buAutoNum type="arabicPeriod"/>
            </a:pPr>
            <a:r>
              <a:rPr lang="en" sz="1500"/>
              <a:t>Then inside the html element, we are incorporating </a:t>
            </a:r>
            <a:r>
              <a:rPr b="1" i="1" lang="en" sz="1500"/>
              <a:t>&lt;head&gt;..&lt;/head&gt; and &lt;body&gt;..&lt;/body&gt;</a:t>
            </a:r>
            <a:endParaRPr sz="1500"/>
          </a:p>
          <a:p>
            <a:pPr indent="-311150" lvl="1" marL="914400" rtl="0" algn="l">
              <a:spcBef>
                <a:spcPts val="0"/>
              </a:spcBef>
              <a:spcAft>
                <a:spcPts val="0"/>
              </a:spcAft>
              <a:buSzPts val="1300"/>
              <a:buAutoNum type="alphaLcPeriod"/>
            </a:pPr>
            <a:r>
              <a:rPr lang="en" sz="1300"/>
              <a:t>&lt;head&gt; container for other tags that cannot be seen in the &lt;body&gt; tag such as &lt;title&gt;, &lt;script&gt;, &lt;link&gt;, &lt;style&gt;, &lt;meta&gt;, to name a few</a:t>
            </a:r>
            <a:endParaRPr sz="1300"/>
          </a:p>
          <a:p>
            <a:pPr indent="-311150" lvl="1" marL="914400" rtl="0" algn="l">
              <a:spcBef>
                <a:spcPts val="0"/>
              </a:spcBef>
              <a:spcAft>
                <a:spcPts val="0"/>
              </a:spcAft>
              <a:buSzPts val="1300"/>
              <a:buAutoNum type="alphaLcPeriod"/>
            </a:pPr>
            <a:r>
              <a:rPr lang="en" sz="1300"/>
              <a:t>&lt;body&gt;  contains all the contents of an HTML document, such as headings, paragraphs, images, hyperlinks, tables, lists</a:t>
            </a:r>
            <a:endParaRPr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a:t>
            </a:r>
            <a:endParaRPr/>
          </a:p>
        </p:txBody>
      </p:sp>
      <p:sp>
        <p:nvSpPr>
          <p:cNvPr id="177" name="Google Shape;177;p21"/>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b="1" lang="en" sz="1780"/>
              <a:t>HTML Tags vs HTML Elements</a:t>
            </a:r>
            <a:endParaRPr b="1" sz="1780"/>
          </a:p>
          <a:p>
            <a:pPr indent="0" lvl="0" marL="0" rtl="0" algn="l">
              <a:lnSpc>
                <a:spcPct val="95000"/>
              </a:lnSpc>
              <a:spcBef>
                <a:spcPts val="1200"/>
              </a:spcBef>
              <a:spcAft>
                <a:spcPts val="0"/>
              </a:spcAft>
              <a:buSzPts val="1018"/>
              <a:buNone/>
            </a:pPr>
            <a:r>
              <a:rPr b="1" lang="en" sz="1780"/>
              <a:t>Tags</a:t>
            </a:r>
            <a:endParaRPr b="1" sz="1780"/>
          </a:p>
          <a:p>
            <a:pPr indent="-341630" lvl="0" marL="457200" rtl="0" algn="l">
              <a:lnSpc>
                <a:spcPct val="95000"/>
              </a:lnSpc>
              <a:spcBef>
                <a:spcPts val="1200"/>
              </a:spcBef>
              <a:spcAft>
                <a:spcPts val="0"/>
              </a:spcAft>
              <a:buSzPts val="1780"/>
              <a:buChar char="●"/>
            </a:pPr>
            <a:r>
              <a:rPr lang="en" sz="1780"/>
              <a:t>Does not have any closing tag</a:t>
            </a:r>
            <a:endParaRPr sz="1780"/>
          </a:p>
          <a:p>
            <a:pPr indent="-341630" lvl="0" marL="457200" rtl="0" algn="l">
              <a:lnSpc>
                <a:spcPct val="95000"/>
              </a:lnSpc>
              <a:spcBef>
                <a:spcPts val="0"/>
              </a:spcBef>
              <a:spcAft>
                <a:spcPts val="0"/>
              </a:spcAft>
              <a:buSzPts val="1780"/>
              <a:buChar char="●"/>
            </a:pPr>
            <a:r>
              <a:rPr lang="en" sz="1780"/>
              <a:t>Only written with starting tag</a:t>
            </a:r>
            <a:endParaRPr sz="1780"/>
          </a:p>
          <a:p>
            <a:pPr indent="0" lvl="0" marL="0" rtl="0" algn="l">
              <a:lnSpc>
                <a:spcPct val="95000"/>
              </a:lnSpc>
              <a:spcBef>
                <a:spcPts val="1200"/>
              </a:spcBef>
              <a:spcAft>
                <a:spcPts val="0"/>
              </a:spcAft>
              <a:buSzPts val="1018"/>
              <a:buNone/>
            </a:pPr>
            <a:r>
              <a:rPr b="1" lang="en" sz="1780"/>
              <a:t>Element</a:t>
            </a:r>
            <a:endParaRPr b="1" sz="1780"/>
          </a:p>
          <a:p>
            <a:pPr indent="-341630" lvl="0" marL="457200" rtl="0" algn="l">
              <a:lnSpc>
                <a:spcPct val="95000"/>
              </a:lnSpc>
              <a:spcBef>
                <a:spcPts val="1200"/>
              </a:spcBef>
              <a:spcAft>
                <a:spcPts val="0"/>
              </a:spcAft>
              <a:buSzPts val="1780"/>
              <a:buChar char="●"/>
            </a:pPr>
            <a:r>
              <a:rPr lang="en" sz="1780"/>
              <a:t>Elements have a starting tag, text content, and closing tag</a:t>
            </a:r>
            <a:endParaRPr sz="1780"/>
          </a:p>
          <a:p>
            <a:pPr indent="0" lvl="0" marL="0" rtl="0" algn="l">
              <a:lnSpc>
                <a:spcPct val="95000"/>
              </a:lnSpc>
              <a:spcBef>
                <a:spcPts val="1200"/>
              </a:spcBef>
              <a:spcAft>
                <a:spcPts val="1200"/>
              </a:spcAft>
              <a:buSzPts val="1018"/>
              <a:buNone/>
            </a:pPr>
            <a:r>
              <a:t/>
            </a:r>
            <a:endParaRPr sz="178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Attributes</a:t>
            </a:r>
            <a:endParaRPr/>
          </a:p>
        </p:txBody>
      </p:sp>
      <p:sp>
        <p:nvSpPr>
          <p:cNvPr id="183" name="Google Shape;183;p22"/>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HTML Attributes</a:t>
            </a:r>
            <a:r>
              <a:rPr lang="en" sz="1600"/>
              <a:t> The starting tag of an element can have special snippets of information we can attach, called </a:t>
            </a:r>
            <a:r>
              <a:rPr b="1" i="1" lang="en" sz="1600"/>
              <a:t>attributes</a:t>
            </a:r>
            <a:r>
              <a:rPr lang="en" sz="1600"/>
              <a:t>. </a:t>
            </a:r>
            <a:r>
              <a:rPr i="1" lang="en" sz="1600"/>
              <a:t>Attributes have the </a:t>
            </a:r>
            <a:r>
              <a:rPr b="1" i="1" lang="en" sz="1600" u="sng"/>
              <a:t>key="value"</a:t>
            </a:r>
            <a:r>
              <a:rPr i="1" lang="en" sz="1600"/>
              <a:t> syntax:</a:t>
            </a:r>
            <a:endParaRPr i="1" sz="1600"/>
          </a:p>
          <a:p>
            <a:pPr indent="0" lvl="0" marL="0" rtl="0" algn="l">
              <a:spcBef>
                <a:spcPts val="0"/>
              </a:spcBef>
              <a:spcAft>
                <a:spcPts val="0"/>
              </a:spcAft>
              <a:buNone/>
            </a:pPr>
            <a:r>
              <a:rPr b="1" lang="en" sz="1600"/>
              <a:t>Examples</a:t>
            </a:r>
            <a:endParaRPr b="1" sz="1600"/>
          </a:p>
          <a:p>
            <a:pPr indent="-330200" lvl="0" marL="457200" rtl="0" algn="l">
              <a:spcBef>
                <a:spcPts val="0"/>
              </a:spcBef>
              <a:spcAft>
                <a:spcPts val="0"/>
              </a:spcAft>
              <a:buSzPts val="1600"/>
              <a:buChar char="●"/>
            </a:pPr>
            <a:r>
              <a:rPr lang="en" sz="1600"/>
              <a:t>&lt;p </a:t>
            </a:r>
            <a:r>
              <a:rPr b="1" i="1" lang="en" sz="1600"/>
              <a:t>class=”class”</a:t>
            </a:r>
            <a:r>
              <a:rPr lang="en" sz="1600"/>
              <a:t>&gt;A paragraph of text&lt;/p&gt;</a:t>
            </a:r>
            <a:endParaRPr sz="1600"/>
          </a:p>
          <a:p>
            <a:pPr indent="-330200" lvl="0" marL="457200" rtl="0" algn="l">
              <a:spcBef>
                <a:spcPts val="0"/>
              </a:spcBef>
              <a:spcAft>
                <a:spcPts val="0"/>
              </a:spcAft>
              <a:buSzPts val="1600"/>
              <a:buChar char="●"/>
            </a:pPr>
            <a:r>
              <a:rPr lang="en" sz="1600"/>
              <a:t>&lt;p </a:t>
            </a:r>
            <a:r>
              <a:rPr b="1" i="1" lang="en" sz="1600"/>
              <a:t>class=”class”</a:t>
            </a:r>
            <a:r>
              <a:rPr lang="en" sz="1600"/>
              <a:t> </a:t>
            </a:r>
            <a:r>
              <a:rPr b="1" i="1" lang="en" sz="1600"/>
              <a:t>id=”id”</a:t>
            </a:r>
            <a:r>
              <a:rPr lang="en" sz="1600"/>
              <a:t>&gt;A paragraph of text again&lt;/a&gt;</a:t>
            </a:r>
            <a:endParaRPr sz="1600"/>
          </a:p>
          <a:p>
            <a:pPr indent="-330200" lvl="0" marL="457200" rtl="0" algn="l">
              <a:spcBef>
                <a:spcPts val="0"/>
              </a:spcBef>
              <a:spcAft>
                <a:spcPts val="0"/>
              </a:spcAft>
              <a:buSzPts val="1600"/>
              <a:buChar char="●"/>
            </a:pPr>
            <a:r>
              <a:rPr lang="en" sz="1600"/>
              <a:t>&lt;h1 </a:t>
            </a:r>
            <a:r>
              <a:rPr b="1" i="1" lang="en" sz="1600"/>
              <a:t>style=”color: red”</a:t>
            </a:r>
            <a:r>
              <a:rPr lang="en" sz="1600"/>
              <a:t>&gt;This is AWESOME!&lt;/h1&gt;</a:t>
            </a:r>
            <a:endParaRPr sz="1600"/>
          </a:p>
          <a:p>
            <a:pPr indent="-330200" lvl="0" marL="457200" rtl="0" algn="l">
              <a:spcBef>
                <a:spcPts val="0"/>
              </a:spcBef>
              <a:spcAft>
                <a:spcPts val="0"/>
              </a:spcAft>
              <a:buSzPts val="1600"/>
              <a:buChar char="●"/>
            </a:pPr>
            <a:r>
              <a:rPr lang="en" sz="1600"/>
              <a:t>&lt;form </a:t>
            </a:r>
            <a:r>
              <a:rPr b="1" i="1" lang="en" sz="1600"/>
              <a:t>method=”post”</a:t>
            </a:r>
            <a:r>
              <a:rPr lang="en" sz="1600"/>
              <a:t> </a:t>
            </a:r>
            <a:r>
              <a:rPr b="1" i="1" lang="en" sz="1600"/>
              <a:t>action=”main.php”</a:t>
            </a:r>
            <a:r>
              <a:rPr lang="en" sz="1600"/>
              <a:t>&gt;&lt;/form&gt;</a:t>
            </a:r>
            <a:endParaRPr sz="1600"/>
          </a:p>
          <a:p>
            <a:pPr indent="-330200" lvl="0" marL="457200" rtl="0" algn="l">
              <a:spcBef>
                <a:spcPts val="0"/>
              </a:spcBef>
              <a:spcAft>
                <a:spcPts val="0"/>
              </a:spcAft>
              <a:buSzPts val="1600"/>
              <a:buChar char="●"/>
            </a:pPr>
            <a:r>
              <a:rPr lang="en" sz="1600"/>
              <a:t>&lt;input </a:t>
            </a:r>
            <a:r>
              <a:rPr b="1" i="1" lang="en" sz="1600"/>
              <a:t>type=”text”</a:t>
            </a:r>
            <a:r>
              <a:rPr lang="en" sz="1600"/>
              <a:t> </a:t>
            </a:r>
            <a:r>
              <a:rPr b="1" i="1" lang="en" sz="1600"/>
              <a:t>name=”txtName”</a:t>
            </a:r>
            <a:r>
              <a:rPr lang="en" sz="1600"/>
              <a:t> </a:t>
            </a:r>
            <a:r>
              <a:rPr b="1" i="1" lang="en" sz="1600"/>
              <a:t>placeholder=”Please enter your name”</a:t>
            </a:r>
            <a:r>
              <a:rPr lang="en" sz="1600"/>
              <a:t>/&gt;</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189" name="Google Shape;189;p23"/>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75000"/>
              </a:lnSpc>
              <a:spcBef>
                <a:spcPts val="0"/>
              </a:spcBef>
              <a:spcAft>
                <a:spcPts val="0"/>
              </a:spcAft>
              <a:buClr>
                <a:srgbClr val="000000"/>
              </a:buClr>
              <a:buSzPts val="688"/>
              <a:buFont typeface="Arial"/>
              <a:buNone/>
            </a:pPr>
            <a:r>
              <a:rPr b="1" lang="en" sz="1313"/>
              <a:t>Block vs Inline elements</a:t>
            </a:r>
            <a:endParaRPr b="1" sz="1313"/>
          </a:p>
          <a:p>
            <a:pPr indent="0" lvl="0" marL="0" rtl="0" algn="l">
              <a:lnSpc>
                <a:spcPct val="75000"/>
              </a:lnSpc>
              <a:spcBef>
                <a:spcPts val="1200"/>
              </a:spcBef>
              <a:spcAft>
                <a:spcPts val="0"/>
              </a:spcAft>
              <a:buClr>
                <a:srgbClr val="000000"/>
              </a:buClr>
              <a:buSzPts val="688"/>
              <a:buFont typeface="Arial"/>
              <a:buNone/>
            </a:pPr>
            <a:r>
              <a:rPr b="1" lang="en" sz="1313"/>
              <a:t>Block</a:t>
            </a:r>
            <a:endParaRPr b="1" sz="1313"/>
          </a:p>
          <a:p>
            <a:pPr indent="-311944" lvl="0" marL="457200" rtl="0" algn="l">
              <a:lnSpc>
                <a:spcPct val="75000"/>
              </a:lnSpc>
              <a:spcBef>
                <a:spcPts val="1200"/>
              </a:spcBef>
              <a:spcAft>
                <a:spcPts val="0"/>
              </a:spcAft>
              <a:buSzPts val="1313"/>
              <a:buChar char="●"/>
            </a:pPr>
            <a:r>
              <a:rPr lang="en" sz="1313"/>
              <a:t>Block elements, when positioned in the page, do not allow other elements next to them. To the left, or to the right</a:t>
            </a:r>
            <a:endParaRPr sz="1313"/>
          </a:p>
          <a:p>
            <a:pPr indent="-311944" lvl="1" marL="914400" rtl="0" algn="l">
              <a:lnSpc>
                <a:spcPct val="75000"/>
              </a:lnSpc>
              <a:spcBef>
                <a:spcPts val="0"/>
              </a:spcBef>
              <a:spcAft>
                <a:spcPts val="0"/>
              </a:spcAft>
              <a:buSzPts val="1313"/>
              <a:buChar char="○"/>
            </a:pPr>
            <a:r>
              <a:rPr lang="en" sz="1313"/>
              <a:t>Example (p, div, heading elements, lists and list items..)</a:t>
            </a:r>
            <a:endParaRPr sz="1313"/>
          </a:p>
          <a:p>
            <a:pPr indent="-311944" lvl="0" marL="457200" rtl="0" algn="l">
              <a:lnSpc>
                <a:spcPct val="75000"/>
              </a:lnSpc>
              <a:spcBef>
                <a:spcPts val="0"/>
              </a:spcBef>
              <a:spcAft>
                <a:spcPts val="0"/>
              </a:spcAft>
              <a:buSzPts val="1313"/>
              <a:buChar char="●"/>
            </a:pPr>
            <a:r>
              <a:rPr lang="en" sz="1313"/>
              <a:t>We can alter the width/height, margin, padding and border of block elements</a:t>
            </a:r>
            <a:endParaRPr sz="1313"/>
          </a:p>
          <a:p>
            <a:pPr indent="0" lvl="0" marL="0" rtl="0" algn="l">
              <a:lnSpc>
                <a:spcPct val="75000"/>
              </a:lnSpc>
              <a:spcBef>
                <a:spcPts val="1200"/>
              </a:spcBef>
              <a:spcAft>
                <a:spcPts val="0"/>
              </a:spcAft>
              <a:buClr>
                <a:srgbClr val="000000"/>
              </a:buClr>
              <a:buSzPts val="688"/>
              <a:buFont typeface="Arial"/>
              <a:buNone/>
            </a:pPr>
            <a:r>
              <a:rPr b="1" lang="en" sz="1313"/>
              <a:t>Inline</a:t>
            </a:r>
            <a:endParaRPr b="1" sz="1313"/>
          </a:p>
          <a:p>
            <a:pPr indent="-311944" lvl="0" marL="457200" rtl="0" algn="l">
              <a:lnSpc>
                <a:spcPct val="75000"/>
              </a:lnSpc>
              <a:spcBef>
                <a:spcPts val="1200"/>
              </a:spcBef>
              <a:spcAft>
                <a:spcPts val="0"/>
              </a:spcAft>
              <a:buSzPts val="1313"/>
              <a:buChar char="●"/>
            </a:pPr>
            <a:r>
              <a:rPr lang="en" sz="1313"/>
              <a:t>Elements have a starting tag, text content, and closing tag</a:t>
            </a:r>
            <a:endParaRPr sz="1313"/>
          </a:p>
          <a:p>
            <a:pPr indent="-311944" lvl="0" marL="457200" rtl="0" algn="l">
              <a:lnSpc>
                <a:spcPct val="75000"/>
              </a:lnSpc>
              <a:spcBef>
                <a:spcPts val="0"/>
              </a:spcBef>
              <a:spcAft>
                <a:spcPts val="0"/>
              </a:spcAft>
              <a:buSzPts val="1313"/>
              <a:buChar char="●"/>
            </a:pPr>
            <a:r>
              <a:rPr lang="en" sz="1313"/>
              <a:t>It can be contained in block elements</a:t>
            </a:r>
            <a:endParaRPr sz="1313"/>
          </a:p>
          <a:p>
            <a:pPr indent="0" lvl="0" marL="0" rtl="0" algn="l">
              <a:lnSpc>
                <a:spcPct val="75000"/>
              </a:lnSpc>
              <a:spcBef>
                <a:spcPts val="1200"/>
              </a:spcBef>
              <a:spcAft>
                <a:spcPts val="0"/>
              </a:spcAft>
              <a:buClr>
                <a:srgbClr val="000000"/>
              </a:buClr>
              <a:buSzPts val="688"/>
              <a:buFont typeface="Arial"/>
              <a:buNone/>
            </a:pPr>
            <a:r>
              <a:t/>
            </a:r>
            <a:endParaRPr sz="1313"/>
          </a:p>
          <a:p>
            <a:pPr indent="0" lvl="0" marL="0" rtl="0" algn="l">
              <a:lnSpc>
                <a:spcPct val="95000"/>
              </a:lnSpc>
              <a:spcBef>
                <a:spcPts val="1200"/>
              </a:spcBef>
              <a:spcAft>
                <a:spcPts val="1200"/>
              </a:spcAft>
              <a:buSzPts val="688"/>
              <a:buNone/>
            </a:pPr>
            <a:r>
              <a:t/>
            </a:r>
            <a:endParaRPr sz="1013"/>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195" name="Google Shape;195;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t>Tags that interacts with text</a:t>
            </a:r>
            <a:endParaRPr b="1" sz="1600"/>
          </a:p>
          <a:p>
            <a:pPr indent="-330200" lvl="0" marL="457200" rtl="0" algn="l">
              <a:spcBef>
                <a:spcPts val="1200"/>
              </a:spcBef>
              <a:spcAft>
                <a:spcPts val="0"/>
              </a:spcAft>
              <a:buSzPts val="1600"/>
              <a:buChar char="●"/>
            </a:pPr>
            <a:r>
              <a:rPr b="1" lang="en" sz="1600"/>
              <a:t>&lt;p&gt;..&lt;/p&gt; </a:t>
            </a:r>
            <a:r>
              <a:rPr lang="en" sz="1600"/>
              <a:t>A block element. </a:t>
            </a:r>
            <a:r>
              <a:rPr lang="en" sz="1600"/>
              <a:t>This tag defines a paragraph of text</a:t>
            </a:r>
            <a:endParaRPr sz="1600"/>
          </a:p>
          <a:p>
            <a:pPr indent="-330200" lvl="0" marL="457200" rtl="0" algn="l">
              <a:spcBef>
                <a:spcPts val="0"/>
              </a:spcBef>
              <a:spcAft>
                <a:spcPts val="0"/>
              </a:spcAft>
              <a:buSzPts val="1600"/>
              <a:buChar char="●"/>
            </a:pPr>
            <a:r>
              <a:rPr b="1" lang="en" sz="1600"/>
              <a:t>&lt;span&gt;..&lt;/span&gt;</a:t>
            </a:r>
            <a:r>
              <a:rPr lang="en" sz="1600"/>
              <a:t> An inline element that can be used to create a section in a paragraph</a:t>
            </a:r>
            <a:endParaRPr sz="1600"/>
          </a:p>
          <a:p>
            <a:pPr indent="-330200" lvl="0" marL="457200" rtl="0" algn="l">
              <a:spcBef>
                <a:spcPts val="0"/>
              </a:spcBef>
              <a:spcAft>
                <a:spcPts val="0"/>
              </a:spcAft>
              <a:buSzPts val="1600"/>
              <a:buChar char="●"/>
            </a:pPr>
            <a:r>
              <a:rPr b="1" lang="en" sz="1600"/>
              <a:t>&lt;br/&gt;</a:t>
            </a:r>
            <a:r>
              <a:rPr lang="en" sz="1600"/>
              <a:t> An inline element, representing a line break</a:t>
            </a:r>
            <a:endParaRPr sz="1600"/>
          </a:p>
          <a:p>
            <a:pPr indent="-330200" lvl="0" marL="457200" rtl="0" algn="l">
              <a:spcBef>
                <a:spcPts val="0"/>
              </a:spcBef>
              <a:spcAft>
                <a:spcPts val="0"/>
              </a:spcAft>
              <a:buSzPts val="1600"/>
              <a:buChar char="●"/>
            </a:pPr>
            <a:r>
              <a:rPr b="1" lang="en" sz="1600"/>
              <a:t>Heading tags &lt;h1 .. h6&gt;.. &lt;/h1 .. h6&gt; </a:t>
            </a:r>
            <a:r>
              <a:rPr lang="en" sz="1600"/>
              <a:t>All headings are block elements. They cannot contain other elements, just text.</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01" name="Google Shape;201;p2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b="1" lang="en" sz="1500"/>
              <a:t>&lt;strong&gt; .. &lt;/strong&gt;</a:t>
            </a:r>
            <a:r>
              <a:rPr lang="en" sz="1500"/>
              <a:t> This makes the text in this element in </a:t>
            </a:r>
            <a:r>
              <a:rPr b="1" lang="en" sz="1500"/>
              <a:t>bold</a:t>
            </a:r>
            <a:endParaRPr sz="1500"/>
          </a:p>
          <a:p>
            <a:pPr indent="-323850" lvl="0" marL="457200" rtl="0" algn="l">
              <a:spcBef>
                <a:spcPts val="0"/>
              </a:spcBef>
              <a:spcAft>
                <a:spcPts val="0"/>
              </a:spcAft>
              <a:buSzPts val="1500"/>
              <a:buChar char="●"/>
            </a:pPr>
            <a:r>
              <a:rPr b="1" lang="en" sz="1500"/>
              <a:t>&lt;em&gt; .. &lt;/em&gt; </a:t>
            </a:r>
            <a:r>
              <a:rPr lang="en" sz="1500"/>
              <a:t>This makes the text in this element as </a:t>
            </a:r>
            <a:r>
              <a:rPr i="1" lang="en" sz="1500"/>
              <a:t>italic</a:t>
            </a:r>
            <a:r>
              <a:rPr lang="en" sz="1500"/>
              <a:t>.</a:t>
            </a:r>
            <a:endParaRPr sz="1500"/>
          </a:p>
          <a:p>
            <a:pPr indent="-323850" lvl="0" marL="457200" rtl="0" algn="l">
              <a:spcBef>
                <a:spcPts val="0"/>
              </a:spcBef>
              <a:spcAft>
                <a:spcPts val="0"/>
              </a:spcAft>
              <a:buSzPts val="1500"/>
              <a:buChar char="●"/>
            </a:pPr>
            <a:r>
              <a:rPr b="1" lang="en" sz="1500"/>
              <a:t>&lt;blockquote&gt; .. &lt;/blockquote&gt;</a:t>
            </a:r>
            <a:r>
              <a:rPr lang="en" sz="1500"/>
              <a:t> is useful to insert citations in the text</a:t>
            </a:r>
            <a:endParaRPr sz="1500"/>
          </a:p>
          <a:p>
            <a:pPr indent="-323850" lvl="0" marL="457200" rtl="0" algn="l">
              <a:spcBef>
                <a:spcPts val="0"/>
              </a:spcBef>
              <a:spcAft>
                <a:spcPts val="0"/>
              </a:spcAft>
              <a:buSzPts val="1500"/>
              <a:buChar char="●"/>
            </a:pPr>
            <a:r>
              <a:rPr lang="en" sz="1500"/>
              <a:t> </a:t>
            </a:r>
            <a:r>
              <a:rPr b="1" lang="en" sz="1500"/>
              <a:t>&lt;hr/&gt;</a:t>
            </a:r>
            <a:r>
              <a:rPr lang="en" sz="1500"/>
              <a:t> This tag adds a horizontal line in the page</a:t>
            </a:r>
            <a:endParaRPr sz="1500"/>
          </a:p>
          <a:p>
            <a:pPr indent="-323850" lvl="0" marL="457200" rtl="0" algn="l">
              <a:spcBef>
                <a:spcPts val="0"/>
              </a:spcBef>
              <a:spcAft>
                <a:spcPts val="0"/>
              </a:spcAft>
              <a:buSzPts val="1500"/>
              <a:buChar char="●"/>
            </a:pPr>
            <a:r>
              <a:rPr b="1" lang="en" sz="1500"/>
              <a:t>&lt;code&gt; .. &lt;/code&gt;</a:t>
            </a:r>
            <a:r>
              <a:rPr lang="en" sz="1500"/>
              <a:t> This tag is especially useful to show code, because browsers give it a monospaced font</a:t>
            </a:r>
            <a:endParaRPr sz="1500"/>
          </a:p>
          <a:p>
            <a:pPr indent="-323850" lvl="0" marL="457200" rtl="0" algn="l">
              <a:spcBef>
                <a:spcPts val="0"/>
              </a:spcBef>
              <a:spcAft>
                <a:spcPts val="0"/>
              </a:spcAft>
              <a:buSzPts val="1500"/>
              <a:buChar char="●"/>
            </a:pPr>
            <a:r>
              <a:rPr b="1" lang="en" sz="1500"/>
              <a:t>&lt;a href=”https://www.google.com”&gt; .. &lt;/a&gt;</a:t>
            </a:r>
            <a:r>
              <a:rPr lang="en" sz="1500"/>
              <a:t> Links are defined using the </a:t>
            </a:r>
            <a:r>
              <a:rPr i="1" lang="en" sz="1500"/>
              <a:t>a</a:t>
            </a:r>
            <a:r>
              <a:rPr lang="en" sz="1500"/>
              <a:t> tag. The link destination is set via </a:t>
            </a:r>
            <a:r>
              <a:rPr i="1" lang="en" sz="1500"/>
              <a:t>href</a:t>
            </a:r>
            <a:r>
              <a:rPr lang="en" sz="1500"/>
              <a:t> attribute</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07" name="Google Shape;207;p2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700"/>
              <a:t>Lists</a:t>
            </a:r>
            <a:endParaRPr b="1" sz="1700"/>
          </a:p>
          <a:p>
            <a:pPr indent="-336550" lvl="0" marL="457200" rtl="0" algn="l">
              <a:spcBef>
                <a:spcPts val="1200"/>
              </a:spcBef>
              <a:spcAft>
                <a:spcPts val="0"/>
              </a:spcAft>
              <a:buSzPts val="1700"/>
              <a:buChar char="●"/>
            </a:pPr>
            <a:r>
              <a:rPr lang="en" sz="1700"/>
              <a:t>unordered lists</a:t>
            </a:r>
            <a:endParaRPr sz="1700"/>
          </a:p>
          <a:p>
            <a:pPr indent="-336550" lvl="0" marL="457200" rtl="0" algn="l">
              <a:spcBef>
                <a:spcPts val="0"/>
              </a:spcBef>
              <a:spcAft>
                <a:spcPts val="0"/>
              </a:spcAft>
              <a:buSzPts val="1700"/>
              <a:buChar char="●"/>
            </a:pPr>
            <a:r>
              <a:rPr lang="en" sz="1700"/>
              <a:t>ordered lists</a:t>
            </a:r>
            <a:endParaRPr sz="1700"/>
          </a:p>
          <a:p>
            <a:pPr indent="-336550" lvl="0" marL="457200" rtl="0" algn="l">
              <a:spcBef>
                <a:spcPts val="0"/>
              </a:spcBef>
              <a:spcAft>
                <a:spcPts val="0"/>
              </a:spcAft>
              <a:buSzPts val="1700"/>
              <a:buChar char="●"/>
            </a:pPr>
            <a:r>
              <a:rPr lang="en" sz="1700"/>
              <a:t>definition lists</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13" name="Google Shape;213;p2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SzPts val="1700"/>
              <a:buChar char="●"/>
            </a:pPr>
            <a:r>
              <a:rPr b="1" lang="en" sz="1700"/>
              <a:t>unordered lists </a:t>
            </a:r>
            <a:endParaRPr b="1" sz="1700"/>
          </a:p>
          <a:p>
            <a:pPr indent="-336550" lvl="1" marL="914400" rtl="0" algn="l">
              <a:spcBef>
                <a:spcPts val="0"/>
              </a:spcBef>
              <a:spcAft>
                <a:spcPts val="0"/>
              </a:spcAft>
              <a:buSzPts val="1700"/>
              <a:buChar char="○"/>
            </a:pPr>
            <a:r>
              <a:rPr lang="en" sz="1700"/>
              <a:t>Created using the </a:t>
            </a:r>
            <a:r>
              <a:rPr i="1" lang="en" sz="1700"/>
              <a:t>ul</a:t>
            </a:r>
            <a:r>
              <a:rPr lang="en" sz="1700"/>
              <a:t> tag. Each item in the list is created with the </a:t>
            </a:r>
            <a:r>
              <a:rPr i="1" lang="en" sz="1700"/>
              <a:t>li</a:t>
            </a:r>
            <a:r>
              <a:rPr lang="en" sz="1700"/>
              <a:t> tag</a:t>
            </a:r>
            <a:endParaRPr sz="1700"/>
          </a:p>
          <a:p>
            <a:pPr indent="-336550" lvl="0" marL="457200" rtl="0" algn="l">
              <a:spcBef>
                <a:spcPts val="0"/>
              </a:spcBef>
              <a:spcAft>
                <a:spcPts val="0"/>
              </a:spcAft>
              <a:buSzPts val="1700"/>
              <a:buChar char="●"/>
            </a:pPr>
            <a:r>
              <a:rPr b="1" lang="en" sz="1700"/>
              <a:t>ordered lists</a:t>
            </a:r>
            <a:endParaRPr sz="1700"/>
          </a:p>
          <a:p>
            <a:pPr indent="-336550" lvl="1" marL="914400" rtl="0" algn="l">
              <a:spcBef>
                <a:spcPts val="0"/>
              </a:spcBef>
              <a:spcAft>
                <a:spcPts val="0"/>
              </a:spcAft>
              <a:buSzPts val="1700"/>
              <a:buChar char="○"/>
            </a:pPr>
            <a:r>
              <a:rPr lang="en" sz="1700"/>
              <a:t>Created using the </a:t>
            </a:r>
            <a:r>
              <a:rPr i="1" lang="en" sz="1700"/>
              <a:t>ol</a:t>
            </a:r>
            <a:r>
              <a:rPr lang="en" sz="1700"/>
              <a:t> tag. Each item in the list is created with the </a:t>
            </a:r>
            <a:r>
              <a:rPr i="1" lang="en" sz="1700"/>
              <a:t>li</a:t>
            </a:r>
            <a:r>
              <a:rPr lang="en" sz="1700"/>
              <a:t> tag as well</a:t>
            </a:r>
            <a:endParaRPr sz="1700"/>
          </a:p>
          <a:p>
            <a:pPr indent="-336550" lvl="0" marL="457200" rtl="0" algn="l">
              <a:spcBef>
                <a:spcPts val="0"/>
              </a:spcBef>
              <a:spcAft>
                <a:spcPts val="0"/>
              </a:spcAft>
              <a:buSzPts val="1700"/>
              <a:buChar char="●"/>
            </a:pPr>
            <a:r>
              <a:rPr b="1" lang="en" sz="1700"/>
              <a:t>definition lists</a:t>
            </a:r>
            <a:endParaRPr b="1" sz="1700"/>
          </a:p>
          <a:p>
            <a:pPr indent="-336550" lvl="1" marL="914400" rtl="0" algn="l">
              <a:spcBef>
                <a:spcPts val="0"/>
              </a:spcBef>
              <a:spcAft>
                <a:spcPts val="0"/>
              </a:spcAft>
              <a:buSzPts val="1700"/>
              <a:buChar char="○"/>
            </a:pPr>
            <a:r>
              <a:rPr lang="en" sz="1700"/>
              <a:t>Created using </a:t>
            </a:r>
            <a:r>
              <a:rPr i="1" lang="en" sz="1700"/>
              <a:t>dl</a:t>
            </a:r>
            <a:r>
              <a:rPr lang="en" sz="1700"/>
              <a:t> and each item consists of a </a:t>
            </a:r>
            <a:r>
              <a:rPr i="1" lang="en" sz="1700"/>
              <a:t>dt</a:t>
            </a:r>
            <a:r>
              <a:rPr lang="en" sz="1700"/>
              <a:t> and </a:t>
            </a:r>
            <a:r>
              <a:rPr i="1" lang="en" sz="1700"/>
              <a:t>dd</a:t>
            </a:r>
            <a:r>
              <a:rPr lang="en" sz="1700"/>
              <a:t> tags</a:t>
            </a:r>
            <a:endParaRPr sz="1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19" name="Google Shape;219;p28"/>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baseline="30000" i="1" lang="en" sz="2000"/>
              <a:t>Other text tags:</a:t>
            </a:r>
            <a:endParaRPr b="1" baseline="30000" sz="2000"/>
          </a:p>
          <a:p>
            <a:pPr indent="-355600" lvl="0" marL="457200" rtl="0" algn="l">
              <a:lnSpc>
                <a:spcPct val="100000"/>
              </a:lnSpc>
              <a:spcBef>
                <a:spcPts val="0"/>
              </a:spcBef>
              <a:spcAft>
                <a:spcPts val="0"/>
              </a:spcAft>
              <a:buSzPts val="2000"/>
              <a:buChar char="●"/>
            </a:pPr>
            <a:r>
              <a:rPr b="1" baseline="30000" i="1" lang="en" sz="2000"/>
              <a:t>&lt;mark&gt; </a:t>
            </a:r>
            <a:endParaRPr b="1" baseline="30000" i="1" sz="2000"/>
          </a:p>
          <a:p>
            <a:pPr indent="-355600" lvl="0" marL="457200" rtl="0" algn="l">
              <a:lnSpc>
                <a:spcPct val="100000"/>
              </a:lnSpc>
              <a:spcBef>
                <a:spcPts val="0"/>
              </a:spcBef>
              <a:spcAft>
                <a:spcPts val="0"/>
              </a:spcAft>
              <a:buSzPts val="2000"/>
              <a:buChar char="●"/>
            </a:pPr>
            <a:r>
              <a:rPr b="1" baseline="30000" i="1" lang="en" sz="2000"/>
              <a:t>&lt;ins&gt; </a:t>
            </a:r>
            <a:endParaRPr b="1" baseline="30000" sz="2000"/>
          </a:p>
          <a:p>
            <a:pPr indent="-355600" lvl="0" marL="457200" rtl="0" algn="l">
              <a:lnSpc>
                <a:spcPct val="100000"/>
              </a:lnSpc>
              <a:spcBef>
                <a:spcPts val="0"/>
              </a:spcBef>
              <a:spcAft>
                <a:spcPts val="0"/>
              </a:spcAft>
              <a:buSzPts val="2000"/>
              <a:buChar char="●"/>
            </a:pPr>
            <a:r>
              <a:rPr b="1" baseline="30000" i="1" lang="en" sz="2000"/>
              <a:t>&lt;del&gt;</a:t>
            </a:r>
            <a:endParaRPr b="1" baseline="30000" i="1" sz="2000"/>
          </a:p>
          <a:p>
            <a:pPr indent="-355600" lvl="0" marL="457200" rtl="0" algn="l">
              <a:lnSpc>
                <a:spcPct val="100000"/>
              </a:lnSpc>
              <a:spcBef>
                <a:spcPts val="0"/>
              </a:spcBef>
              <a:spcAft>
                <a:spcPts val="0"/>
              </a:spcAft>
              <a:buSzPts val="2000"/>
              <a:buChar char="●"/>
            </a:pPr>
            <a:r>
              <a:rPr b="1" baseline="30000" i="1" lang="en" sz="2000"/>
              <a:t>&lt;sup&gt;</a:t>
            </a:r>
            <a:endParaRPr b="1" baseline="30000" i="1" sz="2000"/>
          </a:p>
          <a:p>
            <a:pPr indent="-355600" lvl="0" marL="457200" rtl="0" algn="l">
              <a:lnSpc>
                <a:spcPct val="100000"/>
              </a:lnSpc>
              <a:spcBef>
                <a:spcPts val="0"/>
              </a:spcBef>
              <a:spcAft>
                <a:spcPts val="0"/>
              </a:spcAft>
              <a:buSzPts val="2000"/>
              <a:buChar char="●"/>
            </a:pPr>
            <a:r>
              <a:rPr b="1" baseline="30000" i="1" lang="en" sz="2000"/>
              <a:t>&lt;sub&gt;</a:t>
            </a:r>
            <a:endParaRPr b="1" baseline="30000" i="1" sz="2000"/>
          </a:p>
          <a:p>
            <a:pPr indent="-355600" lvl="0" marL="457200" rtl="0" algn="l">
              <a:lnSpc>
                <a:spcPct val="100000"/>
              </a:lnSpc>
              <a:spcBef>
                <a:spcPts val="0"/>
              </a:spcBef>
              <a:spcAft>
                <a:spcPts val="0"/>
              </a:spcAft>
              <a:buSzPts val="2000"/>
              <a:buChar char="●"/>
            </a:pPr>
            <a:r>
              <a:rPr b="1" baseline="30000" i="1" lang="en" sz="2000"/>
              <a:t>&lt;small&gt;</a:t>
            </a:r>
            <a:endParaRPr b="1" baseline="30000" i="1" sz="2000"/>
          </a:p>
          <a:p>
            <a:pPr indent="-355600" lvl="0" marL="457200" rtl="0" algn="l">
              <a:lnSpc>
                <a:spcPct val="100000"/>
              </a:lnSpc>
              <a:spcBef>
                <a:spcPts val="0"/>
              </a:spcBef>
              <a:spcAft>
                <a:spcPts val="0"/>
              </a:spcAft>
              <a:buSzPts val="2000"/>
              <a:buChar char="●"/>
            </a:pPr>
            <a:r>
              <a:rPr b="1" baseline="30000" i="1" lang="en" sz="2000"/>
              <a:t>&lt;i&gt;</a:t>
            </a:r>
            <a:endParaRPr b="1" baseline="30000" i="1" sz="2000"/>
          </a:p>
          <a:p>
            <a:pPr indent="-355600" lvl="0" marL="457200" rtl="0" algn="l">
              <a:lnSpc>
                <a:spcPct val="100000"/>
              </a:lnSpc>
              <a:spcBef>
                <a:spcPts val="0"/>
              </a:spcBef>
              <a:spcAft>
                <a:spcPts val="0"/>
              </a:spcAft>
              <a:buSzPts val="2000"/>
              <a:buChar char="●"/>
            </a:pPr>
            <a:r>
              <a:rPr b="1" baseline="30000" i="1" lang="en" sz="2000"/>
              <a:t>&lt;b&gt;</a:t>
            </a:r>
            <a:endParaRPr b="1" baseline="30000" i="1"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25" name="Google Shape;225;p2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Container Tags</a:t>
            </a:r>
            <a:endParaRPr b="1" sz="1800"/>
          </a:p>
          <a:p>
            <a:pPr indent="-342900" lvl="0" marL="457200" rtl="0" algn="l">
              <a:spcBef>
                <a:spcPts val="1200"/>
              </a:spcBef>
              <a:spcAft>
                <a:spcPts val="0"/>
              </a:spcAft>
              <a:buSzPts val="1800"/>
              <a:buChar char="●"/>
            </a:pPr>
            <a:r>
              <a:rPr b="1" lang="en" sz="1800"/>
              <a:t>&lt;article&gt; .. &lt;/article&gt; </a:t>
            </a:r>
            <a:r>
              <a:rPr lang="en" sz="1800"/>
              <a:t>tag specifies independent, self-contained content.</a:t>
            </a:r>
            <a:endParaRPr sz="1800"/>
          </a:p>
          <a:p>
            <a:pPr indent="-342900" lvl="0" marL="457200" rtl="0" algn="l">
              <a:spcBef>
                <a:spcPts val="0"/>
              </a:spcBef>
              <a:spcAft>
                <a:spcPts val="0"/>
              </a:spcAft>
              <a:buSzPts val="1800"/>
              <a:buChar char="●"/>
            </a:pPr>
            <a:r>
              <a:rPr b="1" lang="en" sz="1800"/>
              <a:t>&lt;section&gt; .. &lt;/section&gt; </a:t>
            </a:r>
            <a:r>
              <a:rPr lang="en" sz="1800">
                <a:solidFill>
                  <a:srgbClr val="000000"/>
                </a:solidFill>
              </a:rPr>
              <a:t>defines a </a:t>
            </a:r>
            <a:r>
              <a:rPr i="1" lang="en" sz="1800">
                <a:solidFill>
                  <a:srgbClr val="000000"/>
                </a:solidFill>
              </a:rPr>
              <a:t>section</a:t>
            </a:r>
            <a:r>
              <a:rPr lang="en" sz="1800">
                <a:solidFill>
                  <a:srgbClr val="000000"/>
                </a:solidFill>
              </a:rPr>
              <a:t> in a document</a:t>
            </a:r>
            <a:endParaRPr b="1" sz="1800"/>
          </a:p>
          <a:p>
            <a:pPr indent="-342900" lvl="0" marL="457200" rtl="0" algn="l">
              <a:spcBef>
                <a:spcPts val="0"/>
              </a:spcBef>
              <a:spcAft>
                <a:spcPts val="0"/>
              </a:spcAft>
              <a:buSzPts val="1800"/>
              <a:buChar char="●"/>
            </a:pPr>
            <a:r>
              <a:rPr b="1" lang="en" sz="1800"/>
              <a:t>&lt;div&gt; .. &lt;/div&gt; </a:t>
            </a:r>
            <a:r>
              <a:rPr lang="en" sz="1800"/>
              <a:t>is the generic container element</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31" name="Google Shape;231;p30"/>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baseline="30000" lang="en" sz="2300"/>
              <a:t>Tags related to page</a:t>
            </a:r>
            <a:endParaRPr b="1" baseline="30000" sz="2300"/>
          </a:p>
          <a:p>
            <a:pPr indent="-374650" lvl="0" marL="457200" rtl="0" algn="l">
              <a:spcBef>
                <a:spcPts val="0"/>
              </a:spcBef>
              <a:spcAft>
                <a:spcPts val="0"/>
              </a:spcAft>
              <a:buSzPts val="2300"/>
              <a:buChar char="●"/>
            </a:pPr>
            <a:r>
              <a:rPr b="1" baseline="30000" lang="en" sz="2300"/>
              <a:t>&lt;nav&gt; .. &lt;/nav&gt;</a:t>
            </a:r>
            <a:r>
              <a:rPr baseline="30000" lang="en" sz="2300"/>
              <a:t> This tag is used to create the markup that defines the page navigation</a:t>
            </a:r>
            <a:endParaRPr baseline="30000" sz="2300"/>
          </a:p>
          <a:p>
            <a:pPr indent="-374650" lvl="0" marL="457200" rtl="0" algn="l">
              <a:spcBef>
                <a:spcPts val="0"/>
              </a:spcBef>
              <a:spcAft>
                <a:spcPts val="0"/>
              </a:spcAft>
              <a:buSzPts val="2300"/>
              <a:buChar char="●"/>
            </a:pPr>
            <a:r>
              <a:rPr b="1" baseline="30000" lang="en" sz="2300"/>
              <a:t>&lt;header&gt; .. &lt;/header&gt; </a:t>
            </a:r>
            <a:r>
              <a:rPr baseline="30000" lang="en" sz="2300"/>
              <a:t>tag represents a part of the page that is the introduction</a:t>
            </a:r>
            <a:endParaRPr baseline="30000" sz="2300"/>
          </a:p>
          <a:p>
            <a:pPr indent="-374650" lvl="0" marL="457200" rtl="0" algn="l">
              <a:spcBef>
                <a:spcPts val="0"/>
              </a:spcBef>
              <a:spcAft>
                <a:spcPts val="0"/>
              </a:spcAft>
              <a:buSzPts val="2300"/>
              <a:buChar char="●"/>
            </a:pPr>
            <a:r>
              <a:rPr b="1" baseline="30000" lang="en" sz="2300"/>
              <a:t>&lt;main&gt; .. &lt;/main&gt;</a:t>
            </a:r>
            <a:r>
              <a:rPr baseline="30000" lang="en" sz="2300"/>
              <a:t> tag represents the main part of a page</a:t>
            </a:r>
            <a:endParaRPr baseline="30000" sz="2300"/>
          </a:p>
          <a:p>
            <a:pPr indent="-374650" lvl="0" marL="457200" rtl="0" algn="l">
              <a:spcBef>
                <a:spcPts val="0"/>
              </a:spcBef>
              <a:spcAft>
                <a:spcPts val="0"/>
              </a:spcAft>
              <a:buSzPts val="2300"/>
              <a:buChar char="●"/>
            </a:pPr>
            <a:r>
              <a:rPr b="1" baseline="30000" lang="en" sz="2300"/>
              <a:t>&lt;footer&gt; .. &lt;/footer&gt;</a:t>
            </a:r>
            <a:r>
              <a:rPr baseline="30000" lang="en" sz="2300"/>
              <a:t> tag is used to determine the footer of an article, or the footer of</a:t>
            </a:r>
            <a:endParaRPr baseline="30000" sz="2300"/>
          </a:p>
          <a:p>
            <a:pPr indent="0" lvl="0" marL="457200" rtl="0" algn="l">
              <a:spcBef>
                <a:spcPts val="0"/>
              </a:spcBef>
              <a:spcAft>
                <a:spcPts val="0"/>
              </a:spcAft>
              <a:buNone/>
            </a:pPr>
            <a:r>
              <a:rPr baseline="30000" lang="en" sz="2300"/>
              <a:t>the page</a:t>
            </a:r>
            <a:endParaRPr baseline="30000" sz="2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37" name="Google Shape;237;p3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800"/>
              <a:t>Forms</a:t>
            </a:r>
            <a:r>
              <a:rPr lang="en" sz="1800"/>
              <a:t> </a:t>
            </a:r>
            <a:endParaRPr sz="1800"/>
          </a:p>
          <a:p>
            <a:pPr indent="-349250" lvl="0" marL="457200" rtl="0" algn="l">
              <a:spcBef>
                <a:spcPts val="0"/>
              </a:spcBef>
              <a:spcAft>
                <a:spcPts val="0"/>
              </a:spcAft>
              <a:buSzPts val="1900"/>
              <a:buChar char="●"/>
            </a:pPr>
            <a:r>
              <a:rPr baseline="30000" lang="en" sz="1900"/>
              <a:t>Forms are the way you can interact with a page, or an app, built with Web technologies.</a:t>
            </a:r>
            <a:endParaRPr baseline="30000" sz="1900"/>
          </a:p>
          <a:p>
            <a:pPr indent="-349250" lvl="0" marL="457200" rtl="0" algn="l">
              <a:spcBef>
                <a:spcPts val="0"/>
              </a:spcBef>
              <a:spcAft>
                <a:spcPts val="0"/>
              </a:spcAft>
              <a:buSzPts val="1900"/>
              <a:buChar char="●"/>
            </a:pPr>
            <a:r>
              <a:rPr baseline="30000" lang="en" sz="1900"/>
              <a:t>You have a set of controls, and when you submit the form, either with a click to a "submit" button or programmatically, the browser will send the data to the server.</a:t>
            </a:r>
            <a:endParaRPr baseline="30000" sz="1900"/>
          </a:p>
          <a:p>
            <a:pPr indent="-349250" lvl="0" marL="457200" rtl="0" algn="l">
              <a:spcBef>
                <a:spcPts val="0"/>
              </a:spcBef>
              <a:spcAft>
                <a:spcPts val="0"/>
              </a:spcAft>
              <a:buSzPts val="1900"/>
              <a:buChar char="●"/>
            </a:pPr>
            <a:r>
              <a:rPr baseline="30000" lang="en" sz="1900"/>
              <a:t>By default this data sending causes the page to reload after the data is sent, but using JavaScript you can alter this behavior</a:t>
            </a:r>
            <a:endParaRPr baseline="30000" sz="1900"/>
          </a:p>
          <a:p>
            <a:pPr indent="-349250" lvl="0" marL="457200" rtl="0" algn="l">
              <a:spcBef>
                <a:spcPts val="0"/>
              </a:spcBef>
              <a:spcAft>
                <a:spcPts val="0"/>
              </a:spcAft>
              <a:buSzPts val="1900"/>
              <a:buChar char="●"/>
            </a:pPr>
            <a:r>
              <a:rPr baseline="30000" lang="en" sz="1900"/>
              <a:t>Created using </a:t>
            </a:r>
            <a:r>
              <a:rPr b="1" baseline="30000" lang="en" sz="1900"/>
              <a:t>&lt;form&gt; .. &lt;/form&gt;</a:t>
            </a:r>
            <a:endParaRPr b="1" baseline="30000" sz="1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43" name="Google Shape;243;p3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t>&lt;input&gt; tag</a:t>
            </a:r>
            <a:r>
              <a:rPr lang="en" sz="1600"/>
              <a:t> </a:t>
            </a:r>
            <a:endParaRPr sz="1600"/>
          </a:p>
          <a:p>
            <a:pPr indent="-330200" lvl="0" marL="457200" rtl="0" algn="l">
              <a:spcBef>
                <a:spcPts val="1200"/>
              </a:spcBef>
              <a:spcAft>
                <a:spcPts val="0"/>
              </a:spcAft>
              <a:buSzPts val="1600"/>
              <a:buChar char="●"/>
            </a:pPr>
            <a:r>
              <a:rPr lang="en" sz="1600"/>
              <a:t>The input field is one of the most widely used form elements. It's also a very versatile element, and it can completely change behavior based on the type attribute</a:t>
            </a:r>
            <a:endParaRPr sz="1600"/>
          </a:p>
          <a:p>
            <a:pPr indent="-330200" lvl="0" marL="457200" rtl="0" algn="l">
              <a:spcBef>
                <a:spcPts val="0"/>
              </a:spcBef>
              <a:spcAft>
                <a:spcPts val="0"/>
              </a:spcAft>
              <a:buSzPts val="1600"/>
              <a:buChar char="●"/>
            </a:pPr>
            <a:r>
              <a:rPr lang="en" sz="1600"/>
              <a:t>The default behavior is to be a single-line text input control </a:t>
            </a:r>
            <a:r>
              <a:rPr b="1" lang="en" sz="1600"/>
              <a:t>&lt;input /&gt;</a:t>
            </a:r>
            <a:endParaRPr b="1"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49" name="Google Shape;249;p3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t>&lt;input&gt; tag</a:t>
            </a:r>
            <a:r>
              <a:rPr lang="en" sz="1600"/>
              <a:t> </a:t>
            </a:r>
            <a:r>
              <a:rPr b="1" lang="en" sz="1600"/>
              <a:t>(cont’d)</a:t>
            </a:r>
            <a:endParaRPr sz="1600"/>
          </a:p>
          <a:p>
            <a:pPr indent="-349250" lvl="0" marL="457200" rtl="0" algn="l">
              <a:spcBef>
                <a:spcPts val="0"/>
              </a:spcBef>
              <a:spcAft>
                <a:spcPts val="0"/>
              </a:spcAft>
              <a:buSzPts val="1900"/>
              <a:buChar char="●"/>
            </a:pPr>
            <a:r>
              <a:rPr b="1" baseline="30000" lang="en" sz="1900"/>
              <a:t>&lt;input type=”text”/&gt; </a:t>
            </a:r>
            <a:r>
              <a:rPr baseline="30000" lang="en" sz="1900"/>
              <a:t>&lt;!-- accepts alphanumeric values – &gt;</a:t>
            </a:r>
            <a:endParaRPr baseline="30000" sz="1900"/>
          </a:p>
          <a:p>
            <a:pPr indent="-349250" lvl="0" marL="457200" rtl="0" algn="l">
              <a:spcBef>
                <a:spcPts val="0"/>
              </a:spcBef>
              <a:spcAft>
                <a:spcPts val="0"/>
              </a:spcAft>
              <a:buSzPts val="1900"/>
              <a:buChar char="●"/>
            </a:pPr>
            <a:r>
              <a:rPr b="1" baseline="30000" lang="en" sz="1900"/>
              <a:t>&lt;input type=”email” /&gt; </a:t>
            </a:r>
            <a:r>
              <a:rPr baseline="30000" lang="en" sz="1900"/>
              <a:t>&lt;!-- Email format – &gt;</a:t>
            </a:r>
            <a:endParaRPr baseline="30000" sz="1900"/>
          </a:p>
          <a:p>
            <a:pPr indent="-349250" lvl="0" marL="457200" rtl="0" algn="l">
              <a:spcBef>
                <a:spcPts val="0"/>
              </a:spcBef>
              <a:spcAft>
                <a:spcPts val="0"/>
              </a:spcAft>
              <a:buSzPts val="1900"/>
              <a:buChar char="●"/>
            </a:pPr>
            <a:r>
              <a:rPr b="1" baseline="30000" lang="en" sz="1900"/>
              <a:t>&lt;input type=”password” /&gt; </a:t>
            </a:r>
            <a:r>
              <a:rPr baseline="30000" lang="en" sz="1900"/>
              <a:t>&lt;!-- Will make all the keys entered as * – &gt;</a:t>
            </a:r>
            <a:endParaRPr baseline="30000" sz="1900"/>
          </a:p>
          <a:p>
            <a:pPr indent="-349250" lvl="0" marL="457200" rtl="0" algn="l">
              <a:spcBef>
                <a:spcPts val="0"/>
              </a:spcBef>
              <a:spcAft>
                <a:spcPts val="0"/>
              </a:spcAft>
              <a:buSzPts val="1900"/>
              <a:buChar char="●"/>
            </a:pPr>
            <a:r>
              <a:rPr b="1" baseline="30000" lang="en" sz="1900"/>
              <a:t>&lt;input type=”number” /&gt; </a:t>
            </a:r>
            <a:r>
              <a:rPr baseline="30000" lang="en" sz="1900"/>
              <a:t>&lt;!-- Accept only numbers – &gt;</a:t>
            </a:r>
            <a:endParaRPr baseline="30000" sz="1900"/>
          </a:p>
          <a:p>
            <a:pPr indent="-349250" lvl="0" marL="457200" rtl="0" algn="l">
              <a:spcBef>
                <a:spcPts val="0"/>
              </a:spcBef>
              <a:spcAft>
                <a:spcPts val="0"/>
              </a:spcAft>
              <a:buSzPts val="1900"/>
              <a:buChar char="●"/>
            </a:pPr>
            <a:r>
              <a:rPr b="1" baseline="30000" lang="en" sz="1900"/>
              <a:t>&lt;input type=”hidden” /&gt; </a:t>
            </a:r>
            <a:r>
              <a:rPr baseline="30000" lang="en" sz="1900"/>
              <a:t>&lt;!-- Used to store values hidden from user – &gt;</a:t>
            </a:r>
            <a:endParaRPr baseline="30000" sz="1900"/>
          </a:p>
          <a:p>
            <a:pPr indent="-349250" lvl="0" marL="457200" rtl="0" algn="l">
              <a:spcBef>
                <a:spcPts val="0"/>
              </a:spcBef>
              <a:spcAft>
                <a:spcPts val="0"/>
              </a:spcAft>
              <a:buSzPts val="1900"/>
              <a:buChar char="●"/>
            </a:pPr>
            <a:r>
              <a:rPr b="1" baseline="30000" lang="en" sz="1900"/>
              <a:t>&lt;input type=”submit” /&gt;  </a:t>
            </a:r>
            <a:r>
              <a:rPr baseline="30000" lang="en" sz="1900"/>
              <a:t>&lt;!-- This submits the form  – &gt;</a:t>
            </a:r>
            <a:endParaRPr baseline="30000" sz="1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55" name="Google Shape;255;p34"/>
          <p:cNvSpPr txBox="1"/>
          <p:nvPr>
            <p:ph idx="1" type="body"/>
          </p:nvPr>
        </p:nvSpPr>
        <p:spPr>
          <a:xfrm>
            <a:off x="819150" y="1990725"/>
            <a:ext cx="79875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&lt;input&gt; tag</a:t>
            </a:r>
            <a:r>
              <a:rPr lang="en" sz="1800"/>
              <a:t> </a:t>
            </a:r>
            <a:r>
              <a:rPr b="1" lang="en" sz="1800"/>
              <a:t>(cont’d)</a:t>
            </a:r>
            <a:endParaRPr sz="1800"/>
          </a:p>
          <a:p>
            <a:pPr indent="-342900" lvl="0" marL="457200" rtl="0" algn="l">
              <a:spcBef>
                <a:spcPts val="0"/>
              </a:spcBef>
              <a:spcAft>
                <a:spcPts val="0"/>
              </a:spcAft>
              <a:buSzPts val="1800"/>
              <a:buChar char="●"/>
            </a:pPr>
            <a:r>
              <a:rPr b="1" baseline="30000" lang="en" sz="1800"/>
              <a:t>&lt;input type=”file” /&gt; </a:t>
            </a:r>
            <a:r>
              <a:rPr baseline="30000" lang="en" sz="1800"/>
              <a:t>&lt;!-- Accepts file input – &gt;</a:t>
            </a:r>
            <a:endParaRPr baseline="30000" sz="1800"/>
          </a:p>
          <a:p>
            <a:pPr indent="-342900" lvl="0" marL="457200" rtl="0" algn="l">
              <a:spcBef>
                <a:spcPts val="0"/>
              </a:spcBef>
              <a:spcAft>
                <a:spcPts val="0"/>
              </a:spcAft>
              <a:buSzPts val="1800"/>
              <a:buChar char="●"/>
            </a:pPr>
            <a:r>
              <a:rPr b="1" baseline="30000" lang="en" sz="1800"/>
              <a:t>&lt;input type=”button”/&gt; </a:t>
            </a:r>
            <a:endParaRPr b="1" baseline="30000" sz="1800"/>
          </a:p>
          <a:p>
            <a:pPr indent="-342900" lvl="0" marL="457200" rtl="0" algn="l">
              <a:spcBef>
                <a:spcPts val="0"/>
              </a:spcBef>
              <a:spcAft>
                <a:spcPts val="0"/>
              </a:spcAft>
              <a:buSzPts val="1800"/>
              <a:buChar char="●"/>
            </a:pPr>
            <a:r>
              <a:rPr b="1" baseline="30000" lang="en" sz="1800"/>
              <a:t>&lt;input type=”reset” /&gt; </a:t>
            </a:r>
            <a:r>
              <a:rPr baseline="30000" lang="en" sz="1800"/>
              <a:t>&lt;!-- Resets the whole form – &gt;</a:t>
            </a:r>
            <a:endParaRPr baseline="30000" sz="1800"/>
          </a:p>
          <a:p>
            <a:pPr indent="-342900" lvl="0" marL="457200" rtl="0" algn="l">
              <a:spcBef>
                <a:spcPts val="0"/>
              </a:spcBef>
              <a:spcAft>
                <a:spcPts val="0"/>
              </a:spcAft>
              <a:buSzPts val="1800"/>
              <a:buChar char="●"/>
            </a:pPr>
            <a:r>
              <a:rPr b="1" baseline="30000" lang="en" sz="1800"/>
              <a:t>&lt;input type=”radio” name=”color” value=”red”/&gt; </a:t>
            </a:r>
            <a:r>
              <a:rPr baseline="30000" lang="en" sz="1800"/>
              <a:t>&lt;!-- Accepts checked element/value →</a:t>
            </a:r>
            <a:endParaRPr baseline="30000" sz="1800"/>
          </a:p>
          <a:p>
            <a:pPr indent="-342900" lvl="0" marL="457200" rtl="0" algn="l">
              <a:spcBef>
                <a:spcPts val="0"/>
              </a:spcBef>
              <a:spcAft>
                <a:spcPts val="0"/>
              </a:spcAft>
              <a:buSzPts val="1800"/>
              <a:buChar char="●"/>
            </a:pPr>
            <a:r>
              <a:rPr b="1" baseline="30000" lang="en" sz="1800"/>
              <a:t>&lt;input type=”checkbox” name=”color” value=”red”/&gt; </a:t>
            </a:r>
            <a:r>
              <a:rPr baseline="30000" lang="en" sz="1800"/>
              <a:t>&lt;!-- Allows entry of either multiple, single, or no values chosen at all – &gt;</a:t>
            </a:r>
            <a:endParaRPr baseline="30000" sz="1800"/>
          </a:p>
          <a:p>
            <a:pPr indent="-342900" lvl="0" marL="457200" rtl="0" algn="l">
              <a:spcBef>
                <a:spcPts val="0"/>
              </a:spcBef>
              <a:spcAft>
                <a:spcPts val="0"/>
              </a:spcAft>
              <a:buSzPts val="1800"/>
              <a:buChar char="●"/>
            </a:pPr>
            <a:r>
              <a:rPr b="1" baseline="30000" lang="en" sz="1800"/>
              <a:t>&lt;input type=”url” /&gt;  </a:t>
            </a:r>
            <a:r>
              <a:rPr baseline="30000" lang="en" sz="1800"/>
              <a:t>&lt;!-- Accepts website input – &gt;</a:t>
            </a:r>
            <a:endParaRPr baseline="30000" sz="1800"/>
          </a:p>
          <a:p>
            <a:pPr indent="-342900" lvl="0" marL="457200" rtl="0" algn="l">
              <a:spcBef>
                <a:spcPts val="0"/>
              </a:spcBef>
              <a:spcAft>
                <a:spcPts val="0"/>
              </a:spcAft>
              <a:buSzPts val="1800"/>
              <a:buChar char="●"/>
            </a:pPr>
            <a:r>
              <a:rPr b="1" baseline="30000" lang="en" sz="1800"/>
              <a:t>&lt;textarea&gt;&lt;/textarea&gt;</a:t>
            </a:r>
            <a:r>
              <a:rPr baseline="30000" lang="en" sz="1800"/>
              <a:t> &lt;!-- Allows user to enter multi-line text/values – &gt;</a:t>
            </a:r>
            <a:endParaRPr baseline="30000" sz="1800"/>
          </a:p>
          <a:p>
            <a:pPr indent="0" lvl="0" marL="0" rtl="0" algn="l">
              <a:spcBef>
                <a:spcPts val="0"/>
              </a:spcBef>
              <a:spcAft>
                <a:spcPts val="1200"/>
              </a:spcAft>
              <a:buNone/>
            </a:pPr>
            <a:r>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61" name="Google Shape;261;p35"/>
          <p:cNvSpPr txBox="1"/>
          <p:nvPr>
            <p:ph idx="1" type="body"/>
          </p:nvPr>
        </p:nvSpPr>
        <p:spPr>
          <a:xfrm>
            <a:off x="819150" y="1990725"/>
            <a:ext cx="7505700" cy="2448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3"/>
              <a:buNone/>
            </a:pPr>
            <a:r>
              <a:rPr b="1" lang="en" sz="1995"/>
              <a:t>&lt;input&gt; tag (cont’d)</a:t>
            </a:r>
            <a:endParaRPr b="1" sz="1995"/>
          </a:p>
          <a:p>
            <a:pPr indent="-355283" lvl="0" marL="457200" rtl="0" algn="l">
              <a:lnSpc>
                <a:spcPct val="95000"/>
              </a:lnSpc>
              <a:spcBef>
                <a:spcPts val="1200"/>
              </a:spcBef>
              <a:spcAft>
                <a:spcPts val="0"/>
              </a:spcAft>
              <a:buSzPts val="1995"/>
              <a:buChar char="●"/>
            </a:pPr>
            <a:r>
              <a:rPr b="1" lang="en" sz="1995"/>
              <a:t>&lt;select&gt;</a:t>
            </a:r>
            <a:r>
              <a:rPr lang="en" sz="1995"/>
              <a:t> used to create a drop-down menu. </a:t>
            </a:r>
            <a:endParaRPr sz="1995"/>
          </a:p>
          <a:p>
            <a:pPr indent="-355283" lvl="0" marL="457200" rtl="0" algn="l">
              <a:lnSpc>
                <a:spcPct val="95000"/>
              </a:lnSpc>
              <a:spcBef>
                <a:spcPts val="0"/>
              </a:spcBef>
              <a:spcAft>
                <a:spcPts val="0"/>
              </a:spcAft>
              <a:buSzPts val="1995"/>
              <a:buChar char="●"/>
            </a:pPr>
            <a:r>
              <a:rPr lang="en" sz="1995"/>
              <a:t>Each option is created using the option tag. You add a name to the select, and a value to each </a:t>
            </a:r>
            <a:r>
              <a:rPr b="1" i="1" lang="en" sz="1995"/>
              <a:t>option</a:t>
            </a:r>
            <a:endParaRPr b="1" i="1" sz="1995"/>
          </a:p>
          <a:p>
            <a:pPr indent="0" lvl="0" marL="457200" rtl="0" algn="l">
              <a:lnSpc>
                <a:spcPct val="95000"/>
              </a:lnSpc>
              <a:spcBef>
                <a:spcPts val="1200"/>
              </a:spcBef>
              <a:spcAft>
                <a:spcPts val="0"/>
              </a:spcAft>
              <a:buNone/>
            </a:pPr>
            <a:r>
              <a:rPr i="1" lang="en" sz="1395"/>
              <a:t>&lt;select name=”color”&gt;</a:t>
            </a:r>
            <a:endParaRPr i="1" sz="1395"/>
          </a:p>
          <a:p>
            <a:pPr indent="0" lvl="0" marL="457200" rtl="0" algn="l">
              <a:lnSpc>
                <a:spcPct val="95000"/>
              </a:lnSpc>
              <a:spcBef>
                <a:spcPts val="1200"/>
              </a:spcBef>
              <a:spcAft>
                <a:spcPts val="0"/>
              </a:spcAft>
              <a:buNone/>
            </a:pPr>
            <a:r>
              <a:rPr i="1" lang="en" sz="1395"/>
              <a:t>	&lt;option value=”red”&gt;Red&lt;/option&gt;</a:t>
            </a:r>
            <a:endParaRPr i="1" sz="1395"/>
          </a:p>
          <a:p>
            <a:pPr indent="0" lvl="0" marL="457200" rtl="0" algn="l">
              <a:lnSpc>
                <a:spcPct val="95000"/>
              </a:lnSpc>
              <a:spcBef>
                <a:spcPts val="1200"/>
              </a:spcBef>
              <a:spcAft>
                <a:spcPts val="0"/>
              </a:spcAft>
              <a:buNone/>
            </a:pPr>
            <a:r>
              <a:rPr i="1" lang="en" sz="1395"/>
              <a:t>	&lt;option value=”blue”&gt;Blue&lt;/option&gt;</a:t>
            </a:r>
            <a:endParaRPr i="1" sz="1395"/>
          </a:p>
          <a:p>
            <a:pPr indent="0" lvl="0" marL="457200" rtl="0" algn="l">
              <a:lnSpc>
                <a:spcPct val="95000"/>
              </a:lnSpc>
              <a:spcBef>
                <a:spcPts val="1200"/>
              </a:spcBef>
              <a:spcAft>
                <a:spcPts val="1200"/>
              </a:spcAft>
              <a:buNone/>
            </a:pPr>
            <a:r>
              <a:rPr i="1" lang="en" sz="1395"/>
              <a:t>&lt;/select&gt;</a:t>
            </a:r>
            <a:endParaRPr i="1" sz="1395"/>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HTML Tags (cont’d)</a:t>
            </a:r>
            <a:endParaRPr/>
          </a:p>
        </p:txBody>
      </p:sp>
      <p:sp>
        <p:nvSpPr>
          <p:cNvPr id="267" name="Google Shape;267;p3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sz="1600"/>
              <a:t>Tables</a:t>
            </a:r>
            <a:r>
              <a:rPr lang="en" sz="1600"/>
              <a:t> </a:t>
            </a:r>
            <a:r>
              <a:rPr lang="en" sz="1600"/>
              <a:t>a structured set of data made up of rows and columns (tabular data).</a:t>
            </a:r>
            <a:endParaRPr sz="1600"/>
          </a:p>
          <a:p>
            <a:pPr indent="0" lvl="0" marL="0" rtl="0" algn="l">
              <a:spcBef>
                <a:spcPts val="0"/>
              </a:spcBef>
              <a:spcAft>
                <a:spcPts val="0"/>
              </a:spcAft>
              <a:buNone/>
            </a:pPr>
            <a:r>
              <a:rPr b="1" lang="en" sz="1600"/>
              <a:t>&lt;tr&gt;</a:t>
            </a:r>
            <a:r>
              <a:rPr lang="en" sz="1600"/>
              <a:t> is a row, </a:t>
            </a:r>
            <a:r>
              <a:rPr b="1" lang="en" sz="1600"/>
              <a:t>&lt;th&gt;</a:t>
            </a:r>
            <a:r>
              <a:rPr lang="en" sz="1600"/>
              <a:t> is a column header, </a:t>
            </a:r>
            <a:r>
              <a:rPr b="1" lang="en" sz="1600"/>
              <a:t>&lt;td&gt;</a:t>
            </a:r>
            <a:r>
              <a:rPr lang="en" sz="1600"/>
              <a:t> is a table content</a:t>
            </a:r>
            <a:endParaRPr sz="1600"/>
          </a:p>
          <a:p>
            <a:pPr indent="0" lvl="0" marL="0" rtl="0" algn="l">
              <a:spcBef>
                <a:spcPts val="0"/>
              </a:spcBef>
              <a:spcAft>
                <a:spcPts val="0"/>
              </a:spcAft>
              <a:buNone/>
            </a:pPr>
            <a:r>
              <a:rPr lang="en" sz="1600"/>
              <a:t>&lt;table&gt;</a:t>
            </a:r>
            <a:endParaRPr sz="1600"/>
          </a:p>
          <a:p>
            <a:pPr indent="0" lvl="0" marL="0" rtl="0" algn="l">
              <a:spcBef>
                <a:spcPts val="0"/>
              </a:spcBef>
              <a:spcAft>
                <a:spcPts val="0"/>
              </a:spcAft>
              <a:buNone/>
            </a:pPr>
            <a:r>
              <a:rPr lang="en" sz="1600"/>
              <a:t>	&lt;tr&gt;</a:t>
            </a:r>
            <a:endParaRPr sz="1600"/>
          </a:p>
          <a:p>
            <a:pPr indent="0" lvl="0" marL="0" rtl="0" algn="l">
              <a:spcBef>
                <a:spcPts val="0"/>
              </a:spcBef>
              <a:spcAft>
                <a:spcPts val="0"/>
              </a:spcAft>
              <a:buNone/>
            </a:pPr>
            <a:r>
              <a:rPr lang="en" sz="1600"/>
              <a:t>		&lt;th&gt;Column&lt;/th&gt;</a:t>
            </a:r>
            <a:endParaRPr sz="1600"/>
          </a:p>
          <a:p>
            <a:pPr indent="0" lvl="0" marL="0" rtl="0" algn="l">
              <a:spcBef>
                <a:spcPts val="0"/>
              </a:spcBef>
              <a:spcAft>
                <a:spcPts val="0"/>
              </a:spcAft>
              <a:buNone/>
            </a:pPr>
            <a:r>
              <a:rPr lang="en" sz="1600"/>
              <a:t>	&lt;/tr&gt;</a:t>
            </a:r>
            <a:endParaRPr sz="1600"/>
          </a:p>
          <a:p>
            <a:pPr indent="0" lvl="0" marL="0" rtl="0" algn="l">
              <a:spcBef>
                <a:spcPts val="0"/>
              </a:spcBef>
              <a:spcAft>
                <a:spcPts val="0"/>
              </a:spcAft>
              <a:buNone/>
            </a:pPr>
            <a:r>
              <a:rPr lang="en" sz="1600"/>
              <a:t>	&lt;tr&gt;</a:t>
            </a:r>
            <a:endParaRPr sz="1600"/>
          </a:p>
          <a:p>
            <a:pPr indent="0" lvl="0" marL="0" rtl="0" algn="l">
              <a:spcBef>
                <a:spcPts val="0"/>
              </a:spcBef>
              <a:spcAft>
                <a:spcPts val="0"/>
              </a:spcAft>
              <a:buNone/>
            </a:pPr>
            <a:r>
              <a:rPr lang="en" sz="1600"/>
              <a:t>		&lt;td&gt;Row 1&lt;/td&gt;</a:t>
            </a:r>
            <a:endParaRPr sz="1600"/>
          </a:p>
          <a:p>
            <a:pPr indent="0" lvl="0" marL="0" rtl="0" algn="l">
              <a:spcBef>
                <a:spcPts val="0"/>
              </a:spcBef>
              <a:spcAft>
                <a:spcPts val="0"/>
              </a:spcAft>
              <a:buNone/>
            </a:pPr>
            <a:r>
              <a:rPr lang="en" sz="1600"/>
              <a:t>	&lt;/tr&gt;</a:t>
            </a:r>
            <a:endParaRPr sz="1600"/>
          </a:p>
          <a:p>
            <a:pPr indent="0" lvl="0" marL="0" rtl="0" algn="l">
              <a:spcBef>
                <a:spcPts val="0"/>
              </a:spcBef>
              <a:spcAft>
                <a:spcPts val="0"/>
              </a:spcAft>
              <a:buNone/>
            </a:pPr>
            <a:r>
              <a:rPr lang="en" sz="1600"/>
              <a:t>&lt;/table&gt;</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Media (Image, Audio, and Video)</a:t>
            </a:r>
            <a:endParaRPr/>
          </a:p>
        </p:txBody>
      </p:sp>
      <p:sp>
        <p:nvSpPr>
          <p:cNvPr id="273" name="Google Shape;273;p3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b="1" lang="en" sz="1800"/>
              <a:t>Image</a:t>
            </a:r>
            <a:r>
              <a:rPr lang="en" sz="1800"/>
              <a:t> can be displayed using the </a:t>
            </a:r>
            <a:r>
              <a:rPr b="1" i="1" lang="en" sz="1800"/>
              <a:t>img</a:t>
            </a:r>
            <a:r>
              <a:rPr i="1" lang="en" sz="1800"/>
              <a:t> </a:t>
            </a:r>
            <a:r>
              <a:rPr lang="en" sz="1800"/>
              <a:t>tag</a:t>
            </a:r>
            <a:endParaRPr sz="1800"/>
          </a:p>
          <a:p>
            <a:pPr indent="0" lvl="0" marL="0" rtl="0" algn="l">
              <a:spcBef>
                <a:spcPts val="0"/>
              </a:spcBef>
              <a:spcAft>
                <a:spcPts val="0"/>
              </a:spcAft>
              <a:buNone/>
            </a:pPr>
            <a:r>
              <a:rPr lang="en" sz="1800"/>
              <a:t>	</a:t>
            </a:r>
            <a:r>
              <a:rPr i="1" lang="en" sz="1800"/>
              <a:t>&lt;img src=”image.png” /&gt;</a:t>
            </a:r>
            <a:endParaRPr i="1" sz="1800"/>
          </a:p>
          <a:p>
            <a:pPr indent="-342900" lvl="0" marL="457200" rtl="0" algn="l">
              <a:spcBef>
                <a:spcPts val="0"/>
              </a:spcBef>
              <a:spcAft>
                <a:spcPts val="0"/>
              </a:spcAft>
              <a:buSzPts val="1800"/>
              <a:buChar char="●"/>
            </a:pPr>
            <a:r>
              <a:rPr b="1" lang="en" sz="1800"/>
              <a:t>Audio </a:t>
            </a:r>
            <a:r>
              <a:rPr lang="en" sz="1800"/>
              <a:t>allows you to embed audio content in your HTML pages</a:t>
            </a:r>
            <a:endParaRPr sz="1800"/>
          </a:p>
          <a:p>
            <a:pPr indent="0" lvl="0" marL="457200" rtl="0" algn="l">
              <a:spcBef>
                <a:spcPts val="0"/>
              </a:spcBef>
              <a:spcAft>
                <a:spcPts val="0"/>
              </a:spcAft>
              <a:buNone/>
            </a:pPr>
            <a:r>
              <a:rPr i="1" lang="en" sz="1800"/>
              <a:t>&lt;audio controls&gt;&lt;source src="dancing_queen.mp3" type="audio/mpeg"&gt; &lt;/audio&gt;</a:t>
            </a:r>
            <a:endParaRPr i="1" sz="1800"/>
          </a:p>
          <a:p>
            <a:pPr indent="-342900" lvl="0" marL="457200" rtl="0" algn="l">
              <a:spcBef>
                <a:spcPts val="0"/>
              </a:spcBef>
              <a:spcAft>
                <a:spcPts val="0"/>
              </a:spcAft>
              <a:buSzPts val="1800"/>
              <a:buChar char="●"/>
            </a:pPr>
            <a:r>
              <a:rPr b="1" lang="en" sz="1800"/>
              <a:t>Video </a:t>
            </a:r>
            <a:r>
              <a:rPr lang="en" sz="1800"/>
              <a:t>this tag allows you to embed video content in your HTML pages</a:t>
            </a:r>
            <a:endParaRPr sz="1800"/>
          </a:p>
          <a:p>
            <a:pPr indent="0" lvl="0" marL="457200" rtl="0" algn="l">
              <a:spcBef>
                <a:spcPts val="0"/>
              </a:spcBef>
              <a:spcAft>
                <a:spcPts val="0"/>
              </a:spcAft>
              <a:buNone/>
            </a:pPr>
            <a:r>
              <a:rPr i="1" lang="en" sz="1800"/>
              <a:t>&lt;video </a:t>
            </a:r>
            <a:r>
              <a:rPr i="1" lang="en" sz="1800"/>
              <a:t>width="320" height="240" controls</a:t>
            </a:r>
            <a:r>
              <a:rPr i="1" lang="en" sz="1800"/>
              <a:t>&gt; &lt;source src="movie.mp4" type="video/mp4"&gt;&lt;/video&gt;</a:t>
            </a:r>
            <a:endParaRPr i="1" sz="1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