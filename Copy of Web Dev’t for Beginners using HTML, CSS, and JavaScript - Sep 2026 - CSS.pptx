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Nuni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bold.fntdata"/><Relationship Id="rId30" Type="http://schemas.openxmlformats.org/officeDocument/2006/relationships/font" Target="fonts/Nunito-regular.fntdata"/><Relationship Id="rId11" Type="http://schemas.openxmlformats.org/officeDocument/2006/relationships/slide" Target="slides/slide6.xml"/><Relationship Id="rId33" Type="http://schemas.openxmlformats.org/officeDocument/2006/relationships/font" Target="fonts/Nunito-boldItalic.fntdata"/><Relationship Id="rId10" Type="http://schemas.openxmlformats.org/officeDocument/2006/relationships/slide" Target="slides/slide5.xml"/><Relationship Id="rId32" Type="http://schemas.openxmlformats.org/officeDocument/2006/relationships/font" Target="fonts/Nunito-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40a05e8e414_1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40a05e8e414_1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40a05e8e414_1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40a05e8e414_1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40a05e8e414_1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40a05e8e414_1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40a05e8e414_1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40a05e8e414_1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40a05e8e414_1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40a05e8e414_1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40a05e8e414_1_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40a05e8e414_1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40a05e8e414_1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40a05e8e414_1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40a05e8e414_1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40a05e8e414_1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40a05e8e414_1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40a05e8e414_1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40a05e8e414_1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40a05e8e414_1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40a05e8e414_1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40a05e8e414_1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40a05e8e414_1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40a05e8e414_1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40a05e8e414_1_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40a05e8e414_1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40a05e8e414_1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40a05e8e414_1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40a05e8e414_1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40a05e8e414_1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40a05e8e414_1_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40a05e8e414_1_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40a05e8e414_1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40a05e8e414_1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40a05e8e414_1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40a05e8e414_1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40a05e8e414_1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40a05e8e414_1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40a05e8e414_1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40a05e8e414_1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40a05e8e414_1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40a05e8e414_1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40a05e8e414_1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40a05e8e414_1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40a05e8e414_1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40a05e8e414_1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40a05e8e414_1_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40a05e8e414_1_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 to CSS</a:t>
            </a:r>
            <a:endParaRPr/>
          </a:p>
        </p:txBody>
      </p:sp>
      <p:sp>
        <p:nvSpPr>
          <p:cNvPr id="129" name="Google Shape;129;p13"/>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What is CSS</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History of CSS</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CSS building blocks</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CSS Styling</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CSS Layout</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Responsive Web Design principles</a:t>
            </a:r>
            <a:endParaRPr sz="140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CSS?</a:t>
            </a:r>
            <a:endParaRPr/>
          </a:p>
        </p:txBody>
      </p:sp>
      <p:sp>
        <p:nvSpPr>
          <p:cNvPr id="135" name="Google Shape;135;p1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t>CSS, a shorthand for Cascading Style Sheets, is one of the main building blocks of the Web</a:t>
            </a:r>
            <a:endParaRPr sz="1500"/>
          </a:p>
          <a:p>
            <a:pPr indent="-323850" lvl="0" marL="457200" rtl="0" algn="l">
              <a:spcBef>
                <a:spcPts val="0"/>
              </a:spcBef>
              <a:spcAft>
                <a:spcPts val="0"/>
              </a:spcAft>
              <a:buSzPts val="1500"/>
              <a:buChar char="●"/>
            </a:pPr>
            <a:r>
              <a:rPr lang="en" sz="1500"/>
              <a:t>the language that we use to style an HTML file, and tell the browser how should it render the elements on the page</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History of CSS</a:t>
            </a:r>
            <a:endParaRPr/>
          </a:p>
        </p:txBody>
      </p:sp>
      <p:sp>
        <p:nvSpPr>
          <p:cNvPr id="141" name="Google Shape;141;p1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sz="1400"/>
              <a:t>1996 - CSS 1</a:t>
            </a:r>
            <a:r>
              <a:rPr lang="en" sz="1400"/>
              <a:t> It was launched in 1996 with the capabilities of font properties. It is also used for adding color to the background and text side. In CSS 1, there were text alignment functionalities. It also has capabilities of padding, positioning, and generic classifications.</a:t>
            </a:r>
            <a:endParaRPr sz="1400"/>
          </a:p>
          <a:p>
            <a:pPr indent="0" lvl="0" marL="0" rtl="0" algn="l">
              <a:spcBef>
                <a:spcPts val="1200"/>
              </a:spcBef>
              <a:spcAft>
                <a:spcPts val="0"/>
              </a:spcAft>
              <a:buNone/>
            </a:pPr>
            <a:r>
              <a:rPr b="1" lang="en" sz="1400"/>
              <a:t>1998 - CSS 2</a:t>
            </a:r>
            <a:r>
              <a:rPr lang="en" sz="1400"/>
              <a:t> It has more features and functionalities than the previous version. And now users could use new features like relative, absolute, and also fixed positioning. There were media types, and bidirectional text features were also there. This version also saw many revisions in the same, and updates came as CSS2.1.</a:t>
            </a:r>
            <a:endParaRPr sz="1400"/>
          </a:p>
          <a:p>
            <a:pPr indent="0" lvl="0" marL="0" rtl="0" algn="l">
              <a:spcBef>
                <a:spcPts val="1200"/>
              </a:spcBef>
              <a:spcAft>
                <a:spcPts val="0"/>
              </a:spcAft>
              <a:buNone/>
            </a:pPr>
            <a:r>
              <a:rPr b="1" lang="en" sz="1400"/>
              <a:t>1999 - CSS 3</a:t>
            </a:r>
            <a:r>
              <a:rPr lang="en" sz="1400"/>
              <a:t> The latest version of CSS officially by W3C, and it was launched in 1999. It has a vast collection of font types, and you can use any font type from Google and Typecast.</a:t>
            </a:r>
            <a:endParaRPr sz="1400"/>
          </a:p>
          <a:p>
            <a:pPr indent="0" lvl="0" marL="0" rtl="0" algn="l">
              <a:spcBef>
                <a:spcPts val="1200"/>
              </a:spcBef>
              <a:spcAft>
                <a:spcPts val="1200"/>
              </a:spcAft>
              <a:buNone/>
            </a:pPr>
            <a:r>
              <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CSS Building blocks</a:t>
            </a:r>
            <a:endParaRPr/>
          </a:p>
        </p:txBody>
      </p:sp>
      <p:sp>
        <p:nvSpPr>
          <p:cNvPr id="147" name="Google Shape;147;p1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t>A CSS </a:t>
            </a:r>
            <a:r>
              <a:rPr b="1" lang="en" sz="1600"/>
              <a:t>rule set</a:t>
            </a:r>
            <a:r>
              <a:rPr lang="en" sz="1600"/>
              <a:t> has one part called </a:t>
            </a:r>
            <a:r>
              <a:rPr b="1" lang="en" sz="1600"/>
              <a:t>selector</a:t>
            </a:r>
            <a:r>
              <a:rPr lang="en" sz="1600"/>
              <a:t>, and the other part called </a:t>
            </a:r>
            <a:r>
              <a:rPr b="1" lang="en" sz="1600"/>
              <a:t>declaration</a:t>
            </a:r>
            <a:r>
              <a:rPr lang="en" sz="1600"/>
              <a:t>. The declaration contains various </a:t>
            </a:r>
            <a:r>
              <a:rPr b="1" lang="en" sz="1600"/>
              <a:t>rules</a:t>
            </a:r>
            <a:r>
              <a:rPr lang="en" sz="1600"/>
              <a:t>, each composed by a </a:t>
            </a:r>
            <a:r>
              <a:rPr b="1" lang="en" sz="1600"/>
              <a:t>property</a:t>
            </a:r>
            <a:r>
              <a:rPr lang="en" sz="1600"/>
              <a:t>, and a </a:t>
            </a:r>
            <a:r>
              <a:rPr b="1" lang="en" sz="1600"/>
              <a:t>value</a:t>
            </a:r>
            <a:r>
              <a:rPr lang="en" sz="1600"/>
              <a:t>.</a:t>
            </a:r>
            <a:endParaRPr sz="1600"/>
          </a:p>
          <a:p>
            <a:pPr indent="0" lvl="0" marL="0" rtl="0" algn="l">
              <a:spcBef>
                <a:spcPts val="1200"/>
              </a:spcBef>
              <a:spcAft>
                <a:spcPts val="0"/>
              </a:spcAft>
              <a:buNone/>
            </a:pPr>
            <a:r>
              <a:rPr b="1" i="1" lang="en" sz="1600"/>
              <a:t>&lt;selector&gt; {</a:t>
            </a:r>
            <a:endParaRPr b="1" i="1" sz="1600"/>
          </a:p>
          <a:p>
            <a:pPr indent="0" lvl="0" marL="0" rtl="0" algn="l">
              <a:spcBef>
                <a:spcPts val="1200"/>
              </a:spcBef>
              <a:spcAft>
                <a:spcPts val="0"/>
              </a:spcAft>
              <a:buNone/>
            </a:pPr>
            <a:r>
              <a:rPr b="1" i="1" lang="en" sz="1600"/>
              <a:t>property: value1;</a:t>
            </a:r>
            <a:endParaRPr b="1" i="1" sz="1600"/>
          </a:p>
          <a:p>
            <a:pPr indent="0" lvl="0" marL="0" rtl="0" algn="l">
              <a:spcBef>
                <a:spcPts val="1200"/>
              </a:spcBef>
              <a:spcAft>
                <a:spcPts val="0"/>
              </a:spcAft>
              <a:buNone/>
            </a:pPr>
            <a:r>
              <a:rPr b="1" i="1" lang="en" sz="1600"/>
              <a:t>property: value2;</a:t>
            </a:r>
            <a:endParaRPr b="1" i="1" sz="1600"/>
          </a:p>
          <a:p>
            <a:pPr indent="0" lvl="0" marL="0" rtl="0" algn="l">
              <a:spcBef>
                <a:spcPts val="1200"/>
              </a:spcBef>
              <a:spcAft>
                <a:spcPts val="1200"/>
              </a:spcAft>
              <a:buNone/>
            </a:pPr>
            <a:r>
              <a:rPr b="1" i="1" lang="en" sz="1600"/>
              <a:t>}</a:t>
            </a:r>
            <a:endParaRPr b="1" i="1"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CSS Styling</a:t>
            </a:r>
            <a:endParaRPr/>
          </a:p>
        </p:txBody>
      </p:sp>
      <p:sp>
        <p:nvSpPr>
          <p:cNvPr id="153" name="Google Shape;153;p1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t>To apply styles on the html tags/elements, we can do the following approaches:</a:t>
            </a:r>
            <a:endParaRPr sz="1500"/>
          </a:p>
          <a:p>
            <a:pPr indent="-330200" lvl="0" marL="457200" rtl="0" algn="l">
              <a:spcBef>
                <a:spcPts val="1200"/>
              </a:spcBef>
              <a:spcAft>
                <a:spcPts val="0"/>
              </a:spcAft>
              <a:buSzPts val="1600"/>
              <a:buChar char="●"/>
            </a:pPr>
            <a:r>
              <a:rPr b="1" lang="en" sz="1600"/>
              <a:t>Inline styling</a:t>
            </a:r>
            <a:r>
              <a:rPr lang="en" sz="1600"/>
              <a:t> By adding a </a:t>
            </a:r>
            <a:r>
              <a:rPr b="1" i="1" lang="en" sz="1600"/>
              <a:t>style</a:t>
            </a:r>
            <a:r>
              <a:rPr lang="en" sz="1600"/>
              <a:t> attribute in the html tags/elements</a:t>
            </a:r>
            <a:endParaRPr sz="1600"/>
          </a:p>
          <a:p>
            <a:pPr indent="-330200" lvl="0" marL="457200" rtl="0" algn="l">
              <a:spcBef>
                <a:spcPts val="0"/>
              </a:spcBef>
              <a:spcAft>
                <a:spcPts val="0"/>
              </a:spcAft>
              <a:buSzPts val="1600"/>
              <a:buChar char="●"/>
            </a:pPr>
            <a:r>
              <a:rPr b="1" lang="en" sz="1600"/>
              <a:t>Internal styling</a:t>
            </a:r>
            <a:r>
              <a:rPr lang="en" sz="1600"/>
              <a:t> By declaring a </a:t>
            </a:r>
            <a:r>
              <a:rPr b="1" i="1" lang="en" sz="1600"/>
              <a:t>&lt;style&gt;..&lt;/style&gt;</a:t>
            </a:r>
            <a:r>
              <a:rPr lang="en" sz="1600"/>
              <a:t> element inside the &lt;head&gt; .. &lt;/head&gt; element</a:t>
            </a:r>
            <a:endParaRPr sz="1600"/>
          </a:p>
          <a:p>
            <a:pPr indent="-330200" lvl="0" marL="457200" rtl="0" algn="l">
              <a:spcBef>
                <a:spcPts val="0"/>
              </a:spcBef>
              <a:spcAft>
                <a:spcPts val="0"/>
              </a:spcAft>
              <a:buSzPts val="1600"/>
              <a:buChar char="●"/>
            </a:pPr>
            <a:r>
              <a:rPr b="1" lang="en" sz="1600"/>
              <a:t>External styling</a:t>
            </a:r>
            <a:r>
              <a:rPr lang="en" sz="1600"/>
              <a:t> by declaring a </a:t>
            </a:r>
            <a:r>
              <a:rPr b="1" i="1" lang="en" sz="1600"/>
              <a:t>&lt;link rel=”stylesheet” href=”style.css”/&gt;</a:t>
            </a:r>
            <a:r>
              <a:rPr lang="en" sz="1600"/>
              <a:t> in the &lt;head&gt; .. &lt;/head&gt;</a:t>
            </a:r>
            <a:endParaRPr sz="1600"/>
          </a:p>
          <a:p>
            <a:pPr indent="0" lvl="0" marL="0" rtl="0" algn="l">
              <a:spcBef>
                <a:spcPts val="0"/>
              </a:spcBef>
              <a:spcAft>
                <a:spcPts val="1200"/>
              </a:spcAft>
              <a:buNone/>
            </a:pPr>
            <a:r>
              <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CSS Styling (cont’d)</a:t>
            </a:r>
            <a:endParaRPr/>
          </a:p>
        </p:txBody>
      </p:sp>
      <p:sp>
        <p:nvSpPr>
          <p:cNvPr id="159" name="Google Shape;159;p1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100"/>
              <a:t>Fonts/Text</a:t>
            </a:r>
            <a:endParaRPr b="1" sz="2100"/>
          </a:p>
          <a:p>
            <a:pPr indent="-323850" lvl="0" marL="457200" rtl="0" algn="l">
              <a:spcBef>
                <a:spcPts val="1200"/>
              </a:spcBef>
              <a:spcAft>
                <a:spcPts val="0"/>
              </a:spcAft>
              <a:buSzPts val="1500"/>
              <a:buChar char="●"/>
            </a:pPr>
            <a:r>
              <a:rPr b="1" lang="en" sz="1500"/>
              <a:t>font-size: </a:t>
            </a:r>
            <a:r>
              <a:rPr lang="en" sz="1500"/>
              <a:t>18px;</a:t>
            </a:r>
            <a:endParaRPr sz="1500"/>
          </a:p>
          <a:p>
            <a:pPr indent="-323850" lvl="0" marL="457200" rtl="0" algn="l">
              <a:spcBef>
                <a:spcPts val="0"/>
              </a:spcBef>
              <a:spcAft>
                <a:spcPts val="0"/>
              </a:spcAft>
              <a:buSzPts val="1500"/>
              <a:buChar char="●"/>
            </a:pPr>
            <a:r>
              <a:rPr b="1" lang="en" sz="1500"/>
              <a:t>font-family: </a:t>
            </a:r>
            <a:r>
              <a:rPr lang="en" sz="1500"/>
              <a:t>‘Arial’, ‘georgia’, ‘Helvetica’, ‘Tahoma’, ‘Times New Roman’, ‘Trebuchet MS’;</a:t>
            </a:r>
            <a:endParaRPr sz="1500"/>
          </a:p>
          <a:p>
            <a:pPr indent="-323850" lvl="0" marL="457200" rtl="0" algn="l">
              <a:spcBef>
                <a:spcPts val="0"/>
              </a:spcBef>
              <a:spcAft>
                <a:spcPts val="0"/>
              </a:spcAft>
              <a:buSzPts val="1500"/>
              <a:buChar char="●"/>
            </a:pPr>
            <a:r>
              <a:rPr b="1" lang="en" sz="1500"/>
              <a:t>font-weight: </a:t>
            </a:r>
            <a:r>
              <a:rPr lang="en" sz="1500"/>
              <a:t>bold | normal | lighter | bolder;</a:t>
            </a:r>
            <a:endParaRPr sz="1500"/>
          </a:p>
          <a:p>
            <a:pPr indent="-323850" lvl="0" marL="457200" rtl="0" algn="l">
              <a:spcBef>
                <a:spcPts val="0"/>
              </a:spcBef>
              <a:spcAft>
                <a:spcPts val="0"/>
              </a:spcAft>
              <a:buSzPts val="1500"/>
              <a:buChar char="●"/>
            </a:pPr>
            <a:r>
              <a:rPr b="1" lang="en" sz="1500"/>
              <a:t>text-align: </a:t>
            </a:r>
            <a:r>
              <a:rPr lang="en" sz="1500"/>
              <a:t>left | right | justify | center;</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CSS Styling (cont’d)</a:t>
            </a:r>
            <a:endParaRPr/>
          </a:p>
        </p:txBody>
      </p:sp>
      <p:sp>
        <p:nvSpPr>
          <p:cNvPr id="165" name="Google Shape;165;p1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100"/>
              <a:t>Colors/Background</a:t>
            </a:r>
            <a:endParaRPr b="1" sz="2100"/>
          </a:p>
          <a:p>
            <a:pPr indent="-323850" lvl="0" marL="457200" rtl="0" algn="l">
              <a:spcBef>
                <a:spcPts val="1200"/>
              </a:spcBef>
              <a:spcAft>
                <a:spcPts val="0"/>
              </a:spcAft>
              <a:buSzPts val="1500"/>
              <a:buChar char="●"/>
            </a:pPr>
            <a:r>
              <a:rPr b="1" lang="en" sz="1500"/>
              <a:t>background-color: </a:t>
            </a:r>
            <a:r>
              <a:rPr lang="en" sz="1500"/>
              <a:t>red | #00adef | rgb(255,0,233);</a:t>
            </a:r>
            <a:endParaRPr sz="1500"/>
          </a:p>
          <a:p>
            <a:pPr indent="-323850" lvl="0" marL="457200" rtl="0" algn="l">
              <a:spcBef>
                <a:spcPts val="0"/>
              </a:spcBef>
              <a:spcAft>
                <a:spcPts val="0"/>
              </a:spcAft>
              <a:buSzPts val="1500"/>
              <a:buChar char="●"/>
            </a:pPr>
            <a:r>
              <a:rPr b="1" lang="en" sz="1500"/>
              <a:t>color: </a:t>
            </a:r>
            <a:r>
              <a:rPr lang="en" sz="1500"/>
              <a:t>blue | #0023ed | rgb(54,233,200);</a:t>
            </a:r>
            <a:endParaRPr sz="1500"/>
          </a:p>
          <a:p>
            <a:pPr indent="-323850" lvl="0" marL="457200" rtl="0" algn="l">
              <a:spcBef>
                <a:spcPts val="0"/>
              </a:spcBef>
              <a:spcAft>
                <a:spcPts val="0"/>
              </a:spcAft>
              <a:buSzPts val="1500"/>
              <a:buChar char="●"/>
            </a:pPr>
            <a:r>
              <a:rPr b="1" lang="en" sz="1500"/>
              <a:t>background-image: </a:t>
            </a:r>
            <a:r>
              <a:rPr lang="en" sz="1500"/>
              <a:t>url(&lt;file path&gt;);</a:t>
            </a:r>
            <a:endParaRPr sz="1500"/>
          </a:p>
          <a:p>
            <a:pPr indent="-323850" lvl="0" marL="457200" rtl="0" algn="l">
              <a:spcBef>
                <a:spcPts val="0"/>
              </a:spcBef>
              <a:spcAft>
                <a:spcPts val="0"/>
              </a:spcAft>
              <a:buSzPts val="1500"/>
              <a:buChar char="●"/>
            </a:pPr>
            <a:r>
              <a:rPr b="1" lang="en" sz="1500"/>
              <a:t>opacity: </a:t>
            </a:r>
            <a:r>
              <a:rPr lang="en" sz="1500"/>
              <a:t>0.5;</a:t>
            </a:r>
            <a:endParaRPr sz="1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CSS Styling (cont’d)</a:t>
            </a:r>
            <a:endParaRPr/>
          </a:p>
        </p:txBody>
      </p:sp>
      <p:sp>
        <p:nvSpPr>
          <p:cNvPr id="171" name="Google Shape;171;p2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300"/>
              <a:t>Display</a:t>
            </a:r>
            <a:endParaRPr b="1" sz="2300"/>
          </a:p>
          <a:p>
            <a:pPr indent="-336550" lvl="0" marL="457200" rtl="0" algn="l">
              <a:spcBef>
                <a:spcPts val="1200"/>
              </a:spcBef>
              <a:spcAft>
                <a:spcPts val="0"/>
              </a:spcAft>
              <a:buSzPts val="1700"/>
              <a:buChar char="●"/>
            </a:pPr>
            <a:r>
              <a:rPr b="1" lang="en" sz="1700"/>
              <a:t>display: </a:t>
            </a:r>
            <a:r>
              <a:rPr lang="en" sz="1700"/>
              <a:t>block | inline-block | none | inline-block;</a:t>
            </a:r>
            <a:endParaRPr sz="1700"/>
          </a:p>
          <a:p>
            <a:pPr indent="-336550" lvl="0" marL="457200" rtl="0" algn="l">
              <a:spcBef>
                <a:spcPts val="0"/>
              </a:spcBef>
              <a:spcAft>
                <a:spcPts val="0"/>
              </a:spcAft>
              <a:buSzPts val="1700"/>
              <a:buChar char="●"/>
            </a:pPr>
            <a:r>
              <a:rPr b="1" lang="en" sz="1700"/>
              <a:t>visibility: </a:t>
            </a:r>
            <a:r>
              <a:rPr lang="en" sz="1700"/>
              <a:t>hidden | visible;</a:t>
            </a:r>
            <a:endParaRPr sz="1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CSS Styling (cont’d)</a:t>
            </a:r>
            <a:endParaRPr/>
          </a:p>
        </p:txBody>
      </p:sp>
      <p:sp>
        <p:nvSpPr>
          <p:cNvPr id="177" name="Google Shape;177;p21"/>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300"/>
              <a:t>Size (height/width/max-width or height/min-width or height)</a:t>
            </a:r>
            <a:endParaRPr b="1" sz="2300"/>
          </a:p>
          <a:p>
            <a:pPr indent="-336550" lvl="0" marL="457200" rtl="0" algn="l">
              <a:spcBef>
                <a:spcPts val="1200"/>
              </a:spcBef>
              <a:spcAft>
                <a:spcPts val="0"/>
              </a:spcAft>
              <a:buSzPts val="1700"/>
              <a:buChar char="●"/>
            </a:pPr>
            <a:r>
              <a:rPr b="1" lang="en" sz="1700"/>
              <a:t>height: </a:t>
            </a:r>
            <a:r>
              <a:rPr lang="en" sz="1700"/>
              <a:t>10px | 10% | auto;</a:t>
            </a:r>
            <a:endParaRPr sz="1700"/>
          </a:p>
          <a:p>
            <a:pPr indent="-336550" lvl="0" marL="457200" rtl="0" algn="l">
              <a:spcBef>
                <a:spcPts val="0"/>
              </a:spcBef>
              <a:spcAft>
                <a:spcPts val="0"/>
              </a:spcAft>
              <a:buSzPts val="1700"/>
              <a:buChar char="●"/>
            </a:pPr>
            <a:r>
              <a:rPr b="1" lang="en" sz="1700"/>
              <a:t>width: </a:t>
            </a:r>
            <a:r>
              <a:rPr lang="en" sz="1700"/>
              <a:t>10px | 10% | auto;</a:t>
            </a:r>
            <a:endParaRPr sz="1700"/>
          </a:p>
          <a:p>
            <a:pPr indent="-336550" lvl="0" marL="457200" rtl="0" algn="l">
              <a:spcBef>
                <a:spcPts val="0"/>
              </a:spcBef>
              <a:spcAft>
                <a:spcPts val="0"/>
              </a:spcAft>
              <a:buSzPts val="1700"/>
              <a:buChar char="●"/>
            </a:pPr>
            <a:r>
              <a:rPr b="1" lang="en" sz="1700"/>
              <a:t>max/min-width: </a:t>
            </a:r>
            <a:r>
              <a:rPr lang="en" sz="1700"/>
              <a:t>10px | 10% | auto;</a:t>
            </a:r>
            <a:endParaRPr sz="1700"/>
          </a:p>
          <a:p>
            <a:pPr indent="-336550" lvl="0" marL="457200" rtl="0" algn="l">
              <a:spcBef>
                <a:spcPts val="0"/>
              </a:spcBef>
              <a:spcAft>
                <a:spcPts val="0"/>
              </a:spcAft>
              <a:buSzPts val="1700"/>
              <a:buChar char="●"/>
            </a:pPr>
            <a:r>
              <a:rPr b="1" lang="en" sz="1700"/>
              <a:t>max/min-height: </a:t>
            </a:r>
            <a:r>
              <a:rPr lang="en" sz="1700"/>
              <a:t>10px | 10% | auto;</a:t>
            </a:r>
            <a:endParaRPr sz="1700"/>
          </a:p>
          <a:p>
            <a:pPr indent="0" lvl="0" marL="0" rtl="0" algn="l">
              <a:spcBef>
                <a:spcPts val="1200"/>
              </a:spcBef>
              <a:spcAft>
                <a:spcPts val="1200"/>
              </a:spcAft>
              <a:buNone/>
            </a:pPr>
            <a:r>
              <a:t/>
            </a:r>
            <a:endParaRPr sz="15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CSS Styling (cont’d)</a:t>
            </a:r>
            <a:endParaRPr/>
          </a:p>
        </p:txBody>
      </p:sp>
      <p:sp>
        <p:nvSpPr>
          <p:cNvPr id="183" name="Google Shape;183;p2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300"/>
              <a:t>Links (a:link | visited | hover | active)</a:t>
            </a:r>
            <a:endParaRPr b="1" sz="2300"/>
          </a:p>
          <a:p>
            <a:pPr indent="-336550" lvl="0" marL="457200" rtl="0" algn="l">
              <a:spcBef>
                <a:spcPts val="1200"/>
              </a:spcBef>
              <a:spcAft>
                <a:spcPts val="0"/>
              </a:spcAft>
              <a:buSzPts val="1700"/>
              <a:buChar char="●"/>
            </a:pPr>
            <a:r>
              <a:rPr b="1" lang="en" sz="1700"/>
              <a:t>color: </a:t>
            </a:r>
            <a:r>
              <a:rPr lang="en" sz="1700"/>
              <a:t>red | #00adef | rgb(255,0,233);</a:t>
            </a:r>
            <a:endParaRPr b="1" sz="1700"/>
          </a:p>
          <a:p>
            <a:pPr indent="-336550" lvl="0" marL="457200" rtl="0" algn="l">
              <a:spcBef>
                <a:spcPts val="0"/>
              </a:spcBef>
              <a:spcAft>
                <a:spcPts val="0"/>
              </a:spcAft>
              <a:buSzPts val="1700"/>
              <a:buChar char="●"/>
            </a:pPr>
            <a:r>
              <a:rPr b="1" lang="en" sz="1700"/>
              <a:t>text-decoration: </a:t>
            </a:r>
            <a:r>
              <a:rPr lang="en" sz="1700"/>
              <a:t>none | underline;</a:t>
            </a:r>
            <a:endParaRPr sz="17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CSS Styling (cont’d)</a:t>
            </a:r>
            <a:endParaRPr/>
          </a:p>
        </p:txBody>
      </p:sp>
      <p:sp>
        <p:nvSpPr>
          <p:cNvPr id="189" name="Google Shape;189;p23"/>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300"/>
              <a:t>Lists (ul/ol)</a:t>
            </a:r>
            <a:endParaRPr b="1" sz="2300"/>
          </a:p>
          <a:p>
            <a:pPr indent="-336550" lvl="0" marL="457200" rtl="0" algn="l">
              <a:spcBef>
                <a:spcPts val="1200"/>
              </a:spcBef>
              <a:spcAft>
                <a:spcPts val="0"/>
              </a:spcAft>
              <a:buSzPts val="1700"/>
              <a:buChar char="●"/>
            </a:pPr>
            <a:r>
              <a:rPr b="1" lang="en" sz="1700"/>
              <a:t>list-style-type: </a:t>
            </a:r>
            <a:r>
              <a:rPr lang="en" sz="1700"/>
              <a:t>circle | square (for ul)/ upper-roman | lower-alpha</a:t>
            </a:r>
            <a:r>
              <a:rPr b="1" lang="en" sz="1700"/>
              <a:t>;</a:t>
            </a:r>
            <a:endParaRPr b="1" sz="1700"/>
          </a:p>
          <a:p>
            <a:pPr indent="-336550" lvl="0" marL="457200" rtl="0" algn="l">
              <a:spcBef>
                <a:spcPts val="0"/>
              </a:spcBef>
              <a:spcAft>
                <a:spcPts val="0"/>
              </a:spcAft>
              <a:buSzPts val="1700"/>
              <a:buChar char="●"/>
            </a:pPr>
            <a:r>
              <a:rPr b="1" lang="en" sz="1700"/>
              <a:t>list-style-image: </a:t>
            </a:r>
            <a:r>
              <a:rPr lang="en" sz="1700"/>
              <a:t>url(‘sample.png’);</a:t>
            </a:r>
            <a:endParaRPr sz="1700"/>
          </a:p>
          <a:p>
            <a:pPr indent="-336550" lvl="0" marL="457200" rtl="0" algn="l">
              <a:spcBef>
                <a:spcPts val="0"/>
              </a:spcBef>
              <a:spcAft>
                <a:spcPts val="0"/>
              </a:spcAft>
              <a:buSzPts val="1700"/>
              <a:buChar char="●"/>
            </a:pPr>
            <a:r>
              <a:rPr b="1" lang="en" sz="1700"/>
              <a:t>list-style-position</a:t>
            </a:r>
            <a:r>
              <a:rPr lang="en" sz="1700"/>
              <a:t>: outside | inside;</a:t>
            </a:r>
            <a:endParaRPr sz="17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CSS Styling (cont’d)</a:t>
            </a:r>
            <a:endParaRPr/>
          </a:p>
        </p:txBody>
      </p:sp>
      <p:sp>
        <p:nvSpPr>
          <p:cNvPr id="195" name="Google Shape;195;p24"/>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b="1" lang="en" sz="2400"/>
              <a:t>Table</a:t>
            </a:r>
            <a:endParaRPr b="1" sz="2400"/>
          </a:p>
          <a:p>
            <a:pPr indent="-342900" lvl="0" marL="457200" rtl="0" algn="l">
              <a:lnSpc>
                <a:spcPct val="95000"/>
              </a:lnSpc>
              <a:spcBef>
                <a:spcPts val="1200"/>
              </a:spcBef>
              <a:spcAft>
                <a:spcPts val="0"/>
              </a:spcAft>
              <a:buSzPts val="1800"/>
              <a:buChar char="●"/>
            </a:pPr>
            <a:r>
              <a:rPr b="1" lang="en" sz="1800"/>
              <a:t>border:</a:t>
            </a:r>
            <a:r>
              <a:rPr lang="en" sz="1800"/>
              <a:t> 1px solid; /*applies to table, th, and td elements */</a:t>
            </a:r>
            <a:endParaRPr sz="1800"/>
          </a:p>
          <a:p>
            <a:pPr indent="-342900" lvl="0" marL="457200" rtl="0" algn="l">
              <a:lnSpc>
                <a:spcPct val="95000"/>
              </a:lnSpc>
              <a:spcBef>
                <a:spcPts val="0"/>
              </a:spcBef>
              <a:spcAft>
                <a:spcPts val="0"/>
              </a:spcAft>
              <a:buSzPts val="1800"/>
              <a:buChar char="●"/>
            </a:pPr>
            <a:r>
              <a:rPr b="1" lang="en" sz="1800"/>
              <a:t>width:  </a:t>
            </a:r>
            <a:r>
              <a:rPr lang="en" sz="1800"/>
              <a:t>100%; /* full-width table */</a:t>
            </a:r>
            <a:endParaRPr sz="1800"/>
          </a:p>
          <a:p>
            <a:pPr indent="-342900" lvl="0" marL="457200" rtl="0" algn="l">
              <a:lnSpc>
                <a:spcPct val="95000"/>
              </a:lnSpc>
              <a:spcBef>
                <a:spcPts val="0"/>
              </a:spcBef>
              <a:spcAft>
                <a:spcPts val="0"/>
              </a:spcAft>
              <a:buSzPts val="1800"/>
              <a:buChar char="●"/>
            </a:pPr>
            <a:r>
              <a:rPr b="1" lang="en" sz="1800"/>
              <a:t>border-collapse: </a:t>
            </a:r>
            <a:r>
              <a:rPr lang="en" sz="1800"/>
              <a:t>collapse | separate;  </a:t>
            </a:r>
            <a:r>
              <a:rPr b="1" lang="en" sz="1800"/>
              <a:t> </a:t>
            </a:r>
            <a:endParaRPr b="1" sz="1800"/>
          </a:p>
          <a:p>
            <a:pPr indent="0" lvl="0" marL="0" rtl="0" algn="l">
              <a:lnSpc>
                <a:spcPct val="95000"/>
              </a:lnSpc>
              <a:spcBef>
                <a:spcPts val="1200"/>
              </a:spcBef>
              <a:spcAft>
                <a:spcPts val="0"/>
              </a:spcAft>
              <a:buNone/>
            </a:pPr>
            <a:r>
              <a:t/>
            </a:r>
            <a:endParaRPr sz="1600"/>
          </a:p>
          <a:p>
            <a:pPr indent="0" lvl="0" marL="0" rtl="0" algn="l">
              <a:lnSpc>
                <a:spcPct val="95000"/>
              </a:lnSpc>
              <a:spcBef>
                <a:spcPts val="1200"/>
              </a:spcBef>
              <a:spcAft>
                <a:spcPts val="0"/>
              </a:spcAft>
              <a:buNone/>
            </a:pPr>
            <a:r>
              <a:t/>
            </a:r>
            <a:endParaRPr sz="1600"/>
          </a:p>
          <a:p>
            <a:pPr indent="0" lvl="0" marL="0" rtl="0" algn="l">
              <a:lnSpc>
                <a:spcPct val="95000"/>
              </a:lnSpc>
              <a:spcBef>
                <a:spcPts val="1200"/>
              </a:spcBef>
              <a:spcAft>
                <a:spcPts val="1200"/>
              </a:spcAft>
              <a:buNone/>
            </a:pPr>
            <a:r>
              <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CSS Styling (cont’d)</a:t>
            </a:r>
            <a:endParaRPr/>
          </a:p>
        </p:txBody>
      </p:sp>
      <p:sp>
        <p:nvSpPr>
          <p:cNvPr id="201" name="Google Shape;201;p2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Font references: </a:t>
            </a:r>
            <a:r>
              <a:rPr lang="en" sz="1800"/>
              <a:t>[https://www.tutorialbrain.com/css_tutorial/css_font_family_list/]</a:t>
            </a:r>
            <a:endParaRPr sz="1800"/>
          </a:p>
          <a:p>
            <a:pPr indent="0" lvl="0" marL="0" rtl="0" algn="l">
              <a:spcBef>
                <a:spcPts val="1200"/>
              </a:spcBef>
              <a:spcAft>
                <a:spcPts val="0"/>
              </a:spcAft>
              <a:buNone/>
            </a:pPr>
            <a:r>
              <a:rPr b="1" lang="en" sz="1800"/>
              <a:t>Color references:</a:t>
            </a:r>
            <a:r>
              <a:rPr lang="en" sz="1800"/>
              <a:t> </a:t>
            </a:r>
            <a:endParaRPr sz="1800"/>
          </a:p>
          <a:p>
            <a:pPr indent="0" lvl="0" marL="0" rtl="0" algn="l">
              <a:spcBef>
                <a:spcPts val="1200"/>
              </a:spcBef>
              <a:spcAft>
                <a:spcPts val="1200"/>
              </a:spcAft>
              <a:buNone/>
            </a:pPr>
            <a:r>
              <a:rPr lang="en" sz="1800"/>
              <a:t>[https://www.w3.org/wiki/CSS/Properties/color/keywords]</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CSS Layout (Box model)</a:t>
            </a:r>
            <a:endParaRPr/>
          </a:p>
        </p:txBody>
      </p:sp>
      <p:sp>
        <p:nvSpPr>
          <p:cNvPr id="207" name="Google Shape;207;p2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8" name="Google Shape;208;p26"/>
          <p:cNvPicPr preferRelativeResize="0"/>
          <p:nvPr/>
        </p:nvPicPr>
        <p:blipFill>
          <a:blip r:embed="rId3">
            <a:alphaModFix/>
          </a:blip>
          <a:stretch>
            <a:fillRect/>
          </a:stretch>
        </p:blipFill>
        <p:spPr>
          <a:xfrm>
            <a:off x="713913" y="1456900"/>
            <a:ext cx="7716175" cy="33736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CSS Layout (cont'd)</a:t>
            </a:r>
            <a:endParaRPr/>
          </a:p>
        </p:txBody>
      </p:sp>
      <p:sp>
        <p:nvSpPr>
          <p:cNvPr id="214" name="Google Shape;214;p27"/>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Border </a:t>
            </a:r>
            <a:r>
              <a:rPr lang="en" sz="1600"/>
              <a:t>used to set visible border width to most HTML elements within the body</a:t>
            </a:r>
            <a:endParaRPr sz="1600"/>
          </a:p>
          <a:p>
            <a:pPr indent="-330200" lvl="0" marL="457200" rtl="0" algn="l">
              <a:spcBef>
                <a:spcPts val="1200"/>
              </a:spcBef>
              <a:spcAft>
                <a:spcPts val="0"/>
              </a:spcAft>
              <a:buSzPts val="1600"/>
              <a:buChar char="●"/>
            </a:pPr>
            <a:r>
              <a:rPr b="1" lang="en" sz="1600"/>
              <a:t>border-style: </a:t>
            </a:r>
            <a:r>
              <a:rPr lang="en" sz="1600"/>
              <a:t>dotted | dashed | solid | none | hidden;</a:t>
            </a:r>
            <a:endParaRPr sz="1600"/>
          </a:p>
          <a:p>
            <a:pPr indent="-330200" lvl="0" marL="457200" rtl="0" algn="l">
              <a:spcBef>
                <a:spcPts val="0"/>
              </a:spcBef>
              <a:spcAft>
                <a:spcPts val="0"/>
              </a:spcAft>
              <a:buSzPts val="1600"/>
              <a:buChar char="●"/>
            </a:pPr>
            <a:r>
              <a:rPr b="1" lang="en" sz="1600"/>
              <a:t>border-width: </a:t>
            </a:r>
            <a:r>
              <a:rPr lang="en" sz="1600"/>
              <a:t>5px | medium | thick;</a:t>
            </a:r>
            <a:endParaRPr sz="1600"/>
          </a:p>
          <a:p>
            <a:pPr indent="-330200" lvl="1" marL="914400" rtl="0" algn="l">
              <a:spcBef>
                <a:spcPts val="0"/>
              </a:spcBef>
              <a:spcAft>
                <a:spcPts val="0"/>
              </a:spcAft>
              <a:buSzPts val="1600"/>
              <a:buChar char="○"/>
            </a:pPr>
            <a:r>
              <a:rPr b="1" lang="en" sz="1600"/>
              <a:t>Can have specific width size</a:t>
            </a:r>
            <a:endParaRPr b="1" sz="1600"/>
          </a:p>
          <a:p>
            <a:pPr indent="-330200" lvl="2" marL="1371600" rtl="0" algn="l">
              <a:spcBef>
                <a:spcPts val="0"/>
              </a:spcBef>
              <a:spcAft>
                <a:spcPts val="0"/>
              </a:spcAft>
              <a:buSzPts val="1600"/>
              <a:buChar char="■"/>
            </a:pPr>
            <a:r>
              <a:rPr b="1" lang="en" sz="1600"/>
              <a:t>20px 10px; /* 20px on top and bottom, 10px on sides</a:t>
            </a:r>
            <a:endParaRPr b="1" sz="1600"/>
          </a:p>
          <a:p>
            <a:pPr indent="-330200" lvl="2" marL="1371600" rtl="0" algn="l">
              <a:spcBef>
                <a:spcPts val="0"/>
              </a:spcBef>
              <a:spcAft>
                <a:spcPts val="0"/>
              </a:spcAft>
              <a:buSzPts val="1600"/>
              <a:buChar char="■"/>
            </a:pPr>
            <a:r>
              <a:rPr b="1" lang="en" sz="1600"/>
              <a:t>10px 5px 4px 2px; /* top, right, bottom, left</a:t>
            </a:r>
            <a:endParaRPr b="1" sz="1600"/>
          </a:p>
          <a:p>
            <a:pPr indent="-330200" lvl="0" marL="457200" rtl="0" algn="l">
              <a:spcBef>
                <a:spcPts val="0"/>
              </a:spcBef>
              <a:spcAft>
                <a:spcPts val="0"/>
              </a:spcAft>
              <a:buSzPts val="1600"/>
              <a:buChar char="●"/>
            </a:pPr>
            <a:r>
              <a:rPr b="1" lang="en" sz="1600"/>
              <a:t>border-color: </a:t>
            </a:r>
            <a:r>
              <a:rPr lang="en" sz="1600"/>
              <a:t>red | #001234 | rgb(123,222,111);</a:t>
            </a:r>
            <a:endParaRPr sz="1600"/>
          </a:p>
          <a:p>
            <a:pPr indent="-330200" lvl="0" marL="457200" rtl="0" algn="l">
              <a:spcBef>
                <a:spcPts val="0"/>
              </a:spcBef>
              <a:spcAft>
                <a:spcPts val="0"/>
              </a:spcAft>
              <a:buSzPts val="1600"/>
              <a:buChar char="●"/>
            </a:pPr>
            <a:r>
              <a:rPr b="1" lang="en" sz="1600"/>
              <a:t>Border-radius: </a:t>
            </a:r>
            <a:r>
              <a:rPr lang="en" sz="1600"/>
              <a:t>5px;</a:t>
            </a:r>
            <a:endParaRPr sz="1600"/>
          </a:p>
          <a:p>
            <a:pPr indent="0" lvl="0" marL="0" rtl="0" algn="l">
              <a:spcBef>
                <a:spcPts val="1200"/>
              </a:spcBef>
              <a:spcAft>
                <a:spcPts val="1200"/>
              </a:spcAft>
              <a:buNone/>
            </a:pPr>
            <a:r>
              <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CSS Layout (cont’d)</a:t>
            </a:r>
            <a:endParaRPr/>
          </a:p>
        </p:txBody>
      </p:sp>
      <p:sp>
        <p:nvSpPr>
          <p:cNvPr id="220" name="Google Shape;220;p28"/>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t>Margin</a:t>
            </a:r>
            <a:r>
              <a:rPr lang="en" sz="1700"/>
              <a:t> properties are used to create space around elements, outside of any defined borders.</a:t>
            </a:r>
            <a:endParaRPr sz="1700"/>
          </a:p>
          <a:p>
            <a:pPr indent="-336550" lvl="0" marL="457200" rtl="0" algn="l">
              <a:spcBef>
                <a:spcPts val="1200"/>
              </a:spcBef>
              <a:spcAft>
                <a:spcPts val="0"/>
              </a:spcAft>
              <a:buSzPts val="1700"/>
              <a:buChar char="●"/>
            </a:pPr>
            <a:r>
              <a:rPr b="1" lang="en" sz="1700"/>
              <a:t>margin-top|right|bottom|left: </a:t>
            </a:r>
            <a:r>
              <a:rPr lang="en" sz="1700"/>
              <a:t>10px | auto | 90% | inherit;</a:t>
            </a:r>
            <a:endParaRPr sz="1700"/>
          </a:p>
          <a:p>
            <a:pPr indent="-336550" lvl="0" marL="457200" rtl="0" algn="l">
              <a:spcBef>
                <a:spcPts val="0"/>
              </a:spcBef>
              <a:spcAft>
                <a:spcPts val="0"/>
              </a:spcAft>
              <a:buSzPts val="1700"/>
              <a:buChar char="●"/>
            </a:pPr>
            <a:r>
              <a:rPr b="1" lang="en" sz="1700"/>
              <a:t>margin:</a:t>
            </a:r>
            <a:r>
              <a:rPr lang="en" sz="1700"/>
              <a:t> 20px; /* all sides 20px */</a:t>
            </a:r>
            <a:endParaRPr sz="1700"/>
          </a:p>
          <a:p>
            <a:pPr indent="0" lvl="0" marL="0" rtl="0" algn="l">
              <a:spcBef>
                <a:spcPts val="1200"/>
              </a:spcBef>
              <a:spcAft>
                <a:spcPts val="1200"/>
              </a:spcAft>
              <a:buNone/>
            </a:pPr>
            <a:r>
              <a:t/>
            </a:r>
            <a:endParaRPr sz="17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CSS Layout (cont'd)</a:t>
            </a:r>
            <a:endParaRPr/>
          </a:p>
        </p:txBody>
      </p:sp>
      <p:sp>
        <p:nvSpPr>
          <p:cNvPr id="226" name="Google Shape;226;p29"/>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Padding</a:t>
            </a:r>
            <a:r>
              <a:rPr lang="en" sz="1800"/>
              <a:t> used to create space around an element's content, inside of any defined borders.</a:t>
            </a:r>
            <a:endParaRPr sz="1800"/>
          </a:p>
          <a:p>
            <a:pPr indent="-342900" lvl="0" marL="457200" rtl="0" algn="l">
              <a:spcBef>
                <a:spcPts val="1200"/>
              </a:spcBef>
              <a:spcAft>
                <a:spcPts val="0"/>
              </a:spcAft>
              <a:buSzPts val="1800"/>
              <a:buChar char="●"/>
            </a:pPr>
            <a:r>
              <a:rPr b="1" lang="en" sz="1800"/>
              <a:t>padding-top|right|bottom|left: </a:t>
            </a:r>
            <a:r>
              <a:rPr lang="en" sz="1800"/>
              <a:t>10px | auto | 50% | inherit;</a:t>
            </a:r>
            <a:endParaRPr sz="1800"/>
          </a:p>
          <a:p>
            <a:pPr indent="-342900" lvl="0" marL="457200" rtl="0" algn="l">
              <a:spcBef>
                <a:spcPts val="0"/>
              </a:spcBef>
              <a:spcAft>
                <a:spcPts val="0"/>
              </a:spcAft>
              <a:buSzPts val="1800"/>
              <a:buChar char="●"/>
            </a:pPr>
            <a:r>
              <a:rPr b="1" lang="en" sz="1800"/>
              <a:t>padding: </a:t>
            </a:r>
            <a:r>
              <a:rPr lang="en" sz="1800"/>
              <a:t>20px /* all sides are 20px of size */</a:t>
            </a:r>
            <a:endParaRPr sz="1800"/>
          </a:p>
          <a:p>
            <a:pPr indent="0" lvl="0" marL="0" rtl="0" algn="l">
              <a:spcBef>
                <a:spcPts val="1200"/>
              </a:spcBef>
              <a:spcAft>
                <a:spcPts val="0"/>
              </a:spcAft>
              <a:buNone/>
            </a:pPr>
            <a:r>
              <a:t/>
            </a:r>
            <a:endParaRPr sz="1800"/>
          </a:p>
          <a:p>
            <a:pPr indent="0" lvl="0" marL="0" rtl="0" algn="l">
              <a:spcBef>
                <a:spcPts val="1200"/>
              </a:spcBef>
              <a:spcAft>
                <a:spcPts val="1200"/>
              </a:spcAft>
              <a:buNone/>
            </a:pPr>
            <a:r>
              <a:t/>
            </a: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Responsive Web Design principles</a:t>
            </a:r>
            <a:endParaRPr/>
          </a:p>
        </p:txBody>
      </p:sp>
      <p:sp>
        <p:nvSpPr>
          <p:cNvPr id="232" name="Google Shape;232;p3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t>There are many devices that can access the web, and they come in all shapes and sizes. </a:t>
            </a:r>
            <a:endParaRPr sz="1500"/>
          </a:p>
          <a:p>
            <a:pPr indent="0" lvl="0" marL="0" rtl="0" algn="l">
              <a:spcBef>
                <a:spcPts val="1200"/>
              </a:spcBef>
              <a:spcAft>
                <a:spcPts val="1200"/>
              </a:spcAft>
              <a:buNone/>
            </a:pPr>
            <a:r>
              <a:rPr b="1" i="1" lang="en" sz="1500"/>
              <a:t>Responsive web design</a:t>
            </a:r>
            <a:r>
              <a:rPr lang="en" sz="1500"/>
              <a:t> is the practice of designing flexible websites that can respond to different screen sizes, orientations, and resolutions.</a:t>
            </a:r>
            <a:endParaRPr sz="15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Responsive Web Design principles (cont’d)</a:t>
            </a:r>
            <a:endParaRPr/>
          </a:p>
        </p:txBody>
      </p:sp>
      <p:sp>
        <p:nvSpPr>
          <p:cNvPr id="238" name="Google Shape;238;p3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1500"/>
              <a:t>Create a Media query</a:t>
            </a:r>
            <a:endParaRPr b="1" sz="1500"/>
          </a:p>
          <a:p>
            <a:pPr indent="0" lvl="0" marL="0" rtl="0" algn="l">
              <a:spcBef>
                <a:spcPts val="1200"/>
              </a:spcBef>
              <a:spcAft>
                <a:spcPts val="0"/>
              </a:spcAft>
              <a:buNone/>
            </a:pPr>
            <a:r>
              <a:rPr b="1" lang="en" sz="1500"/>
              <a:t>Media Queries</a:t>
            </a:r>
            <a:r>
              <a:rPr lang="en" sz="1500"/>
              <a:t> are a new technique introduced in CSS3 that change the presentation of content based on different viewport sizes. The viewport is a user's visible area of a web page, and is different depending on the device used to access the site.</a:t>
            </a:r>
            <a:endParaRPr sz="1500"/>
          </a:p>
          <a:p>
            <a:pPr indent="0" lvl="0" marL="177800" marR="177800" rtl="0" algn="l">
              <a:lnSpc>
                <a:spcPct val="150000"/>
              </a:lnSpc>
              <a:spcBef>
                <a:spcPts val="1200"/>
              </a:spcBef>
              <a:spcAft>
                <a:spcPts val="0"/>
              </a:spcAft>
              <a:buNone/>
            </a:pPr>
            <a:r>
              <a:rPr lang="en" sz="1550">
                <a:solidFill>
                  <a:srgbClr val="222222"/>
                </a:solidFill>
              </a:rPr>
              <a:t>@media (max-width: 100px) { /* CSS Rules */ }</a:t>
            </a:r>
            <a:endParaRPr sz="1550">
              <a:solidFill>
                <a:srgbClr val="222222"/>
              </a:solidFill>
            </a:endParaRPr>
          </a:p>
          <a:p>
            <a:pPr indent="0" lvl="0" marL="177800" marR="177800" rtl="0" algn="l">
              <a:lnSpc>
                <a:spcPct val="150000"/>
              </a:lnSpc>
              <a:spcBef>
                <a:spcPts val="700"/>
              </a:spcBef>
              <a:spcAft>
                <a:spcPts val="0"/>
              </a:spcAft>
              <a:buNone/>
            </a:pPr>
            <a:r>
              <a:rPr lang="en" sz="1550">
                <a:solidFill>
                  <a:srgbClr val="222222"/>
                </a:solidFill>
              </a:rPr>
              <a:t>@media (min-height: 350px) { /* CSS Rules */ }</a:t>
            </a:r>
            <a:endParaRPr sz="1550">
              <a:solidFill>
                <a:srgbClr val="222222"/>
              </a:solidFill>
            </a:endParaRPr>
          </a:p>
          <a:p>
            <a:pPr indent="0" lvl="0" marL="0" rtl="0" algn="l">
              <a:spcBef>
                <a:spcPts val="700"/>
              </a:spcBef>
              <a:spcAft>
                <a:spcPts val="1200"/>
              </a:spcAft>
              <a:buNone/>
            </a:pPr>
            <a:r>
              <a:t/>
            </a:r>
            <a:endParaRPr sz="15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Responsive Web Design principles (cont’d)</a:t>
            </a:r>
            <a:endParaRPr/>
          </a:p>
        </p:txBody>
      </p:sp>
      <p:sp>
        <p:nvSpPr>
          <p:cNvPr id="244" name="Google Shape;244;p32"/>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b="1" lang="en" sz="1705"/>
              <a:t>Make an Image Responsive</a:t>
            </a:r>
            <a:endParaRPr b="1" sz="1705"/>
          </a:p>
          <a:p>
            <a:pPr indent="0" lvl="0" marL="0" rtl="0" algn="l">
              <a:lnSpc>
                <a:spcPct val="95000"/>
              </a:lnSpc>
              <a:spcBef>
                <a:spcPts val="0"/>
              </a:spcBef>
              <a:spcAft>
                <a:spcPts val="0"/>
              </a:spcAft>
              <a:buSzPts val="935"/>
              <a:buNone/>
            </a:pPr>
            <a:r>
              <a:rPr lang="en" sz="1705"/>
              <a:t>Making images responsive with CSS is actually very simple. You just need to add these properties to an image:</a:t>
            </a:r>
            <a:endParaRPr sz="1705"/>
          </a:p>
          <a:p>
            <a:pPr indent="0" lvl="0" marL="457200" rtl="0" algn="l">
              <a:lnSpc>
                <a:spcPct val="95000"/>
              </a:lnSpc>
              <a:spcBef>
                <a:spcPts val="0"/>
              </a:spcBef>
              <a:spcAft>
                <a:spcPts val="0"/>
              </a:spcAft>
              <a:buSzPts val="935"/>
              <a:buNone/>
            </a:pPr>
            <a:r>
              <a:rPr b="1" i="1" lang="en" sz="1705"/>
              <a:t>img {</a:t>
            </a:r>
            <a:endParaRPr b="1" i="1" sz="1705"/>
          </a:p>
          <a:p>
            <a:pPr indent="0" lvl="0" marL="457200" rtl="0" algn="l">
              <a:lnSpc>
                <a:spcPct val="95000"/>
              </a:lnSpc>
              <a:spcBef>
                <a:spcPts val="0"/>
              </a:spcBef>
              <a:spcAft>
                <a:spcPts val="0"/>
              </a:spcAft>
              <a:buSzPts val="935"/>
              <a:buNone/>
            </a:pPr>
            <a:r>
              <a:rPr b="1" i="1" lang="en" sz="1705"/>
              <a:t>  max-width: 100%;</a:t>
            </a:r>
            <a:endParaRPr b="1" i="1" sz="1705"/>
          </a:p>
          <a:p>
            <a:pPr indent="0" lvl="0" marL="457200" rtl="0" algn="l">
              <a:lnSpc>
                <a:spcPct val="95000"/>
              </a:lnSpc>
              <a:spcBef>
                <a:spcPts val="0"/>
              </a:spcBef>
              <a:spcAft>
                <a:spcPts val="0"/>
              </a:spcAft>
              <a:buSzPts val="935"/>
              <a:buNone/>
            </a:pPr>
            <a:r>
              <a:rPr b="1" i="1" lang="en" sz="1705"/>
              <a:t>  height: auto;</a:t>
            </a:r>
            <a:endParaRPr b="1" i="1" sz="1705"/>
          </a:p>
          <a:p>
            <a:pPr indent="0" lvl="0" marL="457200" rtl="0" algn="l">
              <a:lnSpc>
                <a:spcPct val="95000"/>
              </a:lnSpc>
              <a:spcBef>
                <a:spcPts val="0"/>
              </a:spcBef>
              <a:spcAft>
                <a:spcPts val="0"/>
              </a:spcAft>
              <a:buSzPts val="935"/>
              <a:buNone/>
            </a:pPr>
            <a:r>
              <a:rPr b="1" i="1" lang="en" sz="1705"/>
              <a:t>}</a:t>
            </a:r>
            <a:endParaRPr b="1" i="1" sz="1705"/>
          </a:p>
          <a:p>
            <a:pPr indent="0" lvl="0" marL="0" rtl="0" algn="l">
              <a:lnSpc>
                <a:spcPct val="95000"/>
              </a:lnSpc>
              <a:spcBef>
                <a:spcPts val="0"/>
              </a:spcBef>
              <a:spcAft>
                <a:spcPts val="0"/>
              </a:spcAft>
              <a:buSzPts val="935"/>
              <a:buNone/>
            </a:pPr>
            <a:r>
              <a:rPr lang="en" sz="1705"/>
              <a:t>The </a:t>
            </a:r>
            <a:r>
              <a:rPr b="1" lang="en" sz="1705"/>
              <a:t>max-width</a:t>
            </a:r>
            <a:r>
              <a:rPr lang="en" sz="1705"/>
              <a:t> of 100% will make sure the image is never wider than the container it is in, and the </a:t>
            </a:r>
            <a:r>
              <a:rPr b="1" lang="en" sz="1705"/>
              <a:t>height</a:t>
            </a:r>
            <a:r>
              <a:rPr lang="en" sz="1705"/>
              <a:t> of </a:t>
            </a:r>
            <a:r>
              <a:rPr b="1" lang="en" sz="1705"/>
              <a:t>auto</a:t>
            </a:r>
            <a:r>
              <a:rPr lang="en" sz="1705"/>
              <a:t> will make the image keep its original aspect ratio.</a:t>
            </a:r>
            <a:endParaRPr sz="1705"/>
          </a:p>
          <a:p>
            <a:pPr indent="0" lvl="0" marL="0" rtl="0" algn="l">
              <a:lnSpc>
                <a:spcPct val="95000"/>
              </a:lnSpc>
              <a:spcBef>
                <a:spcPts val="0"/>
              </a:spcBef>
              <a:spcAft>
                <a:spcPts val="0"/>
              </a:spcAft>
              <a:buSzPts val="935"/>
              <a:buNone/>
            </a:pPr>
            <a:r>
              <a:t/>
            </a:r>
            <a:endParaRPr sz="1705"/>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Responsive Web Design principles (cont’d)</a:t>
            </a:r>
            <a:endParaRPr/>
          </a:p>
        </p:txBody>
      </p:sp>
      <p:sp>
        <p:nvSpPr>
          <p:cNvPr id="250" name="Google Shape;250;p33"/>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1500"/>
              <a:t>Make typography responsive</a:t>
            </a:r>
            <a:endParaRPr b="1" sz="1500"/>
          </a:p>
          <a:p>
            <a:pPr indent="0" lvl="0" marL="0" rtl="0" algn="l">
              <a:spcBef>
                <a:spcPts val="1200"/>
              </a:spcBef>
              <a:spcAft>
                <a:spcPts val="0"/>
              </a:spcAft>
              <a:buNone/>
            </a:pPr>
            <a:r>
              <a:rPr lang="en" sz="1500"/>
              <a:t>Instead of using </a:t>
            </a:r>
            <a:r>
              <a:rPr b="1" lang="en" sz="1500"/>
              <a:t>em</a:t>
            </a:r>
            <a:r>
              <a:rPr lang="en" sz="1500"/>
              <a:t> or </a:t>
            </a:r>
            <a:r>
              <a:rPr b="1" lang="en" sz="1500"/>
              <a:t>px</a:t>
            </a:r>
            <a:r>
              <a:rPr lang="en" sz="1500"/>
              <a:t> to size text, you can use viewport units for responsive typography. Viewport units, like percentages, are relative units, but they are based off different items. Viewport units are relative to the viewport dimensions (width or height) of a device, and percentages are relative to the size of the parent container element.</a:t>
            </a:r>
            <a:endParaRPr sz="1500"/>
          </a:p>
          <a:p>
            <a:pPr indent="0" lvl="0" marL="457200" rtl="0" algn="l">
              <a:spcBef>
                <a:spcPts val="1200"/>
              </a:spcBef>
              <a:spcAft>
                <a:spcPts val="0"/>
              </a:spcAft>
              <a:buNone/>
            </a:pPr>
            <a:r>
              <a:rPr b="1" i="1" lang="en" sz="1500"/>
              <a:t>body{</a:t>
            </a:r>
            <a:endParaRPr b="1" i="1" sz="1500"/>
          </a:p>
          <a:p>
            <a:pPr indent="0" lvl="0" marL="457200" rtl="0" algn="l">
              <a:spcBef>
                <a:spcPts val="0"/>
              </a:spcBef>
              <a:spcAft>
                <a:spcPts val="0"/>
              </a:spcAft>
              <a:buNone/>
            </a:pPr>
            <a:r>
              <a:rPr b="1" i="1" lang="en" sz="1500"/>
              <a:t>width: 50vw;</a:t>
            </a:r>
            <a:endParaRPr b="1" i="1" sz="1500"/>
          </a:p>
          <a:p>
            <a:pPr indent="0" lvl="0" marL="457200" rtl="0" algn="l">
              <a:spcBef>
                <a:spcPts val="0"/>
              </a:spcBef>
              <a:spcAft>
                <a:spcPts val="0"/>
              </a:spcAft>
              <a:buNone/>
            </a:pPr>
            <a:r>
              <a:rPr b="1" i="1" lang="en" sz="1500"/>
              <a:t>}</a:t>
            </a:r>
            <a:endParaRPr b="1" i="1" sz="15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Responsive Web Design principles (cont’d)</a:t>
            </a:r>
            <a:endParaRPr/>
          </a:p>
        </p:txBody>
      </p:sp>
      <p:sp>
        <p:nvSpPr>
          <p:cNvPr id="256" name="Google Shape;256;p34"/>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The four different viewports are:</a:t>
            </a:r>
            <a:endParaRPr sz="1500"/>
          </a:p>
          <a:p>
            <a:pPr indent="-323850" lvl="0" marL="457200" rtl="0" algn="l">
              <a:spcBef>
                <a:spcPts val="1200"/>
              </a:spcBef>
              <a:spcAft>
                <a:spcPts val="0"/>
              </a:spcAft>
              <a:buSzPts val="1500"/>
              <a:buChar char="●"/>
            </a:pPr>
            <a:r>
              <a:rPr b="1" lang="en" sz="1500"/>
              <a:t>vw (viewport width)</a:t>
            </a:r>
            <a:r>
              <a:rPr lang="en" sz="1500"/>
              <a:t>: 10vw would be 10% of the viewport's width.</a:t>
            </a:r>
            <a:endParaRPr sz="1500"/>
          </a:p>
          <a:p>
            <a:pPr indent="-323850" lvl="0" marL="457200" rtl="0" algn="l">
              <a:spcBef>
                <a:spcPts val="0"/>
              </a:spcBef>
              <a:spcAft>
                <a:spcPts val="0"/>
              </a:spcAft>
              <a:buSzPts val="1500"/>
              <a:buChar char="●"/>
            </a:pPr>
            <a:r>
              <a:rPr b="1" lang="en" sz="1500"/>
              <a:t>vh (viewport height)</a:t>
            </a:r>
            <a:r>
              <a:rPr lang="en" sz="1500"/>
              <a:t>: 3vh would be 3% of the viewport's height.</a:t>
            </a:r>
            <a:endParaRPr sz="1500"/>
          </a:p>
          <a:p>
            <a:pPr indent="-323850" lvl="0" marL="457200" rtl="0" algn="l">
              <a:spcBef>
                <a:spcPts val="0"/>
              </a:spcBef>
              <a:spcAft>
                <a:spcPts val="0"/>
              </a:spcAft>
              <a:buSzPts val="1500"/>
              <a:buChar char="●"/>
            </a:pPr>
            <a:r>
              <a:rPr b="1" lang="en" sz="1500"/>
              <a:t>vmin (viewport minimum)</a:t>
            </a:r>
            <a:r>
              <a:rPr lang="en" sz="1500"/>
              <a:t>: 70vmin would be 70% of the viewport's smaller dimension (height or width).</a:t>
            </a:r>
            <a:endParaRPr sz="1500"/>
          </a:p>
          <a:p>
            <a:pPr indent="-323850" lvl="0" marL="457200" rtl="0" algn="l">
              <a:spcBef>
                <a:spcPts val="0"/>
              </a:spcBef>
              <a:spcAft>
                <a:spcPts val="0"/>
              </a:spcAft>
              <a:buSzPts val="1500"/>
              <a:buChar char="●"/>
            </a:pPr>
            <a:r>
              <a:rPr b="1" lang="en" sz="1500"/>
              <a:t>vmax (viewport maximum)</a:t>
            </a:r>
            <a:r>
              <a:rPr lang="en" sz="1500"/>
              <a:t>: 100vmax would be 100% of the viewport's bigger dimension (height or width).</a:t>
            </a:r>
            <a:endParaRPr sz="1500"/>
          </a:p>
          <a:p>
            <a:pPr indent="0" lvl="0" marL="457200" rtl="0" algn="l">
              <a:spcBef>
                <a:spcPts val="1200"/>
              </a:spcBef>
              <a:spcAft>
                <a:spcPts val="1200"/>
              </a:spcAft>
              <a:buNone/>
            </a:pPr>
            <a:r>
              <a:t/>
            </a:r>
            <a:endParaRPr sz="15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Responsive Web Design principles (cont’d)</a:t>
            </a:r>
            <a:endParaRPr/>
          </a:p>
        </p:txBody>
      </p:sp>
      <p:sp>
        <p:nvSpPr>
          <p:cNvPr id="262" name="Google Shape;262;p3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600"/>
              <a:t>Use a Retina Image for Higher Resolution Displays</a:t>
            </a:r>
            <a:endParaRPr b="1" sz="1600"/>
          </a:p>
          <a:p>
            <a:pPr indent="0" lvl="0" marL="0" rtl="0" algn="l">
              <a:spcBef>
                <a:spcPts val="1200"/>
              </a:spcBef>
              <a:spcAft>
                <a:spcPts val="1200"/>
              </a:spcAft>
              <a:buNone/>
            </a:pPr>
            <a:r>
              <a:rPr lang="en" sz="1600"/>
              <a:t>With the increase of internet connected devices, their sizes and specifications vary, and the displays they use could be different externally and internally. Pixel density is an aspect that could be different on one device from others and this density is known as Pixel Per Inch(PPI) or Dots Per Inch(DPI)</a:t>
            </a: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Responsive Web Design principles (cont’d)</a:t>
            </a:r>
            <a:endParaRPr/>
          </a:p>
        </p:txBody>
      </p:sp>
      <p:sp>
        <p:nvSpPr>
          <p:cNvPr id="268" name="Google Shape;268;p3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t>The simplest way to make your images properly appear on High-Resolution Displays, such as the MacBook Pros "retina display" is to define their </a:t>
            </a:r>
            <a:r>
              <a:rPr b="1" lang="en" sz="1600"/>
              <a:t>width </a:t>
            </a:r>
            <a:r>
              <a:rPr lang="en" sz="1600"/>
              <a:t>and </a:t>
            </a:r>
            <a:r>
              <a:rPr b="1" lang="en" sz="1600"/>
              <a:t>height </a:t>
            </a:r>
            <a:r>
              <a:rPr lang="en" sz="1600"/>
              <a:t>values as only half of what the original file is.</a:t>
            </a:r>
            <a:endParaRPr sz="1600"/>
          </a:p>
          <a:p>
            <a:pPr indent="0" lvl="0" marL="457200" rtl="0" algn="l">
              <a:spcBef>
                <a:spcPts val="0"/>
              </a:spcBef>
              <a:spcAft>
                <a:spcPts val="0"/>
              </a:spcAft>
              <a:buNone/>
            </a:pPr>
            <a:r>
              <a:rPr b="1" i="1" lang="en" sz="1600"/>
              <a:t>img{</a:t>
            </a:r>
            <a:endParaRPr b="1" i="1" sz="1600"/>
          </a:p>
          <a:p>
            <a:pPr indent="0" lvl="0" marL="914400" rtl="0" algn="l">
              <a:spcBef>
                <a:spcPts val="0"/>
              </a:spcBef>
              <a:spcAft>
                <a:spcPts val="0"/>
              </a:spcAft>
              <a:buNone/>
            </a:pPr>
            <a:r>
              <a:rPr b="1" i="1" lang="en" sz="1600"/>
              <a:t>height: 250px; /* for example, image height is 500px */</a:t>
            </a:r>
            <a:endParaRPr b="1" i="1" sz="1600"/>
          </a:p>
          <a:p>
            <a:pPr indent="0" lvl="0" marL="914400" rtl="0" algn="l">
              <a:spcBef>
                <a:spcPts val="0"/>
              </a:spcBef>
              <a:spcAft>
                <a:spcPts val="0"/>
              </a:spcAft>
              <a:buNone/>
            </a:pPr>
            <a:r>
              <a:rPr b="1" i="1" lang="en" sz="1600"/>
              <a:t>width: 250px; /* for example. Image width is 500px */</a:t>
            </a:r>
            <a:endParaRPr b="1" i="1" sz="1600"/>
          </a:p>
          <a:p>
            <a:pPr indent="0" lvl="0" marL="457200" rtl="0" algn="l">
              <a:spcBef>
                <a:spcPts val="0"/>
              </a:spcBef>
              <a:spcAft>
                <a:spcPts val="0"/>
              </a:spcAft>
              <a:buNone/>
            </a:pPr>
            <a:r>
              <a:rPr b="1" i="1" lang="en" sz="1600"/>
              <a:t>}</a:t>
            </a:r>
            <a:endParaRPr b="1" i="1" sz="1600"/>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