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Roboto"/>
      <p:regular r:id="rId36"/>
      <p:bold r:id="rId37"/>
      <p:italic r:id="rId38"/>
      <p:boldItalic r:id="rId39"/>
    </p:embeddedFont>
    <p:embeddedFont>
      <p:font typeface="Nunito"/>
      <p:regular r:id="rId40"/>
      <p:bold r:id="rId41"/>
      <p:italic r:id="rId42"/>
      <p:boldItalic r:id="rId43"/>
    </p:embeddedFont>
    <p:embeddedFont>
      <p:font typeface="Roboto Mono"/>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unito-regular.fntdata"/><Relationship Id="rId20" Type="http://schemas.openxmlformats.org/officeDocument/2006/relationships/slide" Target="slides/slide15.xml"/><Relationship Id="rId42" Type="http://schemas.openxmlformats.org/officeDocument/2006/relationships/font" Target="fonts/Nunito-italic.fntdata"/><Relationship Id="rId41" Type="http://schemas.openxmlformats.org/officeDocument/2006/relationships/font" Target="fonts/Nunito-bold.fntdata"/><Relationship Id="rId22" Type="http://schemas.openxmlformats.org/officeDocument/2006/relationships/slide" Target="slides/slide17.xml"/><Relationship Id="rId44" Type="http://schemas.openxmlformats.org/officeDocument/2006/relationships/font" Target="fonts/RobotoMono-regular.fntdata"/><Relationship Id="rId21" Type="http://schemas.openxmlformats.org/officeDocument/2006/relationships/slide" Target="slides/slide16.xml"/><Relationship Id="rId43" Type="http://schemas.openxmlformats.org/officeDocument/2006/relationships/font" Target="fonts/Nunito-boldItalic.fntdata"/><Relationship Id="rId24" Type="http://schemas.openxmlformats.org/officeDocument/2006/relationships/slide" Target="slides/slide19.xml"/><Relationship Id="rId46" Type="http://schemas.openxmlformats.org/officeDocument/2006/relationships/font" Target="fonts/RobotoMono-italic.fntdata"/><Relationship Id="rId23" Type="http://schemas.openxmlformats.org/officeDocument/2006/relationships/slide" Target="slides/slide18.xml"/><Relationship Id="rId45" Type="http://schemas.openxmlformats.org/officeDocument/2006/relationships/font" Target="fonts/RobotoMon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schemas.openxmlformats.org/officeDocument/2006/relationships/font" Target="fonts/RobotoMono-boldItalic.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oboto-bold.fntdata"/><Relationship Id="rId14" Type="http://schemas.openxmlformats.org/officeDocument/2006/relationships/slide" Target="slides/slide9.xml"/><Relationship Id="rId36" Type="http://schemas.openxmlformats.org/officeDocument/2006/relationships/font" Target="fonts/Roboto-regular.fntdata"/><Relationship Id="rId17" Type="http://schemas.openxmlformats.org/officeDocument/2006/relationships/slide" Target="slides/slide12.xml"/><Relationship Id="rId39" Type="http://schemas.openxmlformats.org/officeDocument/2006/relationships/font" Target="fonts/Roboto-boldItalic.fntdata"/><Relationship Id="rId16" Type="http://schemas.openxmlformats.org/officeDocument/2006/relationships/slide" Target="slides/slide11.xml"/><Relationship Id="rId38" Type="http://schemas.openxmlformats.org/officeDocument/2006/relationships/font" Target="fonts/Roboto-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h1a0ad1562863d63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h1a0ad1562863d63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40a05e8e414_1_7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40a05e8e414_1_7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40a05e8e414_1_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40a05e8e414_1_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40a05e8e414_1_7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40a05e8e414_1_7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40a05e8e414_1_7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40a05e8e414_1_7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h5f9289b67aaca294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h5f9289b67aaca294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40a05e8e414_1_7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40a05e8e414_1_7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h5f9289b67aaca294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h5f9289b67aaca294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h491f654a59c28fe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h491f654a59c28fe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40a05e8e414_1_7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40a05e8e414_1_7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40a05e8e414_1_7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40a05e8e414_1_7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h5f9289b67aaca294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h5f9289b67aaca294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40a05e8e414_1_7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40a05e8e414_1_7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40a05e8e414_1_7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40a05e8e414_1_7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40a05e8e414_1_7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40a05e8e414_1_7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40a05e8e414_1_7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40a05e8e414_1_7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40a05e8e414_1_7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40a05e8e414_1_7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40a05e8e414_1_7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40a05e8e414_1_7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40a05e8e414_1_7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40a05e8e414_1_7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40a05e8e414_1_7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40a05e8e414_1_7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40a05e8e414_1_8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40a05e8e414_1_8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40a05e8e414_1_8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40a05e8e414_1_8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40a05e8e414_1_8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40a05e8e414_1_8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40a05e8e414_1_8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40a05e8e414_1_8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40a05e8e414_1_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40a05e8e414_1_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40a05e8e414_1_8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40a05e8e414_1_8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40a05e8e414_1_8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40a05e8e414_1_8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40a05e8e414_1_8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40a05e8e414_1_8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40a05e8e414_1_8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40a05e8e414_1_8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40a05e8e414_1_8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40a05e8e414_1_8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developer.mozilla.org/en-US/docs/Web/CSS/CSS_Flexible_Box_Layout/Basic_Concepts_of_Flexbox" TargetMode="External"/><Relationship Id="rId4" Type="http://schemas.openxmlformats.org/officeDocument/2006/relationships/hyperlink" Target="https://developer.mozilla.org/en-US/docs/Web/CSS/CSS_Flexible_Box_Layout/Basic_Concepts_of_Flexbox"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getbootstrap.com/docs/5.3/content/reboot#forms" TargetMode="External"/><Relationship Id="rId4" Type="http://schemas.openxmlformats.org/officeDocument/2006/relationships/hyperlink" Target="https://getbootstrap.com/docs/5.3/content/reboot#form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Bootstrap 5</a:t>
            </a:r>
            <a:endParaRPr/>
          </a:p>
        </p:txBody>
      </p:sp>
      <p:sp>
        <p:nvSpPr>
          <p:cNvPr id="129" name="Google Shape;129;p13"/>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rgbClr val="000000"/>
              </a:buClr>
              <a:buSzPts val="1600"/>
              <a:buFont typeface="Arial"/>
              <a:buChar char="●"/>
            </a:pPr>
            <a:r>
              <a:rPr lang="en" sz="1600">
                <a:solidFill>
                  <a:srgbClr val="000000"/>
                </a:solidFill>
                <a:latin typeface="Arial"/>
                <a:ea typeface="Arial"/>
                <a:cs typeface="Arial"/>
                <a:sym typeface="Arial"/>
              </a:rPr>
              <a:t>Introduction to Bootstrap 5</a:t>
            </a:r>
            <a:endParaRPr sz="1600">
              <a:solidFill>
                <a:srgbClr val="000000"/>
              </a:solidFill>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lang="en" sz="1600">
                <a:solidFill>
                  <a:srgbClr val="000000"/>
                </a:solidFill>
                <a:latin typeface="Arial"/>
                <a:ea typeface="Arial"/>
                <a:cs typeface="Arial"/>
                <a:sym typeface="Arial"/>
              </a:rPr>
              <a:t>Bootstrap Grid System</a:t>
            </a:r>
            <a:endParaRPr sz="1600">
              <a:solidFill>
                <a:srgbClr val="000000"/>
              </a:solidFill>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lang="en" sz="1600">
                <a:solidFill>
                  <a:srgbClr val="000000"/>
                </a:solidFill>
                <a:latin typeface="Arial"/>
                <a:ea typeface="Arial"/>
                <a:cs typeface="Arial"/>
                <a:sym typeface="Arial"/>
              </a:rPr>
              <a:t>Components</a:t>
            </a:r>
            <a:endParaRPr sz="1600">
              <a:solidFill>
                <a:srgbClr val="000000"/>
              </a:solidFill>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lang="en" sz="1600">
                <a:solidFill>
                  <a:srgbClr val="000000"/>
                </a:solidFill>
                <a:latin typeface="Arial"/>
                <a:ea typeface="Arial"/>
                <a:cs typeface="Arial"/>
                <a:sym typeface="Arial"/>
              </a:rPr>
              <a:t>Utility Classes</a:t>
            </a:r>
            <a:endParaRPr sz="1600">
              <a:solidFill>
                <a:srgbClr val="000000"/>
              </a:solidFill>
              <a:latin typeface="Arial"/>
              <a:ea typeface="Arial"/>
              <a:cs typeface="Arial"/>
              <a:sym typeface="Arial"/>
            </a:endParaRPr>
          </a:p>
          <a:p>
            <a:pPr indent="0" lvl="0" marL="0" rtl="0" algn="l">
              <a:spcBef>
                <a:spcPts val="0"/>
              </a:spcBef>
              <a:spcAft>
                <a:spcPts val="0"/>
              </a:spcAft>
              <a:buNone/>
            </a:pPr>
            <a:r>
              <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 to Bootstrap 5</a:t>
            </a:r>
            <a:endParaRPr/>
          </a:p>
        </p:txBody>
      </p:sp>
      <p:sp>
        <p:nvSpPr>
          <p:cNvPr id="135" name="Google Shape;135;p1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700"/>
              <a:t>Bootstrap</a:t>
            </a:r>
            <a:r>
              <a:rPr lang="en" sz="1700"/>
              <a:t> is a free and open-source web development framework. It’s designed to ease the web development process of responsive, mobile-first websites by providing a collection of syntax for template designs.</a:t>
            </a:r>
            <a:endParaRPr sz="1700"/>
          </a:p>
          <a:p>
            <a:pPr indent="0" lvl="0" marL="0" rtl="0" algn="l">
              <a:spcBef>
                <a:spcPts val="1200"/>
              </a:spcBef>
              <a:spcAft>
                <a:spcPts val="1200"/>
              </a:spcAft>
              <a:buNone/>
            </a:pPr>
            <a:r>
              <a:rPr lang="en" sz="1700"/>
              <a:t>The current version is </a:t>
            </a:r>
            <a:r>
              <a:rPr b="1" lang="en" sz="1700"/>
              <a:t>Bootstrap 5.3.8</a:t>
            </a:r>
            <a:r>
              <a:rPr lang="en" sz="1700"/>
              <a:t> as of this writing</a:t>
            </a:r>
            <a:endParaRPr sz="1700"/>
          </a:p>
        </p:txBody>
      </p:sp>
      <p:pic>
        <p:nvPicPr>
          <p:cNvPr id="136" name="Google Shape;136;p14"/>
          <p:cNvPicPr preferRelativeResize="0"/>
          <p:nvPr/>
        </p:nvPicPr>
        <p:blipFill>
          <a:blip r:embed="rId3">
            <a:alphaModFix/>
          </a:blip>
          <a:stretch>
            <a:fillRect/>
          </a:stretch>
        </p:blipFill>
        <p:spPr>
          <a:xfrm>
            <a:off x="6049975" y="2802800"/>
            <a:ext cx="1982950" cy="16359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 to Bootstrap 5 (cont’d)</a:t>
            </a:r>
            <a:endParaRPr/>
          </a:p>
        </p:txBody>
      </p:sp>
      <p:sp>
        <p:nvSpPr>
          <p:cNvPr id="142" name="Google Shape;142;p15"/>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935"/>
              <a:buNone/>
            </a:pPr>
            <a:r>
              <a:rPr b="1" lang="en" sz="1360"/>
              <a:t>Installation (Or you can go here, [https://getbootstrap.com/])</a:t>
            </a:r>
            <a:endParaRPr b="1" sz="1360"/>
          </a:p>
          <a:p>
            <a:pPr indent="0" lvl="0" marL="0" rtl="0" algn="l">
              <a:lnSpc>
                <a:spcPct val="105000"/>
              </a:lnSpc>
              <a:spcBef>
                <a:spcPts val="0"/>
              </a:spcBef>
              <a:spcAft>
                <a:spcPts val="0"/>
              </a:spcAft>
              <a:buSzPts val="935"/>
              <a:buNone/>
            </a:pPr>
            <a:r>
              <a:rPr b="1" lang="en" sz="1360"/>
              <a:t>Via CDN:</a:t>
            </a:r>
            <a:endParaRPr b="1" sz="1360"/>
          </a:p>
          <a:p>
            <a:pPr indent="-314960" lvl="0" marL="457200" rtl="0" algn="l">
              <a:spcBef>
                <a:spcPts val="0"/>
              </a:spcBef>
              <a:spcAft>
                <a:spcPts val="0"/>
              </a:spcAft>
              <a:buSzPts val="1360"/>
              <a:buChar char="●"/>
            </a:pP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link </a:t>
            </a:r>
            <a:r>
              <a:rPr lang="en" sz="950">
                <a:solidFill>
                  <a:srgbClr val="084298"/>
                </a:solidFill>
                <a:latin typeface="Courier New"/>
                <a:ea typeface="Courier New"/>
                <a:cs typeface="Courier New"/>
                <a:sym typeface="Courier New"/>
              </a:rPr>
              <a:t>href</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https://cdn.jsdelivr.net/npm/bootstrap@5.3.8/dist/css/bootstrap.min.css</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rel</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stylesheet</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integrity</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sha384-sRIl4kxILFvY47J16cr9ZwB07vP4J8+LH7qKQnuqkuIAvNWLzeN8tE5YBujZqJLB</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crossorigin</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anonymous</a:t>
            </a:r>
            <a:r>
              <a:rPr lang="en" sz="950">
                <a:solidFill>
                  <a:srgbClr val="333333"/>
                </a:solidFill>
                <a:latin typeface="Courier New"/>
                <a:ea typeface="Courier New"/>
                <a:cs typeface="Courier New"/>
                <a:sym typeface="Courier New"/>
              </a:rPr>
              <a:t>"&gt;</a:t>
            </a:r>
            <a:endParaRPr sz="1360"/>
          </a:p>
          <a:p>
            <a:pPr indent="-314960" lvl="0" marL="457200" rtl="0" algn="l">
              <a:spcBef>
                <a:spcPts val="0"/>
              </a:spcBef>
              <a:spcAft>
                <a:spcPts val="0"/>
              </a:spcAft>
              <a:buSzPts val="1360"/>
              <a:buChar char="●"/>
            </a:pP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script </a:t>
            </a:r>
            <a:r>
              <a:rPr lang="en" sz="950">
                <a:solidFill>
                  <a:srgbClr val="084298"/>
                </a:solidFill>
                <a:latin typeface="Courier New"/>
                <a:ea typeface="Courier New"/>
                <a:cs typeface="Courier New"/>
                <a:sym typeface="Courier New"/>
              </a:rPr>
              <a:t>src</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https://cdn.jsdelivr.net/npm/bootstrap@5.3.8/dist/js/bootstrap.bundle.min.js</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integrity</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sha384-FKyoEForCGlyvwx9Hj09JcYn3nv7wiPVlz7YYwJrWVcXK/BmnVDxM+D2scQbITxI</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crossorigin</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anonymous</a:t>
            </a:r>
            <a:r>
              <a:rPr lang="en" sz="950">
                <a:solidFill>
                  <a:srgbClr val="333333"/>
                </a:solidFill>
                <a:latin typeface="Courier New"/>
                <a:ea typeface="Courier New"/>
                <a:cs typeface="Courier New"/>
                <a:sym typeface="Courier New"/>
              </a:rPr>
              <a:t>"&gt;&lt;/</a:t>
            </a:r>
            <a:r>
              <a:rPr lang="en" sz="950">
                <a:solidFill>
                  <a:srgbClr val="C6303E"/>
                </a:solidFill>
                <a:latin typeface="Courier New"/>
                <a:ea typeface="Courier New"/>
                <a:cs typeface="Courier New"/>
                <a:sym typeface="Courier New"/>
              </a:rPr>
              <a:t>script</a:t>
            </a:r>
            <a:r>
              <a:rPr lang="en" sz="950">
                <a:solidFill>
                  <a:srgbClr val="333333"/>
                </a:solidFill>
                <a:latin typeface="Courier New"/>
                <a:ea typeface="Courier New"/>
                <a:cs typeface="Courier New"/>
                <a:sym typeface="Courier New"/>
              </a:rPr>
              <a:t>&gt;</a:t>
            </a:r>
            <a:endParaRPr sz="950">
              <a:solidFill>
                <a:srgbClr val="333333"/>
              </a:solidFill>
              <a:latin typeface="Courier New"/>
              <a:ea typeface="Courier New"/>
              <a:cs typeface="Courier New"/>
              <a:sym typeface="Courier New"/>
            </a:endParaRPr>
          </a:p>
          <a:p>
            <a:pPr indent="0" lvl="0" marL="0" rtl="0" algn="l">
              <a:lnSpc>
                <a:spcPct val="105000"/>
              </a:lnSpc>
              <a:spcBef>
                <a:spcPts val="0"/>
              </a:spcBef>
              <a:spcAft>
                <a:spcPts val="0"/>
              </a:spcAft>
              <a:buNone/>
            </a:pPr>
            <a:r>
              <a:t/>
            </a:r>
            <a:endParaRPr sz="136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 to Bootstrap 5 (cont’d)</a:t>
            </a:r>
            <a:endParaRPr/>
          </a:p>
        </p:txBody>
      </p:sp>
      <p:sp>
        <p:nvSpPr>
          <p:cNvPr id="148" name="Google Shape;148;p16"/>
          <p:cNvSpPr txBox="1"/>
          <p:nvPr>
            <p:ph idx="1" type="body"/>
          </p:nvPr>
        </p:nvSpPr>
        <p:spPr>
          <a:xfrm>
            <a:off x="819150" y="1539475"/>
            <a:ext cx="7505700" cy="35268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770"/>
              <a:buNone/>
            </a:pPr>
            <a:r>
              <a:rPr lang="en" sz="950">
                <a:solidFill>
                  <a:srgbClr val="333333"/>
                </a:solidFill>
                <a:latin typeface="Courier New"/>
                <a:ea typeface="Courier New"/>
                <a:cs typeface="Courier New"/>
                <a:sym typeface="Courier New"/>
              </a:rPr>
              <a:t>&lt;!</a:t>
            </a:r>
            <a:r>
              <a:rPr lang="en" sz="950">
                <a:solidFill>
                  <a:srgbClr val="565C64"/>
                </a:solidFill>
                <a:latin typeface="Courier New"/>
                <a:ea typeface="Courier New"/>
                <a:cs typeface="Courier New"/>
                <a:sym typeface="Courier New"/>
              </a:rPr>
              <a:t>doctype html</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770"/>
              <a:buNone/>
            </a:pP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html </a:t>
            </a:r>
            <a:r>
              <a:rPr lang="en" sz="950">
                <a:solidFill>
                  <a:srgbClr val="084298"/>
                </a:solidFill>
                <a:latin typeface="Courier New"/>
                <a:ea typeface="Courier New"/>
                <a:cs typeface="Courier New"/>
                <a:sym typeface="Courier New"/>
              </a:rPr>
              <a:t>lang</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en</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770"/>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head</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770"/>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meta </a:t>
            </a:r>
            <a:r>
              <a:rPr lang="en" sz="950">
                <a:solidFill>
                  <a:srgbClr val="084298"/>
                </a:solidFill>
                <a:latin typeface="Courier New"/>
                <a:ea typeface="Courier New"/>
                <a:cs typeface="Courier New"/>
                <a:sym typeface="Courier New"/>
              </a:rPr>
              <a:t>charset</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utf-8</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770"/>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meta </a:t>
            </a:r>
            <a:r>
              <a:rPr lang="en" sz="950">
                <a:solidFill>
                  <a:srgbClr val="084298"/>
                </a:solidFill>
                <a:latin typeface="Courier New"/>
                <a:ea typeface="Courier New"/>
                <a:cs typeface="Courier New"/>
                <a:sym typeface="Courier New"/>
              </a:rPr>
              <a:t>name</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viewport</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content</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width=device-width, initial-scale=1</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770"/>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title</a:t>
            </a:r>
            <a:r>
              <a:rPr lang="en" sz="950">
                <a:solidFill>
                  <a:srgbClr val="333333"/>
                </a:solidFill>
                <a:latin typeface="Courier New"/>
                <a:ea typeface="Courier New"/>
                <a:cs typeface="Courier New"/>
                <a:sym typeface="Courier New"/>
              </a:rPr>
              <a:t>&gt;</a:t>
            </a:r>
            <a:r>
              <a:rPr lang="en" sz="950">
                <a:solidFill>
                  <a:srgbClr val="212529"/>
                </a:solidFill>
                <a:latin typeface="Courier New"/>
                <a:ea typeface="Courier New"/>
                <a:cs typeface="Courier New"/>
                <a:sym typeface="Courier New"/>
              </a:rPr>
              <a:t>Bootstrap demo</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title</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770"/>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link </a:t>
            </a:r>
            <a:r>
              <a:rPr lang="en" sz="950">
                <a:solidFill>
                  <a:srgbClr val="084298"/>
                </a:solidFill>
                <a:latin typeface="Courier New"/>
                <a:ea typeface="Courier New"/>
                <a:cs typeface="Courier New"/>
                <a:sym typeface="Courier New"/>
              </a:rPr>
              <a:t>href</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https://cdn.jsdelivr.net/npm/bootstrap@5.3.8/dist/css/bootstrap.min.css</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rel</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stylesheet</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integrity</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sha384-sRIl4kxILFvY47J16cr9ZwB07vP4J8+LH7qKQnuqkuIAvNWLzeN8tE5YBujZqJLB</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crossorigin</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anonymous</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770"/>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head</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770"/>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body</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770"/>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h1</a:t>
            </a:r>
            <a:r>
              <a:rPr lang="en" sz="950">
                <a:solidFill>
                  <a:srgbClr val="333333"/>
                </a:solidFill>
                <a:latin typeface="Courier New"/>
                <a:ea typeface="Courier New"/>
                <a:cs typeface="Courier New"/>
                <a:sym typeface="Courier New"/>
              </a:rPr>
              <a:t>&gt;</a:t>
            </a:r>
            <a:r>
              <a:rPr lang="en" sz="950">
                <a:solidFill>
                  <a:srgbClr val="212529"/>
                </a:solidFill>
                <a:latin typeface="Courier New"/>
                <a:ea typeface="Courier New"/>
                <a:cs typeface="Courier New"/>
                <a:sym typeface="Courier New"/>
              </a:rPr>
              <a:t>Hello, world!</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h1</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770"/>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script </a:t>
            </a:r>
            <a:r>
              <a:rPr lang="en" sz="950">
                <a:solidFill>
                  <a:srgbClr val="084298"/>
                </a:solidFill>
                <a:latin typeface="Courier New"/>
                <a:ea typeface="Courier New"/>
                <a:cs typeface="Courier New"/>
                <a:sym typeface="Courier New"/>
              </a:rPr>
              <a:t>src</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https://cdn.jsdelivr.net/npm/bootstrap@5.3.8/dist/js/bootstrap.bundle.min.js</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integrity</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sha384-FKyoEForCGlyvwx9Hj09JcYn3nv7wiPVlz7YYwJrWVcXK/BmnVDxM+D2scQbITxI</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crossorigin</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anonymous</a:t>
            </a:r>
            <a:r>
              <a:rPr lang="en" sz="950">
                <a:solidFill>
                  <a:srgbClr val="333333"/>
                </a:solidFill>
                <a:latin typeface="Courier New"/>
                <a:ea typeface="Courier New"/>
                <a:cs typeface="Courier New"/>
                <a:sym typeface="Courier New"/>
              </a:rPr>
              <a:t>"&gt;&lt;/</a:t>
            </a:r>
            <a:r>
              <a:rPr lang="en" sz="950">
                <a:solidFill>
                  <a:srgbClr val="C6303E"/>
                </a:solidFill>
                <a:latin typeface="Courier New"/>
                <a:ea typeface="Courier New"/>
                <a:cs typeface="Courier New"/>
                <a:sym typeface="Courier New"/>
              </a:rPr>
              <a:t>script</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770"/>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body</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html</a:t>
            </a:r>
            <a:r>
              <a:rPr lang="en" sz="950">
                <a:solidFill>
                  <a:srgbClr val="333333"/>
                </a:solidFill>
                <a:latin typeface="Courier New"/>
                <a:ea typeface="Courier New"/>
                <a:cs typeface="Courier New"/>
                <a:sym typeface="Courier New"/>
              </a:rPr>
              <a:t>&gt;</a:t>
            </a:r>
            <a:endParaRPr sz="131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 to Bootstrap 5 (cont’d)</a:t>
            </a:r>
            <a:endParaRPr/>
          </a:p>
        </p:txBody>
      </p:sp>
      <p:sp>
        <p:nvSpPr>
          <p:cNvPr id="154" name="Google Shape;154;p17"/>
          <p:cNvSpPr txBox="1"/>
          <p:nvPr>
            <p:ph idx="1" type="body"/>
          </p:nvPr>
        </p:nvSpPr>
        <p:spPr>
          <a:xfrm>
            <a:off x="819150" y="1990725"/>
            <a:ext cx="7505700" cy="27468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1018"/>
              <a:buNone/>
            </a:pPr>
            <a:r>
              <a:rPr b="1" lang="en" sz="1680"/>
              <a:t>Containers</a:t>
            </a:r>
            <a:r>
              <a:rPr lang="en" sz="1680"/>
              <a:t> are a fundamental building block of Bootstrap that contain, pad, and align your content within a given device or viewport.</a:t>
            </a:r>
            <a:endParaRPr sz="1680"/>
          </a:p>
          <a:p>
            <a:pPr indent="0" lvl="0" marL="0" rtl="0" algn="l">
              <a:lnSpc>
                <a:spcPct val="95000"/>
              </a:lnSpc>
              <a:spcBef>
                <a:spcPts val="1200"/>
              </a:spcBef>
              <a:spcAft>
                <a:spcPts val="0"/>
              </a:spcAft>
              <a:buSzPts val="1018"/>
              <a:buNone/>
            </a:pPr>
            <a:r>
              <a:rPr lang="en" sz="1079">
                <a:solidFill>
                  <a:srgbClr val="333333"/>
                </a:solidFill>
                <a:latin typeface="Courier New"/>
                <a:ea typeface="Courier New"/>
                <a:cs typeface="Courier New"/>
                <a:sym typeface="Courier New"/>
              </a:rPr>
              <a:t>&lt;</a:t>
            </a:r>
            <a:r>
              <a:rPr lang="en" sz="1079">
                <a:solidFill>
                  <a:srgbClr val="C6303E"/>
                </a:solidFill>
                <a:latin typeface="Courier New"/>
                <a:ea typeface="Courier New"/>
                <a:cs typeface="Courier New"/>
                <a:sym typeface="Courier New"/>
              </a:rPr>
              <a:t>div </a:t>
            </a:r>
            <a:r>
              <a:rPr lang="en" sz="1079">
                <a:solidFill>
                  <a:srgbClr val="084298"/>
                </a:solidFill>
                <a:latin typeface="Courier New"/>
                <a:ea typeface="Courier New"/>
                <a:cs typeface="Courier New"/>
                <a:sym typeface="Courier New"/>
              </a:rPr>
              <a:t>class</a:t>
            </a:r>
            <a:r>
              <a:rPr lang="en" sz="1079">
                <a:solidFill>
                  <a:srgbClr val="333333"/>
                </a:solidFill>
                <a:latin typeface="Courier New"/>
                <a:ea typeface="Courier New"/>
                <a:cs typeface="Courier New"/>
                <a:sym typeface="Courier New"/>
              </a:rPr>
              <a:t>="</a:t>
            </a:r>
            <a:r>
              <a:rPr lang="en" sz="1079">
                <a:solidFill>
                  <a:srgbClr val="AB296A"/>
                </a:solidFill>
                <a:latin typeface="Courier New"/>
                <a:ea typeface="Courier New"/>
                <a:cs typeface="Courier New"/>
                <a:sym typeface="Courier New"/>
              </a:rPr>
              <a:t>container</a:t>
            </a:r>
            <a:r>
              <a:rPr lang="en" sz="1079">
                <a:solidFill>
                  <a:srgbClr val="333333"/>
                </a:solidFill>
                <a:latin typeface="Courier New"/>
                <a:ea typeface="Courier New"/>
                <a:cs typeface="Courier New"/>
                <a:sym typeface="Courier New"/>
              </a:rPr>
              <a:t>"&gt;</a:t>
            </a:r>
            <a:endParaRPr sz="1079">
              <a:solidFill>
                <a:srgbClr val="212529"/>
              </a:solidFill>
              <a:latin typeface="Courier New"/>
              <a:ea typeface="Courier New"/>
              <a:cs typeface="Courier New"/>
              <a:sym typeface="Courier New"/>
            </a:endParaRPr>
          </a:p>
          <a:p>
            <a:pPr indent="0" lvl="0" marL="0" rtl="0" algn="l">
              <a:lnSpc>
                <a:spcPct val="95000"/>
              </a:lnSpc>
              <a:spcBef>
                <a:spcPts val="1200"/>
              </a:spcBef>
              <a:spcAft>
                <a:spcPts val="0"/>
              </a:spcAft>
              <a:buSzPts val="1018"/>
              <a:buNone/>
            </a:pPr>
            <a:r>
              <a:rPr lang="en" sz="1079">
                <a:solidFill>
                  <a:srgbClr val="212529"/>
                </a:solidFill>
                <a:latin typeface="Courier New"/>
                <a:ea typeface="Courier New"/>
                <a:cs typeface="Courier New"/>
                <a:sym typeface="Courier New"/>
              </a:rPr>
              <a:t>  </a:t>
            </a:r>
            <a:r>
              <a:rPr lang="en" sz="1079">
                <a:solidFill>
                  <a:srgbClr val="565C64"/>
                </a:solidFill>
                <a:latin typeface="Courier New"/>
                <a:ea typeface="Courier New"/>
                <a:cs typeface="Courier New"/>
                <a:sym typeface="Courier New"/>
              </a:rPr>
              <a:t>&lt;!-- Content here --&gt;</a:t>
            </a:r>
            <a:endParaRPr sz="1079">
              <a:solidFill>
                <a:srgbClr val="212529"/>
              </a:solidFill>
              <a:latin typeface="Courier New"/>
              <a:ea typeface="Courier New"/>
              <a:cs typeface="Courier New"/>
              <a:sym typeface="Courier New"/>
            </a:endParaRPr>
          </a:p>
          <a:p>
            <a:pPr indent="0" lvl="0" marL="0" rtl="0" algn="l">
              <a:lnSpc>
                <a:spcPct val="95000"/>
              </a:lnSpc>
              <a:spcBef>
                <a:spcPts val="1200"/>
              </a:spcBef>
              <a:spcAft>
                <a:spcPts val="0"/>
              </a:spcAft>
              <a:buSzPts val="1018"/>
              <a:buNone/>
            </a:pPr>
            <a:r>
              <a:rPr lang="en" sz="1079">
                <a:solidFill>
                  <a:srgbClr val="333333"/>
                </a:solidFill>
                <a:latin typeface="Courier New"/>
                <a:ea typeface="Courier New"/>
                <a:cs typeface="Courier New"/>
                <a:sym typeface="Courier New"/>
              </a:rPr>
              <a:t>&lt;/</a:t>
            </a:r>
            <a:r>
              <a:rPr lang="en" sz="1079">
                <a:solidFill>
                  <a:srgbClr val="C6303E"/>
                </a:solidFill>
                <a:latin typeface="Courier New"/>
                <a:ea typeface="Courier New"/>
                <a:cs typeface="Courier New"/>
                <a:sym typeface="Courier New"/>
              </a:rPr>
              <a:t>div</a:t>
            </a:r>
            <a:r>
              <a:rPr lang="en" sz="1079">
                <a:solidFill>
                  <a:srgbClr val="333333"/>
                </a:solidFill>
                <a:latin typeface="Courier New"/>
                <a:ea typeface="Courier New"/>
                <a:cs typeface="Courier New"/>
                <a:sym typeface="Courier New"/>
              </a:rPr>
              <a:t>&gt;</a:t>
            </a:r>
            <a:endParaRPr i="1" sz="1680"/>
          </a:p>
          <a:p>
            <a:pPr indent="0" lvl="0" marL="0" rtl="0" algn="l">
              <a:lnSpc>
                <a:spcPct val="95000"/>
              </a:lnSpc>
              <a:spcBef>
                <a:spcPts val="0"/>
              </a:spcBef>
              <a:spcAft>
                <a:spcPts val="0"/>
              </a:spcAft>
              <a:buSzPts val="1018"/>
              <a:buNone/>
            </a:pPr>
            <a:r>
              <a:rPr b="1" lang="en" sz="1680"/>
              <a:t>Responsive container</a:t>
            </a:r>
            <a:endParaRPr b="1" sz="1680"/>
          </a:p>
          <a:p>
            <a:pPr indent="0" lvl="0" marL="0" rtl="0" algn="l">
              <a:lnSpc>
                <a:spcPct val="95000"/>
              </a:lnSpc>
              <a:spcBef>
                <a:spcPts val="1200"/>
              </a:spcBef>
              <a:spcAft>
                <a:spcPts val="0"/>
              </a:spcAft>
              <a:buSzPts val="1018"/>
              <a:buNone/>
            </a:pPr>
            <a:r>
              <a:rPr lang="en" sz="1310">
                <a:solidFill>
                  <a:srgbClr val="212529"/>
                </a:solidFill>
                <a:highlight>
                  <a:srgbClr val="FFFFFF"/>
                </a:highlight>
                <a:latin typeface="Roboto"/>
                <a:ea typeface="Roboto"/>
                <a:cs typeface="Roboto"/>
                <a:sym typeface="Roboto"/>
              </a:rPr>
              <a:t>allow you to specify a class that is 100% wide until the specified breakpoint is reached, after which we apply </a:t>
            </a:r>
            <a:r>
              <a:rPr lang="en" sz="1079">
                <a:solidFill>
                  <a:srgbClr val="D63384"/>
                </a:solidFill>
                <a:highlight>
                  <a:srgbClr val="FFFFFF"/>
                </a:highlight>
                <a:latin typeface="Courier New"/>
                <a:ea typeface="Courier New"/>
                <a:cs typeface="Courier New"/>
                <a:sym typeface="Courier New"/>
              </a:rPr>
              <a:t>max-width</a:t>
            </a:r>
            <a:r>
              <a:rPr lang="en" sz="1310">
                <a:solidFill>
                  <a:srgbClr val="212529"/>
                </a:solidFill>
                <a:highlight>
                  <a:srgbClr val="FFFFFF"/>
                </a:highlight>
                <a:latin typeface="Roboto"/>
                <a:ea typeface="Roboto"/>
                <a:cs typeface="Roboto"/>
                <a:sym typeface="Roboto"/>
              </a:rPr>
              <a:t>s for each of the higher breakpoints. </a:t>
            </a:r>
            <a:endParaRPr b="1" sz="1680"/>
          </a:p>
          <a:p>
            <a:pPr indent="0" lvl="0" marL="0" rtl="0" algn="l">
              <a:lnSpc>
                <a:spcPct val="95000"/>
              </a:lnSpc>
              <a:spcBef>
                <a:spcPts val="1200"/>
              </a:spcBef>
              <a:spcAft>
                <a:spcPts val="1200"/>
              </a:spcAft>
              <a:buSzPts val="1018"/>
              <a:buNone/>
            </a:pPr>
            <a:r>
              <a:rPr lang="en" sz="1079">
                <a:solidFill>
                  <a:srgbClr val="C6303E"/>
                </a:solidFill>
                <a:latin typeface="Courier New"/>
                <a:ea typeface="Courier New"/>
                <a:cs typeface="Courier New"/>
                <a:sym typeface="Courier New"/>
              </a:rPr>
              <a:t>div </a:t>
            </a:r>
            <a:r>
              <a:rPr lang="en" sz="1079">
                <a:solidFill>
                  <a:srgbClr val="084298"/>
                </a:solidFill>
                <a:latin typeface="Courier New"/>
                <a:ea typeface="Courier New"/>
                <a:cs typeface="Courier New"/>
                <a:sym typeface="Courier New"/>
              </a:rPr>
              <a:t>class</a:t>
            </a:r>
            <a:r>
              <a:rPr lang="en" sz="1079">
                <a:solidFill>
                  <a:srgbClr val="333333"/>
                </a:solidFill>
                <a:latin typeface="Courier New"/>
                <a:ea typeface="Courier New"/>
                <a:cs typeface="Courier New"/>
                <a:sym typeface="Courier New"/>
              </a:rPr>
              <a:t>="</a:t>
            </a:r>
            <a:r>
              <a:rPr lang="en" sz="1079">
                <a:solidFill>
                  <a:srgbClr val="AB296A"/>
                </a:solidFill>
                <a:latin typeface="Courier New"/>
                <a:ea typeface="Courier New"/>
                <a:cs typeface="Courier New"/>
                <a:sym typeface="Courier New"/>
              </a:rPr>
              <a:t>container-sm|md|lg|xl|xxl</a:t>
            </a:r>
            <a:r>
              <a:rPr lang="en" sz="1079">
                <a:solidFill>
                  <a:srgbClr val="333333"/>
                </a:solidFill>
                <a:latin typeface="Courier New"/>
                <a:ea typeface="Courier New"/>
                <a:cs typeface="Courier New"/>
                <a:sym typeface="Courier New"/>
              </a:rPr>
              <a:t>"&gt;&lt;/</a:t>
            </a:r>
            <a:r>
              <a:rPr lang="en" sz="1079">
                <a:solidFill>
                  <a:srgbClr val="C6303E"/>
                </a:solidFill>
                <a:latin typeface="Courier New"/>
                <a:ea typeface="Courier New"/>
                <a:cs typeface="Courier New"/>
                <a:sym typeface="Courier New"/>
              </a:rPr>
              <a:t>div</a:t>
            </a:r>
            <a:r>
              <a:rPr lang="en" sz="1079">
                <a:solidFill>
                  <a:srgbClr val="333333"/>
                </a:solidFill>
                <a:latin typeface="Courier New"/>
                <a:ea typeface="Courier New"/>
                <a:cs typeface="Courier New"/>
                <a:sym typeface="Courier New"/>
              </a:rPr>
              <a:t>&gt;</a:t>
            </a:r>
            <a:endParaRPr i="1" sz="168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 to Bootstrap 5 (cont’d)</a:t>
            </a:r>
            <a:endParaRPr/>
          </a:p>
        </p:txBody>
      </p:sp>
      <p:sp>
        <p:nvSpPr>
          <p:cNvPr id="160" name="Google Shape;160;p18"/>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lang="en" sz="1600">
                <a:solidFill>
                  <a:srgbClr val="212529"/>
                </a:solidFill>
                <a:highlight>
                  <a:srgbClr val="FFFFFF"/>
                </a:highlight>
                <a:latin typeface="Roboto"/>
                <a:ea typeface="Roboto"/>
                <a:cs typeface="Roboto"/>
                <a:sym typeface="Roboto"/>
              </a:rPr>
              <a:t>Use </a:t>
            </a:r>
            <a:r>
              <a:rPr lang="en" sz="1350">
                <a:solidFill>
                  <a:srgbClr val="D63384"/>
                </a:solidFill>
                <a:highlight>
                  <a:srgbClr val="FFFFFF"/>
                </a:highlight>
                <a:latin typeface="Courier New"/>
                <a:ea typeface="Courier New"/>
                <a:cs typeface="Courier New"/>
                <a:sym typeface="Courier New"/>
              </a:rPr>
              <a:t>.container-fluid</a:t>
            </a:r>
            <a:r>
              <a:rPr lang="en" sz="1600">
                <a:solidFill>
                  <a:srgbClr val="212529"/>
                </a:solidFill>
                <a:highlight>
                  <a:srgbClr val="FFFFFF"/>
                </a:highlight>
                <a:latin typeface="Roboto"/>
                <a:ea typeface="Roboto"/>
                <a:cs typeface="Roboto"/>
                <a:sym typeface="Roboto"/>
              </a:rPr>
              <a:t> for a full width container, spanning the entire width of the viewport.</a:t>
            </a:r>
            <a:endParaRPr sz="1600">
              <a:solidFill>
                <a:srgbClr val="212529"/>
              </a:solidFill>
              <a:highlight>
                <a:srgbClr val="FFFFFF"/>
              </a:highlight>
              <a:latin typeface="Roboto"/>
              <a:ea typeface="Roboto"/>
              <a:cs typeface="Roboto"/>
              <a:sym typeface="Roboto"/>
            </a:endParaRPr>
          </a:p>
          <a:p>
            <a:pPr indent="0" lvl="0" marL="0" rtl="0" algn="l">
              <a:lnSpc>
                <a:spcPct val="95000"/>
              </a:lnSpc>
              <a:spcBef>
                <a:spcPts val="1200"/>
              </a:spcBef>
              <a:spcAft>
                <a:spcPts val="0"/>
              </a:spcAft>
              <a:buNone/>
            </a:pPr>
            <a:r>
              <a:rPr lang="en" sz="1350">
                <a:solidFill>
                  <a:srgbClr val="333333"/>
                </a:solidFill>
                <a:latin typeface="Courier New"/>
                <a:ea typeface="Courier New"/>
                <a:cs typeface="Courier New"/>
                <a:sym typeface="Courier New"/>
              </a:rPr>
              <a:t>&lt;</a:t>
            </a:r>
            <a:r>
              <a:rPr lang="en" sz="1350">
                <a:solidFill>
                  <a:srgbClr val="C6303E"/>
                </a:solidFill>
                <a:latin typeface="Courier New"/>
                <a:ea typeface="Courier New"/>
                <a:cs typeface="Courier New"/>
                <a:sym typeface="Courier New"/>
              </a:rPr>
              <a:t>div </a:t>
            </a:r>
            <a:r>
              <a:rPr lang="en" sz="1350">
                <a:solidFill>
                  <a:srgbClr val="084298"/>
                </a:solidFill>
                <a:latin typeface="Courier New"/>
                <a:ea typeface="Courier New"/>
                <a:cs typeface="Courier New"/>
                <a:sym typeface="Courier New"/>
              </a:rPr>
              <a:t>class</a:t>
            </a:r>
            <a:r>
              <a:rPr lang="en" sz="1350">
                <a:solidFill>
                  <a:srgbClr val="333333"/>
                </a:solidFill>
                <a:latin typeface="Courier New"/>
                <a:ea typeface="Courier New"/>
                <a:cs typeface="Courier New"/>
                <a:sym typeface="Courier New"/>
              </a:rPr>
              <a:t>="</a:t>
            </a:r>
            <a:r>
              <a:rPr lang="en" sz="1350">
                <a:solidFill>
                  <a:srgbClr val="AB296A"/>
                </a:solidFill>
                <a:latin typeface="Courier New"/>
                <a:ea typeface="Courier New"/>
                <a:cs typeface="Courier New"/>
                <a:sym typeface="Courier New"/>
              </a:rPr>
              <a:t>container-fluid</a:t>
            </a:r>
            <a:r>
              <a:rPr lang="en" sz="1350">
                <a:solidFill>
                  <a:srgbClr val="333333"/>
                </a:solidFill>
                <a:latin typeface="Courier New"/>
                <a:ea typeface="Courier New"/>
                <a:cs typeface="Courier New"/>
                <a:sym typeface="Courier New"/>
              </a:rPr>
              <a:t>"&gt;</a:t>
            </a:r>
            <a:endParaRPr sz="1350">
              <a:solidFill>
                <a:srgbClr val="212529"/>
              </a:solidFill>
              <a:latin typeface="Courier New"/>
              <a:ea typeface="Courier New"/>
              <a:cs typeface="Courier New"/>
              <a:sym typeface="Courier New"/>
            </a:endParaRPr>
          </a:p>
          <a:p>
            <a:pPr indent="0" lvl="0" marL="0" rtl="0" algn="l">
              <a:lnSpc>
                <a:spcPct val="95000"/>
              </a:lnSpc>
              <a:spcBef>
                <a:spcPts val="1200"/>
              </a:spcBef>
              <a:spcAft>
                <a:spcPts val="0"/>
              </a:spcAft>
              <a:buNone/>
            </a:pPr>
            <a:r>
              <a:rPr lang="en" sz="1350">
                <a:solidFill>
                  <a:srgbClr val="212529"/>
                </a:solidFill>
                <a:latin typeface="Courier New"/>
                <a:ea typeface="Courier New"/>
                <a:cs typeface="Courier New"/>
                <a:sym typeface="Courier New"/>
              </a:rPr>
              <a:t>  ...</a:t>
            </a:r>
            <a:endParaRPr sz="1350">
              <a:solidFill>
                <a:srgbClr val="212529"/>
              </a:solidFill>
              <a:latin typeface="Courier New"/>
              <a:ea typeface="Courier New"/>
              <a:cs typeface="Courier New"/>
              <a:sym typeface="Courier New"/>
            </a:endParaRPr>
          </a:p>
          <a:p>
            <a:pPr indent="0" lvl="0" marL="0" rtl="0" algn="l">
              <a:spcBef>
                <a:spcPts val="1200"/>
              </a:spcBef>
              <a:spcAft>
                <a:spcPts val="0"/>
              </a:spcAft>
              <a:buNone/>
            </a:pPr>
            <a:r>
              <a:rPr lang="en" sz="1350">
                <a:solidFill>
                  <a:srgbClr val="333333"/>
                </a:solidFill>
                <a:latin typeface="Courier New"/>
                <a:ea typeface="Courier New"/>
                <a:cs typeface="Courier New"/>
                <a:sym typeface="Courier New"/>
              </a:rPr>
              <a:t>&lt;/</a:t>
            </a:r>
            <a:r>
              <a:rPr lang="en" sz="1350">
                <a:solidFill>
                  <a:srgbClr val="C6303E"/>
                </a:solidFill>
                <a:latin typeface="Courier New"/>
                <a:ea typeface="Courier New"/>
                <a:cs typeface="Courier New"/>
                <a:sym typeface="Courier New"/>
              </a:rPr>
              <a:t>div</a:t>
            </a:r>
            <a:r>
              <a:rPr lang="en" sz="1350">
                <a:solidFill>
                  <a:srgbClr val="333333"/>
                </a:solidFill>
                <a:latin typeface="Courier New"/>
                <a:ea typeface="Courier New"/>
                <a:cs typeface="Courier New"/>
                <a:sym typeface="Courier New"/>
              </a:rPr>
              <a:t>&gt;</a:t>
            </a:r>
            <a:endParaRPr sz="1350">
              <a:solidFill>
                <a:srgbClr val="333333"/>
              </a:solidFill>
              <a:latin typeface="Courier New"/>
              <a:ea typeface="Courier New"/>
              <a:cs typeface="Courier New"/>
              <a:sym typeface="Courier New"/>
            </a:endParaRPr>
          </a:p>
          <a:p>
            <a:pPr indent="0" lvl="0" marL="0" rtl="0" algn="l">
              <a:lnSpc>
                <a:spcPct val="95000"/>
              </a:lnSpc>
              <a:spcBef>
                <a:spcPts val="0"/>
              </a:spcBef>
              <a:spcAft>
                <a:spcPts val="0"/>
              </a:spcAft>
              <a:buNone/>
            </a:pPr>
            <a:r>
              <a:t/>
            </a:r>
            <a:endParaRPr sz="1600">
              <a:solidFill>
                <a:srgbClr val="212529"/>
              </a:solidFill>
              <a:highlight>
                <a:srgbClr val="FFFFFF"/>
              </a:highlight>
              <a:latin typeface="Roboto"/>
              <a:ea typeface="Roboto"/>
              <a:cs typeface="Roboto"/>
              <a:sym typeface="Roboto"/>
            </a:endParaRPr>
          </a:p>
          <a:p>
            <a:pPr indent="0" lvl="0" marL="0" rtl="0" algn="l">
              <a:lnSpc>
                <a:spcPct val="95000"/>
              </a:lnSpc>
              <a:spcBef>
                <a:spcPts val="1200"/>
              </a:spcBef>
              <a:spcAft>
                <a:spcPts val="1200"/>
              </a:spcAft>
              <a:buClr>
                <a:srgbClr val="000000"/>
              </a:buClr>
              <a:buSzPts val="1018"/>
              <a:buFont typeface="Arial"/>
              <a:buNone/>
            </a:pPr>
            <a:r>
              <a:t/>
            </a:r>
            <a:endParaRPr sz="1600">
              <a:solidFill>
                <a:srgbClr val="212529"/>
              </a:solidFill>
              <a:highlight>
                <a:srgbClr val="FFFFFF"/>
              </a:highlight>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 to Bootstrap 5 (cont’d)</a:t>
            </a:r>
            <a:endParaRPr/>
          </a:p>
        </p:txBody>
      </p:sp>
      <p:sp>
        <p:nvSpPr>
          <p:cNvPr id="166" name="Google Shape;166;p19"/>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853"/>
              <a:buNone/>
            </a:pPr>
            <a:r>
              <a:rPr lang="en" sz="1230">
                <a:solidFill>
                  <a:srgbClr val="212529"/>
                </a:solidFill>
                <a:highlight>
                  <a:srgbClr val="FFFFFF"/>
                </a:highlight>
                <a:latin typeface="Roboto"/>
                <a:ea typeface="Roboto"/>
                <a:cs typeface="Roboto"/>
                <a:sym typeface="Roboto"/>
              </a:rPr>
              <a:t>Bootstrap’s grid system uses a series of containers, rows, and columns to layout and align content. It’s built with</a:t>
            </a:r>
            <a:r>
              <a:rPr lang="en" sz="1230">
                <a:solidFill>
                  <a:srgbClr val="212529"/>
                </a:solidFill>
                <a:highlight>
                  <a:srgbClr val="FFFFFF"/>
                </a:highlight>
                <a:uFill>
                  <a:noFill/>
                </a:uFill>
                <a:latin typeface="Roboto"/>
                <a:ea typeface="Roboto"/>
                <a:cs typeface="Roboto"/>
                <a:sym typeface="Roboto"/>
                <a:hlinkClick r:id="rId3">
                  <a:extLst>
                    <a:ext uri="{A12FA001-AC4F-418D-AE19-62706E023703}">
                      <ahyp:hlinkClr val="tx"/>
                    </a:ext>
                  </a:extLst>
                </a:hlinkClick>
              </a:rPr>
              <a:t> </a:t>
            </a:r>
            <a:r>
              <a:rPr lang="en" sz="1230" u="sng">
                <a:solidFill>
                  <a:srgbClr val="0D6EFD"/>
                </a:solidFill>
                <a:highlight>
                  <a:srgbClr val="FFFFFF"/>
                </a:highlight>
                <a:latin typeface="Roboto"/>
                <a:ea typeface="Roboto"/>
                <a:cs typeface="Roboto"/>
                <a:sym typeface="Roboto"/>
                <a:hlinkClick r:id="rId4">
                  <a:extLst>
                    <a:ext uri="{A12FA001-AC4F-418D-AE19-62706E023703}">
                      <ahyp:hlinkClr val="tx"/>
                    </a:ext>
                  </a:extLst>
                </a:hlinkClick>
              </a:rPr>
              <a:t>flexbox</a:t>
            </a:r>
            <a:r>
              <a:rPr lang="en" sz="1230">
                <a:solidFill>
                  <a:srgbClr val="212529"/>
                </a:solidFill>
                <a:highlight>
                  <a:srgbClr val="FFFFFF"/>
                </a:highlight>
                <a:latin typeface="Roboto"/>
                <a:ea typeface="Roboto"/>
                <a:cs typeface="Roboto"/>
                <a:sym typeface="Roboto"/>
              </a:rPr>
              <a:t> and is fully responsive. </a:t>
            </a:r>
            <a:endParaRPr sz="1385"/>
          </a:p>
          <a:p>
            <a:pPr indent="0" lvl="0" marL="0" rtl="0" algn="l">
              <a:lnSpc>
                <a:spcPct val="95000"/>
              </a:lnSpc>
              <a:spcBef>
                <a:spcPts val="0"/>
              </a:spcBef>
              <a:spcAft>
                <a:spcPts val="0"/>
              </a:spcAft>
              <a:buSzPts val="853"/>
              <a:buNone/>
            </a:pPr>
            <a:r>
              <a:t/>
            </a:r>
            <a:endParaRPr sz="1385"/>
          </a:p>
          <a:p>
            <a:pPr indent="0" lvl="0" marL="0" rtl="0" algn="l">
              <a:lnSpc>
                <a:spcPct val="95000"/>
              </a:lnSpc>
              <a:spcBef>
                <a:spcPts val="0"/>
              </a:spcBef>
              <a:spcAft>
                <a:spcPts val="0"/>
              </a:spcAft>
              <a:buSzPts val="853"/>
              <a:buNone/>
            </a:pPr>
            <a:r>
              <a:rPr lang="en" sz="1036">
                <a:solidFill>
                  <a:srgbClr val="333333"/>
                </a:solidFill>
                <a:latin typeface="Courier New"/>
                <a:ea typeface="Courier New"/>
                <a:cs typeface="Courier New"/>
                <a:sym typeface="Courier New"/>
              </a:rPr>
              <a:t>&lt;</a:t>
            </a:r>
            <a:r>
              <a:rPr lang="en" sz="1036">
                <a:solidFill>
                  <a:srgbClr val="C6303E"/>
                </a:solidFill>
                <a:latin typeface="Courier New"/>
                <a:ea typeface="Courier New"/>
                <a:cs typeface="Courier New"/>
                <a:sym typeface="Courier New"/>
              </a:rPr>
              <a:t>div </a:t>
            </a:r>
            <a:r>
              <a:rPr lang="en" sz="1036">
                <a:solidFill>
                  <a:srgbClr val="084298"/>
                </a:solidFill>
                <a:latin typeface="Courier New"/>
                <a:ea typeface="Courier New"/>
                <a:cs typeface="Courier New"/>
                <a:sym typeface="Courier New"/>
              </a:rPr>
              <a:t>class</a:t>
            </a:r>
            <a:r>
              <a:rPr lang="en" sz="1036">
                <a:solidFill>
                  <a:srgbClr val="333333"/>
                </a:solidFill>
                <a:latin typeface="Courier New"/>
                <a:ea typeface="Courier New"/>
                <a:cs typeface="Courier New"/>
                <a:sym typeface="Courier New"/>
              </a:rPr>
              <a:t>="</a:t>
            </a:r>
            <a:r>
              <a:rPr lang="en" sz="1036">
                <a:solidFill>
                  <a:srgbClr val="AB296A"/>
                </a:solidFill>
                <a:latin typeface="Courier New"/>
                <a:ea typeface="Courier New"/>
                <a:cs typeface="Courier New"/>
                <a:sym typeface="Courier New"/>
              </a:rPr>
              <a:t>container text-center</a:t>
            </a:r>
            <a:r>
              <a:rPr lang="en" sz="1036">
                <a:solidFill>
                  <a:srgbClr val="333333"/>
                </a:solidFill>
                <a:latin typeface="Courier New"/>
                <a:ea typeface="Courier New"/>
                <a:cs typeface="Courier New"/>
                <a:sym typeface="Courier New"/>
              </a:rPr>
              <a:t>"&gt;</a:t>
            </a:r>
            <a:endParaRPr sz="1036">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853"/>
              <a:buNone/>
            </a:pPr>
            <a:r>
              <a:rPr lang="en" sz="1036">
                <a:solidFill>
                  <a:srgbClr val="212529"/>
                </a:solidFill>
                <a:latin typeface="Courier New"/>
                <a:ea typeface="Courier New"/>
                <a:cs typeface="Courier New"/>
                <a:sym typeface="Courier New"/>
              </a:rPr>
              <a:t>  </a:t>
            </a:r>
            <a:r>
              <a:rPr lang="en" sz="1036">
                <a:solidFill>
                  <a:srgbClr val="333333"/>
                </a:solidFill>
                <a:latin typeface="Courier New"/>
                <a:ea typeface="Courier New"/>
                <a:cs typeface="Courier New"/>
                <a:sym typeface="Courier New"/>
              </a:rPr>
              <a:t>&lt;</a:t>
            </a:r>
            <a:r>
              <a:rPr lang="en" sz="1036">
                <a:solidFill>
                  <a:srgbClr val="C6303E"/>
                </a:solidFill>
                <a:latin typeface="Courier New"/>
                <a:ea typeface="Courier New"/>
                <a:cs typeface="Courier New"/>
                <a:sym typeface="Courier New"/>
              </a:rPr>
              <a:t>div </a:t>
            </a:r>
            <a:r>
              <a:rPr lang="en" sz="1036">
                <a:solidFill>
                  <a:srgbClr val="084298"/>
                </a:solidFill>
                <a:latin typeface="Courier New"/>
                <a:ea typeface="Courier New"/>
                <a:cs typeface="Courier New"/>
                <a:sym typeface="Courier New"/>
              </a:rPr>
              <a:t>class</a:t>
            </a:r>
            <a:r>
              <a:rPr lang="en" sz="1036">
                <a:solidFill>
                  <a:srgbClr val="333333"/>
                </a:solidFill>
                <a:latin typeface="Courier New"/>
                <a:ea typeface="Courier New"/>
                <a:cs typeface="Courier New"/>
                <a:sym typeface="Courier New"/>
              </a:rPr>
              <a:t>="</a:t>
            </a:r>
            <a:r>
              <a:rPr lang="en" sz="1036">
                <a:solidFill>
                  <a:srgbClr val="AB296A"/>
                </a:solidFill>
                <a:latin typeface="Courier New"/>
                <a:ea typeface="Courier New"/>
                <a:cs typeface="Courier New"/>
                <a:sym typeface="Courier New"/>
              </a:rPr>
              <a:t>row</a:t>
            </a:r>
            <a:r>
              <a:rPr lang="en" sz="1036">
                <a:solidFill>
                  <a:srgbClr val="333333"/>
                </a:solidFill>
                <a:latin typeface="Courier New"/>
                <a:ea typeface="Courier New"/>
                <a:cs typeface="Courier New"/>
                <a:sym typeface="Courier New"/>
              </a:rPr>
              <a:t>"&gt;</a:t>
            </a:r>
            <a:endParaRPr sz="1036">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853"/>
              <a:buNone/>
            </a:pPr>
            <a:r>
              <a:rPr lang="en" sz="1036">
                <a:solidFill>
                  <a:srgbClr val="212529"/>
                </a:solidFill>
                <a:latin typeface="Courier New"/>
                <a:ea typeface="Courier New"/>
                <a:cs typeface="Courier New"/>
                <a:sym typeface="Courier New"/>
              </a:rPr>
              <a:t>    </a:t>
            </a:r>
            <a:r>
              <a:rPr lang="en" sz="1036">
                <a:solidFill>
                  <a:srgbClr val="333333"/>
                </a:solidFill>
                <a:latin typeface="Courier New"/>
                <a:ea typeface="Courier New"/>
                <a:cs typeface="Courier New"/>
                <a:sym typeface="Courier New"/>
              </a:rPr>
              <a:t>&lt;</a:t>
            </a:r>
            <a:r>
              <a:rPr lang="en" sz="1036">
                <a:solidFill>
                  <a:srgbClr val="C6303E"/>
                </a:solidFill>
                <a:latin typeface="Courier New"/>
                <a:ea typeface="Courier New"/>
                <a:cs typeface="Courier New"/>
                <a:sym typeface="Courier New"/>
              </a:rPr>
              <a:t>div </a:t>
            </a:r>
            <a:r>
              <a:rPr lang="en" sz="1036">
                <a:solidFill>
                  <a:srgbClr val="084298"/>
                </a:solidFill>
                <a:latin typeface="Courier New"/>
                <a:ea typeface="Courier New"/>
                <a:cs typeface="Courier New"/>
                <a:sym typeface="Courier New"/>
              </a:rPr>
              <a:t>class</a:t>
            </a:r>
            <a:r>
              <a:rPr lang="en" sz="1036">
                <a:solidFill>
                  <a:srgbClr val="333333"/>
                </a:solidFill>
                <a:latin typeface="Courier New"/>
                <a:ea typeface="Courier New"/>
                <a:cs typeface="Courier New"/>
                <a:sym typeface="Courier New"/>
              </a:rPr>
              <a:t>="</a:t>
            </a:r>
            <a:r>
              <a:rPr lang="en" sz="1036">
                <a:solidFill>
                  <a:srgbClr val="AB296A"/>
                </a:solidFill>
                <a:latin typeface="Courier New"/>
                <a:ea typeface="Courier New"/>
                <a:cs typeface="Courier New"/>
                <a:sym typeface="Courier New"/>
              </a:rPr>
              <a:t>col</a:t>
            </a:r>
            <a:r>
              <a:rPr lang="en" sz="1036">
                <a:solidFill>
                  <a:srgbClr val="333333"/>
                </a:solidFill>
                <a:latin typeface="Courier New"/>
                <a:ea typeface="Courier New"/>
                <a:cs typeface="Courier New"/>
                <a:sym typeface="Courier New"/>
              </a:rPr>
              <a:t>"&gt;</a:t>
            </a:r>
            <a:endParaRPr sz="1036">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853"/>
              <a:buNone/>
            </a:pPr>
            <a:r>
              <a:rPr lang="en" sz="1036">
                <a:solidFill>
                  <a:srgbClr val="212529"/>
                </a:solidFill>
                <a:latin typeface="Courier New"/>
                <a:ea typeface="Courier New"/>
                <a:cs typeface="Courier New"/>
                <a:sym typeface="Courier New"/>
              </a:rPr>
              <a:t>      Column</a:t>
            </a:r>
            <a:endParaRPr sz="1036">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853"/>
              <a:buNone/>
            </a:pPr>
            <a:r>
              <a:rPr lang="en" sz="1036">
                <a:solidFill>
                  <a:srgbClr val="212529"/>
                </a:solidFill>
                <a:latin typeface="Courier New"/>
                <a:ea typeface="Courier New"/>
                <a:cs typeface="Courier New"/>
                <a:sym typeface="Courier New"/>
              </a:rPr>
              <a:t>    </a:t>
            </a:r>
            <a:r>
              <a:rPr lang="en" sz="1036">
                <a:solidFill>
                  <a:srgbClr val="333333"/>
                </a:solidFill>
                <a:latin typeface="Courier New"/>
                <a:ea typeface="Courier New"/>
                <a:cs typeface="Courier New"/>
                <a:sym typeface="Courier New"/>
              </a:rPr>
              <a:t>&lt;/</a:t>
            </a:r>
            <a:r>
              <a:rPr lang="en" sz="1036">
                <a:solidFill>
                  <a:srgbClr val="C6303E"/>
                </a:solidFill>
                <a:latin typeface="Courier New"/>
                <a:ea typeface="Courier New"/>
                <a:cs typeface="Courier New"/>
                <a:sym typeface="Courier New"/>
              </a:rPr>
              <a:t>div</a:t>
            </a:r>
            <a:r>
              <a:rPr lang="en" sz="1036">
                <a:solidFill>
                  <a:srgbClr val="333333"/>
                </a:solidFill>
                <a:latin typeface="Courier New"/>
                <a:ea typeface="Courier New"/>
                <a:cs typeface="Courier New"/>
                <a:sym typeface="Courier New"/>
              </a:rPr>
              <a:t>&gt;</a:t>
            </a:r>
            <a:endParaRPr sz="1036">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853"/>
              <a:buNone/>
            </a:pPr>
            <a:r>
              <a:rPr lang="en" sz="1036">
                <a:solidFill>
                  <a:srgbClr val="212529"/>
                </a:solidFill>
                <a:latin typeface="Courier New"/>
                <a:ea typeface="Courier New"/>
                <a:cs typeface="Courier New"/>
                <a:sym typeface="Courier New"/>
              </a:rPr>
              <a:t>    </a:t>
            </a:r>
            <a:r>
              <a:rPr lang="en" sz="1036">
                <a:solidFill>
                  <a:srgbClr val="333333"/>
                </a:solidFill>
                <a:latin typeface="Courier New"/>
                <a:ea typeface="Courier New"/>
                <a:cs typeface="Courier New"/>
                <a:sym typeface="Courier New"/>
              </a:rPr>
              <a:t>&lt;</a:t>
            </a:r>
            <a:r>
              <a:rPr lang="en" sz="1036">
                <a:solidFill>
                  <a:srgbClr val="C6303E"/>
                </a:solidFill>
                <a:latin typeface="Courier New"/>
                <a:ea typeface="Courier New"/>
                <a:cs typeface="Courier New"/>
                <a:sym typeface="Courier New"/>
              </a:rPr>
              <a:t>div </a:t>
            </a:r>
            <a:r>
              <a:rPr lang="en" sz="1036">
                <a:solidFill>
                  <a:srgbClr val="084298"/>
                </a:solidFill>
                <a:latin typeface="Courier New"/>
                <a:ea typeface="Courier New"/>
                <a:cs typeface="Courier New"/>
                <a:sym typeface="Courier New"/>
              </a:rPr>
              <a:t>class</a:t>
            </a:r>
            <a:r>
              <a:rPr lang="en" sz="1036">
                <a:solidFill>
                  <a:srgbClr val="333333"/>
                </a:solidFill>
                <a:latin typeface="Courier New"/>
                <a:ea typeface="Courier New"/>
                <a:cs typeface="Courier New"/>
                <a:sym typeface="Courier New"/>
              </a:rPr>
              <a:t>="</a:t>
            </a:r>
            <a:r>
              <a:rPr lang="en" sz="1036">
                <a:solidFill>
                  <a:srgbClr val="AB296A"/>
                </a:solidFill>
                <a:latin typeface="Courier New"/>
                <a:ea typeface="Courier New"/>
                <a:cs typeface="Courier New"/>
                <a:sym typeface="Courier New"/>
              </a:rPr>
              <a:t>col</a:t>
            </a:r>
            <a:r>
              <a:rPr lang="en" sz="1036">
                <a:solidFill>
                  <a:srgbClr val="333333"/>
                </a:solidFill>
                <a:latin typeface="Courier New"/>
                <a:ea typeface="Courier New"/>
                <a:cs typeface="Courier New"/>
                <a:sym typeface="Courier New"/>
              </a:rPr>
              <a:t>"&gt;</a:t>
            </a:r>
            <a:endParaRPr sz="1036">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853"/>
              <a:buNone/>
            </a:pPr>
            <a:r>
              <a:rPr lang="en" sz="1036">
                <a:solidFill>
                  <a:srgbClr val="212529"/>
                </a:solidFill>
                <a:latin typeface="Courier New"/>
                <a:ea typeface="Courier New"/>
                <a:cs typeface="Courier New"/>
                <a:sym typeface="Courier New"/>
              </a:rPr>
              <a:t>      Column</a:t>
            </a:r>
            <a:endParaRPr sz="1036">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853"/>
              <a:buNone/>
            </a:pPr>
            <a:r>
              <a:rPr lang="en" sz="1036">
                <a:solidFill>
                  <a:srgbClr val="212529"/>
                </a:solidFill>
                <a:latin typeface="Courier New"/>
                <a:ea typeface="Courier New"/>
                <a:cs typeface="Courier New"/>
                <a:sym typeface="Courier New"/>
              </a:rPr>
              <a:t>    </a:t>
            </a:r>
            <a:r>
              <a:rPr lang="en" sz="1036">
                <a:solidFill>
                  <a:srgbClr val="333333"/>
                </a:solidFill>
                <a:latin typeface="Courier New"/>
                <a:ea typeface="Courier New"/>
                <a:cs typeface="Courier New"/>
                <a:sym typeface="Courier New"/>
              </a:rPr>
              <a:t>&lt;/</a:t>
            </a:r>
            <a:r>
              <a:rPr lang="en" sz="1036">
                <a:solidFill>
                  <a:srgbClr val="C6303E"/>
                </a:solidFill>
                <a:latin typeface="Courier New"/>
                <a:ea typeface="Courier New"/>
                <a:cs typeface="Courier New"/>
                <a:sym typeface="Courier New"/>
              </a:rPr>
              <a:t>div</a:t>
            </a:r>
            <a:r>
              <a:rPr lang="en" sz="1036">
                <a:solidFill>
                  <a:srgbClr val="333333"/>
                </a:solidFill>
                <a:latin typeface="Courier New"/>
                <a:ea typeface="Courier New"/>
                <a:cs typeface="Courier New"/>
                <a:sym typeface="Courier New"/>
              </a:rPr>
              <a:t>&gt;</a:t>
            </a:r>
            <a:endParaRPr sz="1036">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853"/>
              <a:buNone/>
            </a:pPr>
            <a:r>
              <a:rPr lang="en" sz="1036">
                <a:solidFill>
                  <a:srgbClr val="212529"/>
                </a:solidFill>
                <a:latin typeface="Courier New"/>
                <a:ea typeface="Courier New"/>
                <a:cs typeface="Courier New"/>
                <a:sym typeface="Courier New"/>
              </a:rPr>
              <a:t>    </a:t>
            </a:r>
            <a:r>
              <a:rPr lang="en" sz="1036">
                <a:solidFill>
                  <a:srgbClr val="333333"/>
                </a:solidFill>
                <a:latin typeface="Courier New"/>
                <a:ea typeface="Courier New"/>
                <a:cs typeface="Courier New"/>
                <a:sym typeface="Courier New"/>
              </a:rPr>
              <a:t>&lt;</a:t>
            </a:r>
            <a:r>
              <a:rPr lang="en" sz="1036">
                <a:solidFill>
                  <a:srgbClr val="C6303E"/>
                </a:solidFill>
                <a:latin typeface="Courier New"/>
                <a:ea typeface="Courier New"/>
                <a:cs typeface="Courier New"/>
                <a:sym typeface="Courier New"/>
              </a:rPr>
              <a:t>div </a:t>
            </a:r>
            <a:r>
              <a:rPr lang="en" sz="1036">
                <a:solidFill>
                  <a:srgbClr val="084298"/>
                </a:solidFill>
                <a:latin typeface="Courier New"/>
                <a:ea typeface="Courier New"/>
                <a:cs typeface="Courier New"/>
                <a:sym typeface="Courier New"/>
              </a:rPr>
              <a:t>class</a:t>
            </a:r>
            <a:r>
              <a:rPr lang="en" sz="1036">
                <a:solidFill>
                  <a:srgbClr val="333333"/>
                </a:solidFill>
                <a:latin typeface="Courier New"/>
                <a:ea typeface="Courier New"/>
                <a:cs typeface="Courier New"/>
                <a:sym typeface="Courier New"/>
              </a:rPr>
              <a:t>="</a:t>
            </a:r>
            <a:r>
              <a:rPr lang="en" sz="1036">
                <a:solidFill>
                  <a:srgbClr val="AB296A"/>
                </a:solidFill>
                <a:latin typeface="Courier New"/>
                <a:ea typeface="Courier New"/>
                <a:cs typeface="Courier New"/>
                <a:sym typeface="Courier New"/>
              </a:rPr>
              <a:t>col</a:t>
            </a:r>
            <a:r>
              <a:rPr lang="en" sz="1036">
                <a:solidFill>
                  <a:srgbClr val="333333"/>
                </a:solidFill>
                <a:latin typeface="Courier New"/>
                <a:ea typeface="Courier New"/>
                <a:cs typeface="Courier New"/>
                <a:sym typeface="Courier New"/>
              </a:rPr>
              <a:t>"&gt;</a:t>
            </a:r>
            <a:endParaRPr sz="1036">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853"/>
              <a:buNone/>
            </a:pPr>
            <a:r>
              <a:rPr lang="en" sz="1036">
                <a:solidFill>
                  <a:srgbClr val="212529"/>
                </a:solidFill>
                <a:latin typeface="Courier New"/>
                <a:ea typeface="Courier New"/>
                <a:cs typeface="Courier New"/>
                <a:sym typeface="Courier New"/>
              </a:rPr>
              <a:t>      Column</a:t>
            </a:r>
            <a:endParaRPr sz="1036">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853"/>
              <a:buNone/>
            </a:pPr>
            <a:r>
              <a:rPr lang="en" sz="1036">
                <a:solidFill>
                  <a:srgbClr val="212529"/>
                </a:solidFill>
                <a:latin typeface="Courier New"/>
                <a:ea typeface="Courier New"/>
                <a:cs typeface="Courier New"/>
                <a:sym typeface="Courier New"/>
              </a:rPr>
              <a:t>    </a:t>
            </a:r>
            <a:r>
              <a:rPr lang="en" sz="1036">
                <a:solidFill>
                  <a:srgbClr val="333333"/>
                </a:solidFill>
                <a:latin typeface="Courier New"/>
                <a:ea typeface="Courier New"/>
                <a:cs typeface="Courier New"/>
                <a:sym typeface="Courier New"/>
              </a:rPr>
              <a:t>&lt;/</a:t>
            </a:r>
            <a:r>
              <a:rPr lang="en" sz="1036">
                <a:solidFill>
                  <a:srgbClr val="C6303E"/>
                </a:solidFill>
                <a:latin typeface="Courier New"/>
                <a:ea typeface="Courier New"/>
                <a:cs typeface="Courier New"/>
                <a:sym typeface="Courier New"/>
              </a:rPr>
              <a:t>div</a:t>
            </a:r>
            <a:r>
              <a:rPr lang="en" sz="1036">
                <a:solidFill>
                  <a:srgbClr val="333333"/>
                </a:solidFill>
                <a:latin typeface="Courier New"/>
                <a:ea typeface="Courier New"/>
                <a:cs typeface="Courier New"/>
                <a:sym typeface="Courier New"/>
              </a:rPr>
              <a:t>&gt;</a:t>
            </a:r>
            <a:endParaRPr sz="1036">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853"/>
              <a:buNone/>
            </a:pPr>
            <a:r>
              <a:rPr lang="en" sz="1036">
                <a:solidFill>
                  <a:srgbClr val="212529"/>
                </a:solidFill>
                <a:latin typeface="Courier New"/>
                <a:ea typeface="Courier New"/>
                <a:cs typeface="Courier New"/>
                <a:sym typeface="Courier New"/>
              </a:rPr>
              <a:t>  </a:t>
            </a:r>
            <a:r>
              <a:rPr lang="en" sz="1036">
                <a:solidFill>
                  <a:srgbClr val="333333"/>
                </a:solidFill>
                <a:latin typeface="Courier New"/>
                <a:ea typeface="Courier New"/>
                <a:cs typeface="Courier New"/>
                <a:sym typeface="Courier New"/>
              </a:rPr>
              <a:t>&lt;/</a:t>
            </a:r>
            <a:r>
              <a:rPr lang="en" sz="1036">
                <a:solidFill>
                  <a:srgbClr val="C6303E"/>
                </a:solidFill>
                <a:latin typeface="Courier New"/>
                <a:ea typeface="Courier New"/>
                <a:cs typeface="Courier New"/>
                <a:sym typeface="Courier New"/>
              </a:rPr>
              <a:t>div</a:t>
            </a:r>
            <a:r>
              <a:rPr lang="en" sz="1036">
                <a:solidFill>
                  <a:srgbClr val="333333"/>
                </a:solidFill>
                <a:latin typeface="Courier New"/>
                <a:ea typeface="Courier New"/>
                <a:cs typeface="Courier New"/>
                <a:sym typeface="Courier New"/>
              </a:rPr>
              <a:t>&gt;</a:t>
            </a:r>
            <a:endParaRPr sz="1036">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853"/>
              <a:buNone/>
            </a:pPr>
            <a:r>
              <a:rPr lang="en" sz="1036">
                <a:solidFill>
                  <a:srgbClr val="333333"/>
                </a:solidFill>
                <a:latin typeface="Courier New"/>
                <a:ea typeface="Courier New"/>
                <a:cs typeface="Courier New"/>
                <a:sym typeface="Courier New"/>
              </a:rPr>
              <a:t>&lt;/</a:t>
            </a:r>
            <a:r>
              <a:rPr lang="en" sz="1036">
                <a:solidFill>
                  <a:srgbClr val="C6303E"/>
                </a:solidFill>
                <a:latin typeface="Courier New"/>
                <a:ea typeface="Courier New"/>
                <a:cs typeface="Courier New"/>
                <a:sym typeface="Courier New"/>
              </a:rPr>
              <a:t>div</a:t>
            </a:r>
            <a:r>
              <a:rPr lang="en" sz="1036">
                <a:solidFill>
                  <a:srgbClr val="333333"/>
                </a:solidFill>
                <a:latin typeface="Courier New"/>
                <a:ea typeface="Courier New"/>
                <a:cs typeface="Courier New"/>
                <a:sym typeface="Courier New"/>
              </a:rPr>
              <a:t>&gt;</a:t>
            </a:r>
            <a:endParaRPr sz="1036">
              <a:solidFill>
                <a:srgbClr val="333333"/>
              </a:solidFill>
              <a:latin typeface="Courier New"/>
              <a:ea typeface="Courier New"/>
              <a:cs typeface="Courier New"/>
              <a:sym typeface="Courier New"/>
            </a:endParaRPr>
          </a:p>
          <a:p>
            <a:pPr indent="0" lvl="0" marL="0" rtl="0" algn="l">
              <a:lnSpc>
                <a:spcPct val="95000"/>
              </a:lnSpc>
              <a:spcBef>
                <a:spcPts val="0"/>
              </a:spcBef>
              <a:spcAft>
                <a:spcPts val="0"/>
              </a:spcAft>
              <a:buSzPts val="853"/>
              <a:buNone/>
            </a:pPr>
            <a:r>
              <a:t/>
            </a:r>
            <a:endParaRPr b="1" i="1" sz="1385"/>
          </a:p>
          <a:p>
            <a:pPr indent="0" lvl="0" marL="0" rtl="0" algn="l">
              <a:lnSpc>
                <a:spcPct val="95000"/>
              </a:lnSpc>
              <a:spcBef>
                <a:spcPts val="0"/>
              </a:spcBef>
              <a:spcAft>
                <a:spcPts val="0"/>
              </a:spcAft>
              <a:buSzPts val="853"/>
              <a:buNone/>
            </a:pPr>
            <a:r>
              <a:t/>
            </a:r>
            <a:endParaRPr sz="1385"/>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 to Bootstrap 5 (cont’d)</a:t>
            </a:r>
            <a:endParaRPr/>
          </a:p>
        </p:txBody>
      </p:sp>
      <p:sp>
        <p:nvSpPr>
          <p:cNvPr id="172" name="Google Shape;172;p20"/>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solidFill>
                  <a:srgbClr val="212529"/>
                </a:solidFill>
                <a:highlight>
                  <a:srgbClr val="FFFFFF"/>
                </a:highlight>
                <a:latin typeface="Roboto"/>
                <a:ea typeface="Roboto"/>
                <a:cs typeface="Roboto"/>
                <a:sym typeface="Roboto"/>
              </a:rPr>
              <a:t>Bootstrap’s grid system can adapt across all six default breakpoints, and any breakpoints you customize. The six default grid tiers are as follows:</a:t>
            </a:r>
            <a:endParaRPr sz="1200">
              <a:solidFill>
                <a:srgbClr val="212529"/>
              </a:solidFill>
              <a:highlight>
                <a:srgbClr val="FFFFFF"/>
              </a:highlight>
              <a:latin typeface="Roboto"/>
              <a:ea typeface="Roboto"/>
              <a:cs typeface="Roboto"/>
              <a:sym typeface="Roboto"/>
            </a:endParaRPr>
          </a:p>
          <a:p>
            <a:pPr indent="-304800" lvl="0" marL="457200" rtl="0" algn="l">
              <a:spcBef>
                <a:spcPts val="1200"/>
              </a:spcBef>
              <a:spcAft>
                <a:spcPts val="0"/>
              </a:spcAft>
              <a:buClr>
                <a:srgbClr val="212529"/>
              </a:buClr>
              <a:buSzPts val="1200"/>
              <a:buFont typeface="Roboto"/>
              <a:buChar char="●"/>
            </a:pPr>
            <a:r>
              <a:rPr lang="en" sz="1200">
                <a:solidFill>
                  <a:srgbClr val="212529"/>
                </a:solidFill>
                <a:highlight>
                  <a:srgbClr val="FFFFFF"/>
                </a:highlight>
                <a:latin typeface="Roboto"/>
                <a:ea typeface="Roboto"/>
                <a:cs typeface="Roboto"/>
                <a:sym typeface="Roboto"/>
              </a:rPr>
              <a:t>Extra small (xs)</a:t>
            </a:r>
            <a:endParaRPr sz="1200">
              <a:solidFill>
                <a:srgbClr val="212529"/>
              </a:solidFill>
              <a:highlight>
                <a:srgbClr val="FFFFFF"/>
              </a:highlight>
              <a:latin typeface="Roboto"/>
              <a:ea typeface="Roboto"/>
              <a:cs typeface="Roboto"/>
              <a:sym typeface="Roboto"/>
            </a:endParaRPr>
          </a:p>
          <a:p>
            <a:pPr indent="-304800" lvl="0" marL="457200" rtl="0" algn="l">
              <a:spcBef>
                <a:spcPts val="0"/>
              </a:spcBef>
              <a:spcAft>
                <a:spcPts val="0"/>
              </a:spcAft>
              <a:buClr>
                <a:srgbClr val="212529"/>
              </a:buClr>
              <a:buSzPts val="1200"/>
              <a:buFont typeface="Roboto"/>
              <a:buChar char="●"/>
            </a:pPr>
            <a:r>
              <a:rPr lang="en" sz="1200">
                <a:solidFill>
                  <a:srgbClr val="212529"/>
                </a:solidFill>
                <a:highlight>
                  <a:srgbClr val="FFFFFF"/>
                </a:highlight>
                <a:latin typeface="Roboto"/>
                <a:ea typeface="Roboto"/>
                <a:cs typeface="Roboto"/>
                <a:sym typeface="Roboto"/>
              </a:rPr>
              <a:t>Small (sm)</a:t>
            </a:r>
            <a:endParaRPr sz="1200">
              <a:solidFill>
                <a:srgbClr val="212529"/>
              </a:solidFill>
              <a:highlight>
                <a:srgbClr val="FFFFFF"/>
              </a:highlight>
              <a:latin typeface="Roboto"/>
              <a:ea typeface="Roboto"/>
              <a:cs typeface="Roboto"/>
              <a:sym typeface="Roboto"/>
            </a:endParaRPr>
          </a:p>
          <a:p>
            <a:pPr indent="-304800" lvl="0" marL="457200" rtl="0" algn="l">
              <a:spcBef>
                <a:spcPts val="0"/>
              </a:spcBef>
              <a:spcAft>
                <a:spcPts val="0"/>
              </a:spcAft>
              <a:buClr>
                <a:srgbClr val="212529"/>
              </a:buClr>
              <a:buSzPts val="1200"/>
              <a:buFont typeface="Roboto"/>
              <a:buChar char="●"/>
            </a:pPr>
            <a:r>
              <a:rPr lang="en" sz="1200">
                <a:solidFill>
                  <a:srgbClr val="212529"/>
                </a:solidFill>
                <a:highlight>
                  <a:srgbClr val="FFFFFF"/>
                </a:highlight>
                <a:latin typeface="Roboto"/>
                <a:ea typeface="Roboto"/>
                <a:cs typeface="Roboto"/>
                <a:sym typeface="Roboto"/>
              </a:rPr>
              <a:t>Medium (md)</a:t>
            </a:r>
            <a:endParaRPr sz="1200">
              <a:solidFill>
                <a:srgbClr val="212529"/>
              </a:solidFill>
              <a:highlight>
                <a:srgbClr val="FFFFFF"/>
              </a:highlight>
              <a:latin typeface="Roboto"/>
              <a:ea typeface="Roboto"/>
              <a:cs typeface="Roboto"/>
              <a:sym typeface="Roboto"/>
            </a:endParaRPr>
          </a:p>
          <a:p>
            <a:pPr indent="-304800" lvl="0" marL="457200" rtl="0" algn="l">
              <a:spcBef>
                <a:spcPts val="0"/>
              </a:spcBef>
              <a:spcAft>
                <a:spcPts val="0"/>
              </a:spcAft>
              <a:buClr>
                <a:srgbClr val="212529"/>
              </a:buClr>
              <a:buSzPts val="1200"/>
              <a:buFont typeface="Roboto"/>
              <a:buChar char="●"/>
            </a:pPr>
            <a:r>
              <a:rPr lang="en" sz="1200">
                <a:solidFill>
                  <a:srgbClr val="212529"/>
                </a:solidFill>
                <a:highlight>
                  <a:srgbClr val="FFFFFF"/>
                </a:highlight>
                <a:latin typeface="Roboto"/>
                <a:ea typeface="Roboto"/>
                <a:cs typeface="Roboto"/>
                <a:sym typeface="Roboto"/>
              </a:rPr>
              <a:t>Large (lg)</a:t>
            </a:r>
            <a:endParaRPr sz="1200">
              <a:solidFill>
                <a:srgbClr val="212529"/>
              </a:solidFill>
              <a:highlight>
                <a:srgbClr val="FFFFFF"/>
              </a:highlight>
              <a:latin typeface="Roboto"/>
              <a:ea typeface="Roboto"/>
              <a:cs typeface="Roboto"/>
              <a:sym typeface="Roboto"/>
            </a:endParaRPr>
          </a:p>
          <a:p>
            <a:pPr indent="-304800" lvl="0" marL="457200" rtl="0" algn="l">
              <a:spcBef>
                <a:spcPts val="0"/>
              </a:spcBef>
              <a:spcAft>
                <a:spcPts val="0"/>
              </a:spcAft>
              <a:buClr>
                <a:srgbClr val="212529"/>
              </a:buClr>
              <a:buSzPts val="1200"/>
              <a:buFont typeface="Roboto"/>
              <a:buChar char="●"/>
            </a:pPr>
            <a:r>
              <a:rPr lang="en" sz="1200">
                <a:solidFill>
                  <a:srgbClr val="212529"/>
                </a:solidFill>
                <a:highlight>
                  <a:srgbClr val="FFFFFF"/>
                </a:highlight>
                <a:latin typeface="Roboto"/>
                <a:ea typeface="Roboto"/>
                <a:cs typeface="Roboto"/>
                <a:sym typeface="Roboto"/>
              </a:rPr>
              <a:t>Extra large (xl)</a:t>
            </a:r>
            <a:endParaRPr sz="1200">
              <a:solidFill>
                <a:srgbClr val="212529"/>
              </a:solidFill>
              <a:highlight>
                <a:srgbClr val="FFFFFF"/>
              </a:highlight>
              <a:latin typeface="Roboto"/>
              <a:ea typeface="Roboto"/>
              <a:cs typeface="Roboto"/>
              <a:sym typeface="Roboto"/>
            </a:endParaRPr>
          </a:p>
          <a:p>
            <a:pPr indent="-304800" lvl="0" marL="457200" rtl="0" algn="l">
              <a:spcBef>
                <a:spcPts val="0"/>
              </a:spcBef>
              <a:spcAft>
                <a:spcPts val="0"/>
              </a:spcAft>
              <a:buClr>
                <a:srgbClr val="212529"/>
              </a:buClr>
              <a:buSzPts val="1200"/>
              <a:buFont typeface="Roboto"/>
              <a:buChar char="●"/>
            </a:pPr>
            <a:r>
              <a:rPr lang="en" sz="1200">
                <a:solidFill>
                  <a:srgbClr val="212529"/>
                </a:solidFill>
                <a:highlight>
                  <a:srgbClr val="FFFFFF"/>
                </a:highlight>
                <a:latin typeface="Roboto"/>
                <a:ea typeface="Roboto"/>
                <a:cs typeface="Roboto"/>
                <a:sym typeface="Roboto"/>
              </a:rPr>
              <a:t>Extra extra large (xxl)</a:t>
            </a:r>
            <a:endParaRPr sz="1200">
              <a:solidFill>
                <a:srgbClr val="212529"/>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 to Bootstrap 5 (cont’d)</a:t>
            </a:r>
            <a:endParaRPr/>
          </a:p>
        </p:txBody>
      </p:sp>
      <p:sp>
        <p:nvSpPr>
          <p:cNvPr id="178" name="Google Shape;178;p21"/>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9" name="Google Shape;179;p21"/>
          <p:cNvPicPr preferRelativeResize="0"/>
          <p:nvPr/>
        </p:nvPicPr>
        <p:blipFill>
          <a:blip r:embed="rId3">
            <a:alphaModFix/>
          </a:blip>
          <a:stretch>
            <a:fillRect/>
          </a:stretch>
        </p:blipFill>
        <p:spPr>
          <a:xfrm>
            <a:off x="585775" y="1585950"/>
            <a:ext cx="7972425" cy="32575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Bootstrap Components (Button)</a:t>
            </a:r>
            <a:endParaRPr/>
          </a:p>
        </p:txBody>
      </p:sp>
      <p:sp>
        <p:nvSpPr>
          <p:cNvPr id="185" name="Google Shape;185;p22"/>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solidFill>
                  <a:srgbClr val="212529"/>
                </a:solidFill>
                <a:highlight>
                  <a:srgbClr val="FFFFFF"/>
                </a:highlight>
                <a:latin typeface="Roboto"/>
                <a:ea typeface="Roboto"/>
                <a:cs typeface="Roboto"/>
                <a:sym typeface="Roboto"/>
              </a:rPr>
              <a:t>Bootstrap has a base </a:t>
            </a:r>
            <a:r>
              <a:rPr lang="en" sz="950">
                <a:solidFill>
                  <a:srgbClr val="D63384"/>
                </a:solidFill>
                <a:highlight>
                  <a:srgbClr val="FFFFFF"/>
                </a:highlight>
                <a:latin typeface="Courier New"/>
                <a:ea typeface="Courier New"/>
                <a:cs typeface="Courier New"/>
                <a:sym typeface="Courier New"/>
              </a:rPr>
              <a:t>.btn</a:t>
            </a:r>
            <a:r>
              <a:rPr lang="en" sz="1200">
                <a:solidFill>
                  <a:srgbClr val="212529"/>
                </a:solidFill>
                <a:highlight>
                  <a:srgbClr val="FFFFFF"/>
                </a:highlight>
                <a:latin typeface="Roboto"/>
                <a:ea typeface="Roboto"/>
                <a:cs typeface="Roboto"/>
                <a:sym typeface="Roboto"/>
              </a:rPr>
              <a:t> class that sets up basic styles such as padding and content alignment. By default, </a:t>
            </a:r>
            <a:r>
              <a:rPr lang="en" sz="950">
                <a:solidFill>
                  <a:srgbClr val="D63384"/>
                </a:solidFill>
                <a:highlight>
                  <a:srgbClr val="FFFFFF"/>
                </a:highlight>
                <a:latin typeface="Courier New"/>
                <a:ea typeface="Courier New"/>
                <a:cs typeface="Courier New"/>
                <a:sym typeface="Courier New"/>
              </a:rPr>
              <a:t>.btn</a:t>
            </a:r>
            <a:r>
              <a:rPr lang="en" sz="1200">
                <a:solidFill>
                  <a:srgbClr val="212529"/>
                </a:solidFill>
                <a:highlight>
                  <a:srgbClr val="FFFFFF"/>
                </a:highlight>
                <a:latin typeface="Roboto"/>
                <a:ea typeface="Roboto"/>
                <a:cs typeface="Roboto"/>
                <a:sym typeface="Roboto"/>
              </a:rPr>
              <a:t> controls have a transparent border and background color, and lack any explicit focus and hover styles.</a:t>
            </a:r>
            <a:endParaRPr sz="1200">
              <a:solidFill>
                <a:srgbClr val="212529"/>
              </a:solidFill>
              <a:highlight>
                <a:srgbClr val="FFFFFF"/>
              </a:highlight>
              <a:latin typeface="Roboto"/>
              <a:ea typeface="Roboto"/>
              <a:cs typeface="Roboto"/>
              <a:sym typeface="Roboto"/>
            </a:endParaRPr>
          </a:p>
          <a:p>
            <a:pPr indent="0" lvl="0" marL="0" rtl="0" algn="l">
              <a:spcBef>
                <a:spcPts val="1200"/>
              </a:spcBef>
              <a:spcAft>
                <a:spcPts val="0"/>
              </a:spcAft>
              <a:buNone/>
            </a:pP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button </a:t>
            </a:r>
            <a:r>
              <a:rPr lang="en" sz="950">
                <a:solidFill>
                  <a:srgbClr val="084298"/>
                </a:solidFill>
                <a:latin typeface="Courier New"/>
                <a:ea typeface="Courier New"/>
                <a:cs typeface="Courier New"/>
                <a:sym typeface="Courier New"/>
              </a:rPr>
              <a:t>type</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button</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btn</a:t>
            </a:r>
            <a:r>
              <a:rPr lang="en" sz="950">
                <a:solidFill>
                  <a:srgbClr val="333333"/>
                </a:solidFill>
                <a:latin typeface="Courier New"/>
                <a:ea typeface="Courier New"/>
                <a:cs typeface="Courier New"/>
                <a:sym typeface="Courier New"/>
              </a:rPr>
              <a:t>"&gt;</a:t>
            </a:r>
            <a:r>
              <a:rPr lang="en" sz="950">
                <a:solidFill>
                  <a:srgbClr val="212529"/>
                </a:solidFill>
                <a:latin typeface="Courier New"/>
                <a:ea typeface="Courier New"/>
                <a:cs typeface="Courier New"/>
                <a:sym typeface="Courier New"/>
              </a:rPr>
              <a:t>Base class</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button</a:t>
            </a:r>
            <a:r>
              <a:rPr lang="en" sz="950">
                <a:solidFill>
                  <a:srgbClr val="333333"/>
                </a:solidFill>
                <a:latin typeface="Courier New"/>
                <a:ea typeface="Courier New"/>
                <a:cs typeface="Courier New"/>
                <a:sym typeface="Courier New"/>
              </a:rPr>
              <a:t>&gt;</a:t>
            </a:r>
            <a:endParaRPr sz="950">
              <a:solidFill>
                <a:srgbClr val="333333"/>
              </a:solidFill>
              <a:latin typeface="Courier New"/>
              <a:ea typeface="Courier New"/>
              <a:cs typeface="Courier New"/>
              <a:sym typeface="Courier New"/>
            </a:endParaRPr>
          </a:p>
          <a:p>
            <a:pPr indent="0" lvl="0" marL="0" rtl="0" algn="l">
              <a:spcBef>
                <a:spcPts val="0"/>
              </a:spcBef>
              <a:spcAft>
                <a:spcPts val="0"/>
              </a:spcAft>
              <a:buNone/>
            </a:pPr>
            <a:r>
              <a:t/>
            </a:r>
            <a:endParaRPr sz="950">
              <a:solidFill>
                <a:srgbClr val="333333"/>
              </a:solidFill>
              <a:latin typeface="Courier New"/>
              <a:ea typeface="Courier New"/>
              <a:cs typeface="Courier New"/>
              <a:sym typeface="Courier New"/>
            </a:endParaRPr>
          </a:p>
          <a:p>
            <a:pPr indent="0" lvl="0" marL="0" rtl="0" algn="l">
              <a:spcBef>
                <a:spcPts val="0"/>
              </a:spcBef>
              <a:spcAft>
                <a:spcPts val="0"/>
              </a:spcAft>
              <a:buNone/>
            </a:pPr>
            <a:r>
              <a:rPr i="1" lang="en" sz="1200">
                <a:solidFill>
                  <a:srgbClr val="212529"/>
                </a:solidFill>
                <a:highlight>
                  <a:srgbClr val="FFFFFF"/>
                </a:highlight>
                <a:latin typeface="Roboto"/>
                <a:ea typeface="Roboto"/>
                <a:cs typeface="Roboto"/>
                <a:sym typeface="Roboto"/>
              </a:rPr>
              <a:t>&lt;button type="button" class="btn btn-primary|secondary|success|danger|warning|info|light|dark|link"&gt;Base class&lt;/button&gt;</a:t>
            </a:r>
            <a:endParaRPr i="1" sz="1200">
              <a:solidFill>
                <a:srgbClr val="212529"/>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sz="1200">
              <a:solidFill>
                <a:srgbClr val="212529"/>
              </a:solidFill>
              <a:highlight>
                <a:srgbClr val="FFFFFF"/>
              </a:highlight>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Bootstrap Components (Card)</a:t>
            </a:r>
            <a:endParaRPr/>
          </a:p>
        </p:txBody>
      </p:sp>
      <p:sp>
        <p:nvSpPr>
          <p:cNvPr id="191" name="Google Shape;191;p23"/>
          <p:cNvSpPr txBox="1"/>
          <p:nvPr>
            <p:ph idx="1" type="body"/>
          </p:nvPr>
        </p:nvSpPr>
        <p:spPr>
          <a:xfrm>
            <a:off x="819150" y="1990725"/>
            <a:ext cx="7505700" cy="2448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1200">
                <a:solidFill>
                  <a:srgbClr val="212529"/>
                </a:solidFill>
                <a:highlight>
                  <a:srgbClr val="FFFFFF"/>
                </a:highlight>
                <a:latin typeface="Roboto"/>
                <a:ea typeface="Roboto"/>
                <a:cs typeface="Roboto"/>
                <a:sym typeface="Roboto"/>
              </a:rPr>
              <a:t>A </a:t>
            </a:r>
            <a:r>
              <a:rPr b="1" lang="en" sz="1200">
                <a:solidFill>
                  <a:srgbClr val="212529"/>
                </a:solidFill>
                <a:highlight>
                  <a:srgbClr val="FFFFFF"/>
                </a:highlight>
                <a:latin typeface="Roboto"/>
                <a:ea typeface="Roboto"/>
                <a:cs typeface="Roboto"/>
                <a:sym typeface="Roboto"/>
              </a:rPr>
              <a:t>card </a:t>
            </a:r>
            <a:r>
              <a:rPr lang="en" sz="1200">
                <a:solidFill>
                  <a:srgbClr val="212529"/>
                </a:solidFill>
                <a:highlight>
                  <a:srgbClr val="FFFFFF"/>
                </a:highlight>
                <a:latin typeface="Roboto"/>
                <a:ea typeface="Roboto"/>
                <a:cs typeface="Roboto"/>
                <a:sym typeface="Roboto"/>
              </a:rPr>
              <a:t>is a flexible and extensible content container. It includes options for headers and footers, a wide variety of content, contextual background colors, and powerful display options. If you’re familiar with Bootstrap 3, cards replace our old panels, wells, and thumbnails. Similar functionality to those components is available as modifier classes for cards.</a:t>
            </a:r>
            <a:endParaRPr sz="1200">
              <a:solidFill>
                <a:srgbClr val="212529"/>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212529"/>
              </a:solidFill>
              <a:highlight>
                <a:srgbClr val="FFFFFF"/>
              </a:highlight>
              <a:latin typeface="Roboto"/>
              <a:ea typeface="Roboto"/>
              <a:cs typeface="Roboto"/>
              <a:sym typeface="Roboto"/>
            </a:endParaRPr>
          </a:p>
          <a:p>
            <a:pPr indent="0" lvl="0" marL="0" rtl="0" algn="l">
              <a:spcBef>
                <a:spcPts val="0"/>
              </a:spcBef>
              <a:spcAft>
                <a:spcPts val="0"/>
              </a:spcAft>
              <a:buNone/>
            </a:pP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card</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style</a:t>
            </a:r>
            <a:r>
              <a:rPr lang="en" sz="950">
                <a:solidFill>
                  <a:srgbClr val="333333"/>
                </a:solidFill>
                <a:latin typeface="Courier New"/>
                <a:ea typeface="Courier New"/>
                <a:cs typeface="Courier New"/>
                <a:sym typeface="Courier New"/>
              </a:rPr>
              <a:t>="</a:t>
            </a:r>
            <a:r>
              <a:rPr lang="en" sz="950">
                <a:solidFill>
                  <a:srgbClr val="6F42C1"/>
                </a:solidFill>
                <a:latin typeface="Courier New"/>
                <a:ea typeface="Courier New"/>
                <a:cs typeface="Courier New"/>
                <a:sym typeface="Courier New"/>
              </a:rPr>
              <a:t>width</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 18rem</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img </a:t>
            </a:r>
            <a:r>
              <a:rPr lang="en" sz="950">
                <a:solidFill>
                  <a:srgbClr val="084298"/>
                </a:solidFill>
                <a:latin typeface="Courier New"/>
                <a:ea typeface="Courier New"/>
                <a:cs typeface="Courier New"/>
                <a:sym typeface="Courier New"/>
              </a:rPr>
              <a:t>src</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card-img-top</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alt</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card-body</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h5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card-title</a:t>
            </a:r>
            <a:r>
              <a:rPr lang="en" sz="950">
                <a:solidFill>
                  <a:srgbClr val="333333"/>
                </a:solidFill>
                <a:latin typeface="Courier New"/>
                <a:ea typeface="Courier New"/>
                <a:cs typeface="Courier New"/>
                <a:sym typeface="Courier New"/>
              </a:rPr>
              <a:t>"&gt;</a:t>
            </a:r>
            <a:r>
              <a:rPr lang="en" sz="950">
                <a:solidFill>
                  <a:srgbClr val="212529"/>
                </a:solidFill>
                <a:latin typeface="Courier New"/>
                <a:ea typeface="Courier New"/>
                <a:cs typeface="Courier New"/>
                <a:sym typeface="Courier New"/>
              </a:rPr>
              <a:t>Card title</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h5</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p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card-text</a:t>
            </a:r>
            <a:r>
              <a:rPr lang="en" sz="950">
                <a:solidFill>
                  <a:srgbClr val="333333"/>
                </a:solidFill>
                <a:latin typeface="Courier New"/>
                <a:ea typeface="Courier New"/>
                <a:cs typeface="Courier New"/>
                <a:sym typeface="Courier New"/>
              </a:rPr>
              <a:t>"&gt;</a:t>
            </a:r>
            <a:r>
              <a:rPr lang="en" sz="950">
                <a:solidFill>
                  <a:srgbClr val="212529"/>
                </a:solidFill>
                <a:latin typeface="Courier New"/>
                <a:ea typeface="Courier New"/>
                <a:cs typeface="Courier New"/>
                <a:sym typeface="Courier New"/>
              </a:rPr>
              <a:t>Some quick example text to build on the card title and make up the bulk of the card’s content.</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p</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a </a:t>
            </a:r>
            <a:r>
              <a:rPr lang="en" sz="950">
                <a:solidFill>
                  <a:srgbClr val="084298"/>
                </a:solidFill>
                <a:latin typeface="Courier New"/>
                <a:ea typeface="Courier New"/>
                <a:cs typeface="Courier New"/>
                <a:sym typeface="Courier New"/>
              </a:rPr>
              <a:t>href</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btn btn-primary</a:t>
            </a:r>
            <a:r>
              <a:rPr lang="en" sz="950">
                <a:solidFill>
                  <a:srgbClr val="333333"/>
                </a:solidFill>
                <a:latin typeface="Courier New"/>
                <a:ea typeface="Courier New"/>
                <a:cs typeface="Courier New"/>
                <a:sym typeface="Courier New"/>
              </a:rPr>
              <a:t>"&gt;</a:t>
            </a:r>
            <a:r>
              <a:rPr lang="en" sz="950">
                <a:solidFill>
                  <a:srgbClr val="212529"/>
                </a:solidFill>
                <a:latin typeface="Courier New"/>
                <a:ea typeface="Courier New"/>
                <a:cs typeface="Courier New"/>
                <a:sym typeface="Courier New"/>
              </a:rPr>
              <a:t>Go somewhere</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a</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a:t>
            </a:r>
            <a:r>
              <a:rPr lang="en" sz="950">
                <a:solidFill>
                  <a:srgbClr val="333333"/>
                </a:solidFill>
                <a:latin typeface="Courier New"/>
                <a:ea typeface="Courier New"/>
                <a:cs typeface="Courier New"/>
                <a:sym typeface="Courier New"/>
              </a:rPr>
              <a:t>&gt;</a:t>
            </a:r>
            <a:endParaRPr sz="1200">
              <a:solidFill>
                <a:srgbClr val="212529"/>
              </a:solidFill>
              <a:highlight>
                <a:srgbClr val="FFFFFF"/>
              </a:highlight>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Bootstrap Components (Form)</a:t>
            </a:r>
            <a:endParaRPr/>
          </a:p>
        </p:txBody>
      </p:sp>
      <p:sp>
        <p:nvSpPr>
          <p:cNvPr id="197" name="Google Shape;197;p2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solidFill>
                  <a:srgbClr val="212529"/>
                </a:solidFill>
                <a:highlight>
                  <a:srgbClr val="FFFFFF"/>
                </a:highlight>
                <a:latin typeface="Roboto"/>
                <a:ea typeface="Roboto"/>
                <a:cs typeface="Roboto"/>
                <a:sym typeface="Roboto"/>
              </a:rPr>
              <a:t>Bootstrap’s form controls expand on</a:t>
            </a:r>
            <a:r>
              <a:rPr lang="en" sz="1200">
                <a:solidFill>
                  <a:srgbClr val="212529"/>
                </a:solidFill>
                <a:highlight>
                  <a:srgbClr val="FFFFFF"/>
                </a:highlight>
                <a:uFill>
                  <a:noFill/>
                </a:uFill>
                <a:latin typeface="Roboto"/>
                <a:ea typeface="Roboto"/>
                <a:cs typeface="Roboto"/>
                <a:sym typeface="Roboto"/>
                <a:hlinkClick r:id="rId3">
                  <a:extLst>
                    <a:ext uri="{A12FA001-AC4F-418D-AE19-62706E023703}">
                      <ahyp:hlinkClr val="tx"/>
                    </a:ext>
                  </a:extLst>
                </a:hlinkClick>
              </a:rPr>
              <a:t> </a:t>
            </a:r>
            <a:r>
              <a:rPr lang="en" sz="1200" u="sng">
                <a:solidFill>
                  <a:srgbClr val="0D6EFD"/>
                </a:solidFill>
                <a:highlight>
                  <a:srgbClr val="FFFFFF"/>
                </a:highlight>
                <a:latin typeface="Roboto"/>
                <a:ea typeface="Roboto"/>
                <a:cs typeface="Roboto"/>
                <a:sym typeface="Roboto"/>
                <a:hlinkClick r:id="rId4">
                  <a:extLst>
                    <a:ext uri="{A12FA001-AC4F-418D-AE19-62706E023703}">
                      <ahyp:hlinkClr val="tx"/>
                    </a:ext>
                  </a:extLst>
                </a:hlinkClick>
              </a:rPr>
              <a:t>their Rebooted form styles</a:t>
            </a:r>
            <a:r>
              <a:rPr lang="en" sz="1200">
                <a:solidFill>
                  <a:srgbClr val="212529"/>
                </a:solidFill>
                <a:highlight>
                  <a:srgbClr val="FFFFFF"/>
                </a:highlight>
                <a:latin typeface="Roboto"/>
                <a:ea typeface="Roboto"/>
                <a:cs typeface="Roboto"/>
                <a:sym typeface="Roboto"/>
              </a:rPr>
              <a:t> with classes. Use these classes to opt into their customized displays for a more consistent rendering across browsers and devices.</a:t>
            </a:r>
            <a:endParaRPr sz="1200">
              <a:solidFill>
                <a:srgbClr val="212529"/>
              </a:solidFill>
              <a:highlight>
                <a:srgbClr val="FFFFFF"/>
              </a:highlight>
              <a:latin typeface="Roboto"/>
              <a:ea typeface="Roboto"/>
              <a:cs typeface="Roboto"/>
              <a:sym typeface="Roboto"/>
            </a:endParaRPr>
          </a:p>
          <a:p>
            <a:pPr indent="0" lvl="0" marL="0" rtl="0" algn="l">
              <a:spcBef>
                <a:spcPts val="1200"/>
              </a:spcBef>
              <a:spcAft>
                <a:spcPts val="0"/>
              </a:spcAft>
              <a:buNone/>
            </a:pPr>
            <a:r>
              <a:rPr lang="en" sz="1200">
                <a:solidFill>
                  <a:srgbClr val="212529"/>
                </a:solidFill>
                <a:highlight>
                  <a:srgbClr val="FFFFFF"/>
                </a:highlight>
                <a:latin typeface="Roboto"/>
                <a:ea typeface="Roboto"/>
                <a:cs typeface="Roboto"/>
                <a:sym typeface="Roboto"/>
              </a:rPr>
              <a:t>Be sure to use an appropriate </a:t>
            </a:r>
            <a:r>
              <a:rPr lang="en" sz="1050">
                <a:solidFill>
                  <a:srgbClr val="D63384"/>
                </a:solidFill>
                <a:highlight>
                  <a:srgbClr val="FFFFFF"/>
                </a:highlight>
                <a:latin typeface="Courier New"/>
                <a:ea typeface="Courier New"/>
                <a:cs typeface="Courier New"/>
                <a:sym typeface="Courier New"/>
              </a:rPr>
              <a:t>type</a:t>
            </a:r>
            <a:r>
              <a:rPr lang="en" sz="1200">
                <a:solidFill>
                  <a:srgbClr val="212529"/>
                </a:solidFill>
                <a:highlight>
                  <a:srgbClr val="FFFFFF"/>
                </a:highlight>
                <a:latin typeface="Roboto"/>
                <a:ea typeface="Roboto"/>
                <a:cs typeface="Roboto"/>
                <a:sym typeface="Roboto"/>
              </a:rPr>
              <a:t> attribute on all inputs (e.g., </a:t>
            </a:r>
            <a:r>
              <a:rPr lang="en" sz="1050">
                <a:solidFill>
                  <a:srgbClr val="D63384"/>
                </a:solidFill>
                <a:highlight>
                  <a:srgbClr val="FFFFFF"/>
                </a:highlight>
                <a:latin typeface="Courier New"/>
                <a:ea typeface="Courier New"/>
                <a:cs typeface="Courier New"/>
                <a:sym typeface="Courier New"/>
              </a:rPr>
              <a:t>email</a:t>
            </a:r>
            <a:r>
              <a:rPr lang="en" sz="1200">
                <a:solidFill>
                  <a:srgbClr val="212529"/>
                </a:solidFill>
                <a:highlight>
                  <a:srgbClr val="FFFFFF"/>
                </a:highlight>
                <a:latin typeface="Roboto"/>
                <a:ea typeface="Roboto"/>
                <a:cs typeface="Roboto"/>
                <a:sym typeface="Roboto"/>
              </a:rPr>
              <a:t> for email address or </a:t>
            </a:r>
            <a:r>
              <a:rPr lang="en" sz="1050">
                <a:solidFill>
                  <a:srgbClr val="D63384"/>
                </a:solidFill>
                <a:highlight>
                  <a:srgbClr val="FFFFFF"/>
                </a:highlight>
                <a:latin typeface="Courier New"/>
                <a:ea typeface="Courier New"/>
                <a:cs typeface="Courier New"/>
                <a:sym typeface="Courier New"/>
              </a:rPr>
              <a:t>number</a:t>
            </a:r>
            <a:r>
              <a:rPr lang="en" sz="1200">
                <a:solidFill>
                  <a:srgbClr val="212529"/>
                </a:solidFill>
                <a:highlight>
                  <a:srgbClr val="FFFFFF"/>
                </a:highlight>
                <a:latin typeface="Roboto"/>
                <a:ea typeface="Roboto"/>
                <a:cs typeface="Roboto"/>
                <a:sym typeface="Roboto"/>
              </a:rPr>
              <a:t> for numerical information) to take advantage of newer input controls like email verification, number selection, and more.</a:t>
            </a:r>
            <a:endParaRPr sz="1200">
              <a:solidFill>
                <a:srgbClr val="212529"/>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5"/>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Bootstrap Components (Form - Form Control)</a:t>
            </a:r>
            <a:endParaRPr/>
          </a:p>
        </p:txBody>
      </p:sp>
      <p:sp>
        <p:nvSpPr>
          <p:cNvPr id="203" name="Google Shape;203;p25"/>
          <p:cNvSpPr txBox="1"/>
          <p:nvPr>
            <p:ph idx="1" type="body"/>
          </p:nvPr>
        </p:nvSpPr>
        <p:spPr>
          <a:xfrm>
            <a:off x="819150" y="1990725"/>
            <a:ext cx="7505700" cy="2448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form</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mb-3</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label </a:t>
            </a:r>
            <a:r>
              <a:rPr lang="en" sz="950">
                <a:solidFill>
                  <a:srgbClr val="084298"/>
                </a:solidFill>
                <a:latin typeface="Courier New"/>
                <a:ea typeface="Courier New"/>
                <a:cs typeface="Courier New"/>
                <a:sym typeface="Courier New"/>
              </a:rPr>
              <a:t>for</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exampleInputEmail1</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form-label</a:t>
            </a:r>
            <a:r>
              <a:rPr lang="en" sz="950">
                <a:solidFill>
                  <a:srgbClr val="333333"/>
                </a:solidFill>
                <a:latin typeface="Courier New"/>
                <a:ea typeface="Courier New"/>
                <a:cs typeface="Courier New"/>
                <a:sym typeface="Courier New"/>
              </a:rPr>
              <a:t>"&gt;</a:t>
            </a:r>
            <a:r>
              <a:rPr lang="en" sz="950">
                <a:solidFill>
                  <a:srgbClr val="212529"/>
                </a:solidFill>
                <a:latin typeface="Courier New"/>
                <a:ea typeface="Courier New"/>
                <a:cs typeface="Courier New"/>
                <a:sym typeface="Courier New"/>
              </a:rPr>
              <a:t>Email address</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label</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input </a:t>
            </a:r>
            <a:r>
              <a:rPr lang="en" sz="950">
                <a:solidFill>
                  <a:srgbClr val="084298"/>
                </a:solidFill>
                <a:latin typeface="Courier New"/>
                <a:ea typeface="Courier New"/>
                <a:cs typeface="Courier New"/>
                <a:sym typeface="Courier New"/>
              </a:rPr>
              <a:t>type</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email</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form-control</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id</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exampleInputEmail1</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aria-describedby</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emailHelp</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 </a:t>
            </a:r>
            <a:r>
              <a:rPr lang="en" sz="950">
                <a:solidFill>
                  <a:srgbClr val="084298"/>
                </a:solidFill>
                <a:latin typeface="Courier New"/>
                <a:ea typeface="Courier New"/>
                <a:cs typeface="Courier New"/>
                <a:sym typeface="Courier New"/>
              </a:rPr>
              <a:t>id</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emailHelp</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form-text</a:t>
            </a:r>
            <a:r>
              <a:rPr lang="en" sz="950">
                <a:solidFill>
                  <a:srgbClr val="333333"/>
                </a:solidFill>
                <a:latin typeface="Courier New"/>
                <a:ea typeface="Courier New"/>
                <a:cs typeface="Courier New"/>
                <a:sym typeface="Courier New"/>
              </a:rPr>
              <a:t>"&gt;</a:t>
            </a:r>
            <a:r>
              <a:rPr lang="en" sz="950">
                <a:solidFill>
                  <a:srgbClr val="212529"/>
                </a:solidFill>
                <a:latin typeface="Courier New"/>
                <a:ea typeface="Courier New"/>
                <a:cs typeface="Courier New"/>
                <a:sym typeface="Courier New"/>
              </a:rPr>
              <a:t>We'll never share your email with anyone else.</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mb-3</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label </a:t>
            </a:r>
            <a:r>
              <a:rPr lang="en" sz="950">
                <a:solidFill>
                  <a:srgbClr val="084298"/>
                </a:solidFill>
                <a:latin typeface="Courier New"/>
                <a:ea typeface="Courier New"/>
                <a:cs typeface="Courier New"/>
                <a:sym typeface="Courier New"/>
              </a:rPr>
              <a:t>for</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exampleInputPassword1</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form-label</a:t>
            </a:r>
            <a:r>
              <a:rPr lang="en" sz="950">
                <a:solidFill>
                  <a:srgbClr val="333333"/>
                </a:solidFill>
                <a:latin typeface="Courier New"/>
                <a:ea typeface="Courier New"/>
                <a:cs typeface="Courier New"/>
                <a:sym typeface="Courier New"/>
              </a:rPr>
              <a:t>"&gt;</a:t>
            </a:r>
            <a:r>
              <a:rPr lang="en" sz="950">
                <a:solidFill>
                  <a:srgbClr val="212529"/>
                </a:solidFill>
                <a:latin typeface="Courier New"/>
                <a:ea typeface="Courier New"/>
                <a:cs typeface="Courier New"/>
                <a:sym typeface="Courier New"/>
              </a:rPr>
              <a:t>Password</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label</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input </a:t>
            </a:r>
            <a:r>
              <a:rPr lang="en" sz="950">
                <a:solidFill>
                  <a:srgbClr val="084298"/>
                </a:solidFill>
                <a:latin typeface="Courier New"/>
                <a:ea typeface="Courier New"/>
                <a:cs typeface="Courier New"/>
                <a:sym typeface="Courier New"/>
              </a:rPr>
              <a:t>type</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password</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form-control</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id</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exampleInputPassword1</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mb-3 form-check</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input </a:t>
            </a:r>
            <a:r>
              <a:rPr lang="en" sz="950">
                <a:solidFill>
                  <a:srgbClr val="084298"/>
                </a:solidFill>
                <a:latin typeface="Courier New"/>
                <a:ea typeface="Courier New"/>
                <a:cs typeface="Courier New"/>
                <a:sym typeface="Courier New"/>
              </a:rPr>
              <a:t>type</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checkbox</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form-check-input</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id</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exampleCheck1</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label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form-check-label</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for</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exampleCheck1</a:t>
            </a:r>
            <a:r>
              <a:rPr lang="en" sz="950">
                <a:solidFill>
                  <a:srgbClr val="333333"/>
                </a:solidFill>
                <a:latin typeface="Courier New"/>
                <a:ea typeface="Courier New"/>
                <a:cs typeface="Courier New"/>
                <a:sym typeface="Courier New"/>
              </a:rPr>
              <a:t>"&gt;</a:t>
            </a:r>
            <a:r>
              <a:rPr lang="en" sz="950">
                <a:solidFill>
                  <a:srgbClr val="212529"/>
                </a:solidFill>
                <a:latin typeface="Courier New"/>
                <a:ea typeface="Courier New"/>
                <a:cs typeface="Courier New"/>
                <a:sym typeface="Courier New"/>
              </a:rPr>
              <a:t>Check me out</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label</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button </a:t>
            </a:r>
            <a:r>
              <a:rPr lang="en" sz="950">
                <a:solidFill>
                  <a:srgbClr val="084298"/>
                </a:solidFill>
                <a:latin typeface="Courier New"/>
                <a:ea typeface="Courier New"/>
                <a:cs typeface="Courier New"/>
                <a:sym typeface="Courier New"/>
              </a:rPr>
              <a:t>type</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submit</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btn btn-primary</a:t>
            </a:r>
            <a:r>
              <a:rPr lang="en" sz="950">
                <a:solidFill>
                  <a:srgbClr val="333333"/>
                </a:solidFill>
                <a:latin typeface="Courier New"/>
                <a:ea typeface="Courier New"/>
                <a:cs typeface="Courier New"/>
                <a:sym typeface="Courier New"/>
              </a:rPr>
              <a:t>"&gt;</a:t>
            </a:r>
            <a:r>
              <a:rPr lang="en" sz="950">
                <a:solidFill>
                  <a:srgbClr val="212529"/>
                </a:solidFill>
                <a:latin typeface="Courier New"/>
                <a:ea typeface="Courier New"/>
                <a:cs typeface="Courier New"/>
                <a:sym typeface="Courier New"/>
              </a:rPr>
              <a:t>Submit</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button</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form</a:t>
            </a:r>
            <a:r>
              <a:rPr lang="en" sz="950">
                <a:solidFill>
                  <a:srgbClr val="333333"/>
                </a:solidFill>
                <a:latin typeface="Courier New"/>
                <a:ea typeface="Courier New"/>
                <a:cs typeface="Courier New"/>
                <a:sym typeface="Courier New"/>
              </a:rPr>
              <a:t>&gt;</a:t>
            </a:r>
            <a:endParaRPr i="1" sz="1200">
              <a:solidFill>
                <a:srgbClr val="212529"/>
              </a:solidFill>
              <a:highlight>
                <a:srgbClr val="FFFFFF"/>
              </a:highlight>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Bootstrap Components (Form - Select)</a:t>
            </a:r>
            <a:endParaRPr/>
          </a:p>
        </p:txBody>
      </p:sp>
      <p:sp>
        <p:nvSpPr>
          <p:cNvPr id="209" name="Google Shape;209;p2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150">
                <a:solidFill>
                  <a:srgbClr val="333333"/>
                </a:solidFill>
                <a:latin typeface="Courier New"/>
                <a:ea typeface="Courier New"/>
                <a:cs typeface="Courier New"/>
                <a:sym typeface="Courier New"/>
              </a:rPr>
              <a:t>&lt;</a:t>
            </a:r>
            <a:r>
              <a:rPr lang="en" sz="1150">
                <a:solidFill>
                  <a:srgbClr val="C6303E"/>
                </a:solidFill>
                <a:latin typeface="Courier New"/>
                <a:ea typeface="Courier New"/>
                <a:cs typeface="Courier New"/>
                <a:sym typeface="Courier New"/>
              </a:rPr>
              <a:t>select </a:t>
            </a:r>
            <a:r>
              <a:rPr lang="en" sz="1150">
                <a:solidFill>
                  <a:srgbClr val="084298"/>
                </a:solidFill>
                <a:latin typeface="Courier New"/>
                <a:ea typeface="Courier New"/>
                <a:cs typeface="Courier New"/>
                <a:sym typeface="Courier New"/>
              </a:rPr>
              <a:t>class</a:t>
            </a:r>
            <a:r>
              <a:rPr lang="en" sz="1150">
                <a:solidFill>
                  <a:srgbClr val="333333"/>
                </a:solidFill>
                <a:latin typeface="Courier New"/>
                <a:ea typeface="Courier New"/>
                <a:cs typeface="Courier New"/>
                <a:sym typeface="Courier New"/>
              </a:rPr>
              <a:t>="</a:t>
            </a:r>
            <a:r>
              <a:rPr lang="en" sz="1150">
                <a:solidFill>
                  <a:srgbClr val="AB296A"/>
                </a:solidFill>
                <a:latin typeface="Courier New"/>
                <a:ea typeface="Courier New"/>
                <a:cs typeface="Courier New"/>
                <a:sym typeface="Courier New"/>
              </a:rPr>
              <a:t>form-select</a:t>
            </a:r>
            <a:r>
              <a:rPr lang="en" sz="1150">
                <a:solidFill>
                  <a:srgbClr val="333333"/>
                </a:solidFill>
                <a:latin typeface="Courier New"/>
                <a:ea typeface="Courier New"/>
                <a:cs typeface="Courier New"/>
                <a:sym typeface="Courier New"/>
              </a:rPr>
              <a:t>"</a:t>
            </a:r>
            <a:r>
              <a:rPr lang="en" sz="1150">
                <a:solidFill>
                  <a:srgbClr val="C6303E"/>
                </a:solidFill>
                <a:latin typeface="Courier New"/>
                <a:ea typeface="Courier New"/>
                <a:cs typeface="Courier New"/>
                <a:sym typeface="Courier New"/>
              </a:rPr>
              <a:t> </a:t>
            </a:r>
            <a:r>
              <a:rPr lang="en" sz="1150">
                <a:solidFill>
                  <a:srgbClr val="084298"/>
                </a:solidFill>
                <a:latin typeface="Courier New"/>
                <a:ea typeface="Courier New"/>
                <a:cs typeface="Courier New"/>
                <a:sym typeface="Courier New"/>
              </a:rPr>
              <a:t>aria-label</a:t>
            </a:r>
            <a:r>
              <a:rPr lang="en" sz="1150">
                <a:solidFill>
                  <a:srgbClr val="333333"/>
                </a:solidFill>
                <a:latin typeface="Courier New"/>
                <a:ea typeface="Courier New"/>
                <a:cs typeface="Courier New"/>
                <a:sym typeface="Courier New"/>
              </a:rPr>
              <a:t>="</a:t>
            </a:r>
            <a:r>
              <a:rPr lang="en" sz="1150">
                <a:solidFill>
                  <a:srgbClr val="AB296A"/>
                </a:solidFill>
                <a:latin typeface="Courier New"/>
                <a:ea typeface="Courier New"/>
                <a:cs typeface="Courier New"/>
                <a:sym typeface="Courier New"/>
              </a:rPr>
              <a:t>Default select example</a:t>
            </a:r>
            <a:r>
              <a:rPr lang="en" sz="1150">
                <a:solidFill>
                  <a:srgbClr val="333333"/>
                </a:solidFill>
                <a:latin typeface="Courier New"/>
                <a:ea typeface="Courier New"/>
                <a:cs typeface="Courier New"/>
                <a:sym typeface="Courier New"/>
              </a:rPr>
              <a:t>"&gt;</a:t>
            </a:r>
            <a:endParaRPr sz="1150">
              <a:solidFill>
                <a:srgbClr val="212529"/>
              </a:solidFill>
              <a:latin typeface="Courier New"/>
              <a:ea typeface="Courier New"/>
              <a:cs typeface="Courier New"/>
              <a:sym typeface="Courier New"/>
            </a:endParaRPr>
          </a:p>
          <a:p>
            <a:pPr indent="0" lvl="0" marL="0" rtl="0" algn="l">
              <a:spcBef>
                <a:spcPts val="1200"/>
              </a:spcBef>
              <a:spcAft>
                <a:spcPts val="0"/>
              </a:spcAft>
              <a:buNone/>
            </a:pPr>
            <a:r>
              <a:rPr lang="en" sz="1150">
                <a:solidFill>
                  <a:srgbClr val="212529"/>
                </a:solidFill>
                <a:latin typeface="Courier New"/>
                <a:ea typeface="Courier New"/>
                <a:cs typeface="Courier New"/>
                <a:sym typeface="Courier New"/>
              </a:rPr>
              <a:t>  </a:t>
            </a:r>
            <a:r>
              <a:rPr lang="en" sz="1150">
                <a:solidFill>
                  <a:srgbClr val="333333"/>
                </a:solidFill>
                <a:latin typeface="Courier New"/>
                <a:ea typeface="Courier New"/>
                <a:cs typeface="Courier New"/>
                <a:sym typeface="Courier New"/>
              </a:rPr>
              <a:t>&lt;</a:t>
            </a:r>
            <a:r>
              <a:rPr lang="en" sz="1150">
                <a:solidFill>
                  <a:srgbClr val="C6303E"/>
                </a:solidFill>
                <a:latin typeface="Courier New"/>
                <a:ea typeface="Courier New"/>
                <a:cs typeface="Courier New"/>
                <a:sym typeface="Courier New"/>
              </a:rPr>
              <a:t>option </a:t>
            </a:r>
            <a:r>
              <a:rPr lang="en" sz="1150">
                <a:solidFill>
                  <a:srgbClr val="084298"/>
                </a:solidFill>
                <a:latin typeface="Courier New"/>
                <a:ea typeface="Courier New"/>
                <a:cs typeface="Courier New"/>
                <a:sym typeface="Courier New"/>
              </a:rPr>
              <a:t>selected</a:t>
            </a:r>
            <a:r>
              <a:rPr lang="en" sz="1150">
                <a:solidFill>
                  <a:srgbClr val="333333"/>
                </a:solidFill>
                <a:latin typeface="Courier New"/>
                <a:ea typeface="Courier New"/>
                <a:cs typeface="Courier New"/>
                <a:sym typeface="Courier New"/>
              </a:rPr>
              <a:t>&gt;</a:t>
            </a:r>
            <a:r>
              <a:rPr lang="en" sz="1150">
                <a:solidFill>
                  <a:srgbClr val="212529"/>
                </a:solidFill>
                <a:latin typeface="Courier New"/>
                <a:ea typeface="Courier New"/>
                <a:cs typeface="Courier New"/>
                <a:sym typeface="Courier New"/>
              </a:rPr>
              <a:t>Open this select menu</a:t>
            </a:r>
            <a:r>
              <a:rPr lang="en" sz="1150">
                <a:solidFill>
                  <a:srgbClr val="333333"/>
                </a:solidFill>
                <a:latin typeface="Courier New"/>
                <a:ea typeface="Courier New"/>
                <a:cs typeface="Courier New"/>
                <a:sym typeface="Courier New"/>
              </a:rPr>
              <a:t>&lt;/</a:t>
            </a:r>
            <a:r>
              <a:rPr lang="en" sz="1150">
                <a:solidFill>
                  <a:srgbClr val="C6303E"/>
                </a:solidFill>
                <a:latin typeface="Courier New"/>
                <a:ea typeface="Courier New"/>
                <a:cs typeface="Courier New"/>
                <a:sym typeface="Courier New"/>
              </a:rPr>
              <a:t>option</a:t>
            </a:r>
            <a:r>
              <a:rPr lang="en" sz="1150">
                <a:solidFill>
                  <a:srgbClr val="333333"/>
                </a:solidFill>
                <a:latin typeface="Courier New"/>
                <a:ea typeface="Courier New"/>
                <a:cs typeface="Courier New"/>
                <a:sym typeface="Courier New"/>
              </a:rPr>
              <a:t>&gt;</a:t>
            </a:r>
            <a:endParaRPr sz="1150">
              <a:solidFill>
                <a:srgbClr val="212529"/>
              </a:solidFill>
              <a:latin typeface="Courier New"/>
              <a:ea typeface="Courier New"/>
              <a:cs typeface="Courier New"/>
              <a:sym typeface="Courier New"/>
            </a:endParaRPr>
          </a:p>
          <a:p>
            <a:pPr indent="0" lvl="0" marL="0" rtl="0" algn="l">
              <a:spcBef>
                <a:spcPts val="1200"/>
              </a:spcBef>
              <a:spcAft>
                <a:spcPts val="0"/>
              </a:spcAft>
              <a:buNone/>
            </a:pPr>
            <a:r>
              <a:rPr lang="en" sz="1150">
                <a:solidFill>
                  <a:srgbClr val="212529"/>
                </a:solidFill>
                <a:latin typeface="Courier New"/>
                <a:ea typeface="Courier New"/>
                <a:cs typeface="Courier New"/>
                <a:sym typeface="Courier New"/>
              </a:rPr>
              <a:t>  </a:t>
            </a:r>
            <a:r>
              <a:rPr lang="en" sz="1150">
                <a:solidFill>
                  <a:srgbClr val="333333"/>
                </a:solidFill>
                <a:latin typeface="Courier New"/>
                <a:ea typeface="Courier New"/>
                <a:cs typeface="Courier New"/>
                <a:sym typeface="Courier New"/>
              </a:rPr>
              <a:t>&lt;</a:t>
            </a:r>
            <a:r>
              <a:rPr lang="en" sz="1150">
                <a:solidFill>
                  <a:srgbClr val="C6303E"/>
                </a:solidFill>
                <a:latin typeface="Courier New"/>
                <a:ea typeface="Courier New"/>
                <a:cs typeface="Courier New"/>
                <a:sym typeface="Courier New"/>
              </a:rPr>
              <a:t>option </a:t>
            </a:r>
            <a:r>
              <a:rPr lang="en" sz="1150">
                <a:solidFill>
                  <a:srgbClr val="084298"/>
                </a:solidFill>
                <a:latin typeface="Courier New"/>
                <a:ea typeface="Courier New"/>
                <a:cs typeface="Courier New"/>
                <a:sym typeface="Courier New"/>
              </a:rPr>
              <a:t>value</a:t>
            </a:r>
            <a:r>
              <a:rPr lang="en" sz="1150">
                <a:solidFill>
                  <a:srgbClr val="333333"/>
                </a:solidFill>
                <a:latin typeface="Courier New"/>
                <a:ea typeface="Courier New"/>
                <a:cs typeface="Courier New"/>
                <a:sym typeface="Courier New"/>
              </a:rPr>
              <a:t>="</a:t>
            </a:r>
            <a:r>
              <a:rPr lang="en" sz="1150">
                <a:solidFill>
                  <a:srgbClr val="AB296A"/>
                </a:solidFill>
                <a:latin typeface="Courier New"/>
                <a:ea typeface="Courier New"/>
                <a:cs typeface="Courier New"/>
                <a:sym typeface="Courier New"/>
              </a:rPr>
              <a:t>1</a:t>
            </a:r>
            <a:r>
              <a:rPr lang="en" sz="1150">
                <a:solidFill>
                  <a:srgbClr val="333333"/>
                </a:solidFill>
                <a:latin typeface="Courier New"/>
                <a:ea typeface="Courier New"/>
                <a:cs typeface="Courier New"/>
                <a:sym typeface="Courier New"/>
              </a:rPr>
              <a:t>"&gt;</a:t>
            </a:r>
            <a:r>
              <a:rPr lang="en" sz="1150">
                <a:solidFill>
                  <a:srgbClr val="212529"/>
                </a:solidFill>
                <a:latin typeface="Courier New"/>
                <a:ea typeface="Courier New"/>
                <a:cs typeface="Courier New"/>
                <a:sym typeface="Courier New"/>
              </a:rPr>
              <a:t>One</a:t>
            </a:r>
            <a:r>
              <a:rPr lang="en" sz="1150">
                <a:solidFill>
                  <a:srgbClr val="333333"/>
                </a:solidFill>
                <a:latin typeface="Courier New"/>
                <a:ea typeface="Courier New"/>
                <a:cs typeface="Courier New"/>
                <a:sym typeface="Courier New"/>
              </a:rPr>
              <a:t>&lt;/</a:t>
            </a:r>
            <a:r>
              <a:rPr lang="en" sz="1150">
                <a:solidFill>
                  <a:srgbClr val="C6303E"/>
                </a:solidFill>
                <a:latin typeface="Courier New"/>
                <a:ea typeface="Courier New"/>
                <a:cs typeface="Courier New"/>
                <a:sym typeface="Courier New"/>
              </a:rPr>
              <a:t>option</a:t>
            </a:r>
            <a:r>
              <a:rPr lang="en" sz="1150">
                <a:solidFill>
                  <a:srgbClr val="333333"/>
                </a:solidFill>
                <a:latin typeface="Courier New"/>
                <a:ea typeface="Courier New"/>
                <a:cs typeface="Courier New"/>
                <a:sym typeface="Courier New"/>
              </a:rPr>
              <a:t>&gt;</a:t>
            </a:r>
            <a:endParaRPr sz="1150">
              <a:solidFill>
                <a:srgbClr val="212529"/>
              </a:solidFill>
              <a:latin typeface="Courier New"/>
              <a:ea typeface="Courier New"/>
              <a:cs typeface="Courier New"/>
              <a:sym typeface="Courier New"/>
            </a:endParaRPr>
          </a:p>
          <a:p>
            <a:pPr indent="0" lvl="0" marL="0" rtl="0" algn="l">
              <a:spcBef>
                <a:spcPts val="1200"/>
              </a:spcBef>
              <a:spcAft>
                <a:spcPts val="0"/>
              </a:spcAft>
              <a:buNone/>
            </a:pPr>
            <a:r>
              <a:rPr lang="en" sz="1150">
                <a:solidFill>
                  <a:srgbClr val="212529"/>
                </a:solidFill>
                <a:latin typeface="Courier New"/>
                <a:ea typeface="Courier New"/>
                <a:cs typeface="Courier New"/>
                <a:sym typeface="Courier New"/>
              </a:rPr>
              <a:t>  </a:t>
            </a:r>
            <a:r>
              <a:rPr lang="en" sz="1150">
                <a:solidFill>
                  <a:srgbClr val="333333"/>
                </a:solidFill>
                <a:latin typeface="Courier New"/>
                <a:ea typeface="Courier New"/>
                <a:cs typeface="Courier New"/>
                <a:sym typeface="Courier New"/>
              </a:rPr>
              <a:t>&lt;</a:t>
            </a:r>
            <a:r>
              <a:rPr lang="en" sz="1150">
                <a:solidFill>
                  <a:srgbClr val="C6303E"/>
                </a:solidFill>
                <a:latin typeface="Courier New"/>
                <a:ea typeface="Courier New"/>
                <a:cs typeface="Courier New"/>
                <a:sym typeface="Courier New"/>
              </a:rPr>
              <a:t>option </a:t>
            </a:r>
            <a:r>
              <a:rPr lang="en" sz="1150">
                <a:solidFill>
                  <a:srgbClr val="084298"/>
                </a:solidFill>
                <a:latin typeface="Courier New"/>
                <a:ea typeface="Courier New"/>
                <a:cs typeface="Courier New"/>
                <a:sym typeface="Courier New"/>
              </a:rPr>
              <a:t>value</a:t>
            </a:r>
            <a:r>
              <a:rPr lang="en" sz="1150">
                <a:solidFill>
                  <a:srgbClr val="333333"/>
                </a:solidFill>
                <a:latin typeface="Courier New"/>
                <a:ea typeface="Courier New"/>
                <a:cs typeface="Courier New"/>
                <a:sym typeface="Courier New"/>
              </a:rPr>
              <a:t>="</a:t>
            </a:r>
            <a:r>
              <a:rPr lang="en" sz="1150">
                <a:solidFill>
                  <a:srgbClr val="AB296A"/>
                </a:solidFill>
                <a:latin typeface="Courier New"/>
                <a:ea typeface="Courier New"/>
                <a:cs typeface="Courier New"/>
                <a:sym typeface="Courier New"/>
              </a:rPr>
              <a:t>2</a:t>
            </a:r>
            <a:r>
              <a:rPr lang="en" sz="1150">
                <a:solidFill>
                  <a:srgbClr val="333333"/>
                </a:solidFill>
                <a:latin typeface="Courier New"/>
                <a:ea typeface="Courier New"/>
                <a:cs typeface="Courier New"/>
                <a:sym typeface="Courier New"/>
              </a:rPr>
              <a:t>"&gt;</a:t>
            </a:r>
            <a:r>
              <a:rPr lang="en" sz="1150">
                <a:solidFill>
                  <a:srgbClr val="212529"/>
                </a:solidFill>
                <a:latin typeface="Courier New"/>
                <a:ea typeface="Courier New"/>
                <a:cs typeface="Courier New"/>
                <a:sym typeface="Courier New"/>
              </a:rPr>
              <a:t>Two</a:t>
            </a:r>
            <a:r>
              <a:rPr lang="en" sz="1150">
                <a:solidFill>
                  <a:srgbClr val="333333"/>
                </a:solidFill>
                <a:latin typeface="Courier New"/>
                <a:ea typeface="Courier New"/>
                <a:cs typeface="Courier New"/>
                <a:sym typeface="Courier New"/>
              </a:rPr>
              <a:t>&lt;/</a:t>
            </a:r>
            <a:r>
              <a:rPr lang="en" sz="1150">
                <a:solidFill>
                  <a:srgbClr val="C6303E"/>
                </a:solidFill>
                <a:latin typeface="Courier New"/>
                <a:ea typeface="Courier New"/>
                <a:cs typeface="Courier New"/>
                <a:sym typeface="Courier New"/>
              </a:rPr>
              <a:t>option</a:t>
            </a:r>
            <a:r>
              <a:rPr lang="en" sz="1150">
                <a:solidFill>
                  <a:srgbClr val="333333"/>
                </a:solidFill>
                <a:latin typeface="Courier New"/>
                <a:ea typeface="Courier New"/>
                <a:cs typeface="Courier New"/>
                <a:sym typeface="Courier New"/>
              </a:rPr>
              <a:t>&gt;</a:t>
            </a:r>
            <a:endParaRPr sz="1150">
              <a:solidFill>
                <a:srgbClr val="212529"/>
              </a:solidFill>
              <a:latin typeface="Courier New"/>
              <a:ea typeface="Courier New"/>
              <a:cs typeface="Courier New"/>
              <a:sym typeface="Courier New"/>
            </a:endParaRPr>
          </a:p>
          <a:p>
            <a:pPr indent="0" lvl="0" marL="0" rtl="0" algn="l">
              <a:spcBef>
                <a:spcPts val="1200"/>
              </a:spcBef>
              <a:spcAft>
                <a:spcPts val="0"/>
              </a:spcAft>
              <a:buNone/>
            </a:pPr>
            <a:r>
              <a:rPr lang="en" sz="1150">
                <a:solidFill>
                  <a:srgbClr val="212529"/>
                </a:solidFill>
                <a:latin typeface="Courier New"/>
                <a:ea typeface="Courier New"/>
                <a:cs typeface="Courier New"/>
                <a:sym typeface="Courier New"/>
              </a:rPr>
              <a:t>  </a:t>
            </a:r>
            <a:r>
              <a:rPr lang="en" sz="1150">
                <a:solidFill>
                  <a:srgbClr val="333333"/>
                </a:solidFill>
                <a:latin typeface="Courier New"/>
                <a:ea typeface="Courier New"/>
                <a:cs typeface="Courier New"/>
                <a:sym typeface="Courier New"/>
              </a:rPr>
              <a:t>&lt;</a:t>
            </a:r>
            <a:r>
              <a:rPr lang="en" sz="1150">
                <a:solidFill>
                  <a:srgbClr val="C6303E"/>
                </a:solidFill>
                <a:latin typeface="Courier New"/>
                <a:ea typeface="Courier New"/>
                <a:cs typeface="Courier New"/>
                <a:sym typeface="Courier New"/>
              </a:rPr>
              <a:t>option </a:t>
            </a:r>
            <a:r>
              <a:rPr lang="en" sz="1150">
                <a:solidFill>
                  <a:srgbClr val="084298"/>
                </a:solidFill>
                <a:latin typeface="Courier New"/>
                <a:ea typeface="Courier New"/>
                <a:cs typeface="Courier New"/>
                <a:sym typeface="Courier New"/>
              </a:rPr>
              <a:t>value</a:t>
            </a:r>
            <a:r>
              <a:rPr lang="en" sz="1150">
                <a:solidFill>
                  <a:srgbClr val="333333"/>
                </a:solidFill>
                <a:latin typeface="Courier New"/>
                <a:ea typeface="Courier New"/>
                <a:cs typeface="Courier New"/>
                <a:sym typeface="Courier New"/>
              </a:rPr>
              <a:t>="</a:t>
            </a:r>
            <a:r>
              <a:rPr lang="en" sz="1150">
                <a:solidFill>
                  <a:srgbClr val="AB296A"/>
                </a:solidFill>
                <a:latin typeface="Courier New"/>
                <a:ea typeface="Courier New"/>
                <a:cs typeface="Courier New"/>
                <a:sym typeface="Courier New"/>
              </a:rPr>
              <a:t>3</a:t>
            </a:r>
            <a:r>
              <a:rPr lang="en" sz="1150">
                <a:solidFill>
                  <a:srgbClr val="333333"/>
                </a:solidFill>
                <a:latin typeface="Courier New"/>
                <a:ea typeface="Courier New"/>
                <a:cs typeface="Courier New"/>
                <a:sym typeface="Courier New"/>
              </a:rPr>
              <a:t>"&gt;</a:t>
            </a:r>
            <a:r>
              <a:rPr lang="en" sz="1150">
                <a:solidFill>
                  <a:srgbClr val="212529"/>
                </a:solidFill>
                <a:latin typeface="Courier New"/>
                <a:ea typeface="Courier New"/>
                <a:cs typeface="Courier New"/>
                <a:sym typeface="Courier New"/>
              </a:rPr>
              <a:t>Three</a:t>
            </a:r>
            <a:r>
              <a:rPr lang="en" sz="1150">
                <a:solidFill>
                  <a:srgbClr val="333333"/>
                </a:solidFill>
                <a:latin typeface="Courier New"/>
                <a:ea typeface="Courier New"/>
                <a:cs typeface="Courier New"/>
                <a:sym typeface="Courier New"/>
              </a:rPr>
              <a:t>&lt;/</a:t>
            </a:r>
            <a:r>
              <a:rPr lang="en" sz="1150">
                <a:solidFill>
                  <a:srgbClr val="C6303E"/>
                </a:solidFill>
                <a:latin typeface="Courier New"/>
                <a:ea typeface="Courier New"/>
                <a:cs typeface="Courier New"/>
                <a:sym typeface="Courier New"/>
              </a:rPr>
              <a:t>option</a:t>
            </a:r>
            <a:r>
              <a:rPr lang="en" sz="1150">
                <a:solidFill>
                  <a:srgbClr val="333333"/>
                </a:solidFill>
                <a:latin typeface="Courier New"/>
                <a:ea typeface="Courier New"/>
                <a:cs typeface="Courier New"/>
                <a:sym typeface="Courier New"/>
              </a:rPr>
              <a:t>&gt;</a:t>
            </a:r>
            <a:endParaRPr sz="1150">
              <a:solidFill>
                <a:srgbClr val="212529"/>
              </a:solidFill>
              <a:latin typeface="Courier New"/>
              <a:ea typeface="Courier New"/>
              <a:cs typeface="Courier New"/>
              <a:sym typeface="Courier New"/>
            </a:endParaRPr>
          </a:p>
          <a:p>
            <a:pPr indent="0" lvl="0" marL="0" rtl="0" algn="l">
              <a:spcBef>
                <a:spcPts val="1200"/>
              </a:spcBef>
              <a:spcAft>
                <a:spcPts val="0"/>
              </a:spcAft>
              <a:buNone/>
            </a:pPr>
            <a:r>
              <a:rPr lang="en" sz="1150">
                <a:solidFill>
                  <a:srgbClr val="333333"/>
                </a:solidFill>
                <a:latin typeface="Courier New"/>
                <a:ea typeface="Courier New"/>
                <a:cs typeface="Courier New"/>
                <a:sym typeface="Courier New"/>
              </a:rPr>
              <a:t>&lt;/</a:t>
            </a:r>
            <a:r>
              <a:rPr lang="en" sz="1150">
                <a:solidFill>
                  <a:srgbClr val="C6303E"/>
                </a:solidFill>
                <a:latin typeface="Courier New"/>
                <a:ea typeface="Courier New"/>
                <a:cs typeface="Courier New"/>
                <a:sym typeface="Courier New"/>
              </a:rPr>
              <a:t>select</a:t>
            </a:r>
            <a:r>
              <a:rPr lang="en" sz="1150">
                <a:solidFill>
                  <a:srgbClr val="333333"/>
                </a:solidFill>
                <a:latin typeface="Courier New"/>
                <a:ea typeface="Courier New"/>
                <a:cs typeface="Courier New"/>
                <a:sym typeface="Courier New"/>
              </a:rPr>
              <a:t>&gt;</a:t>
            </a:r>
            <a:endParaRPr i="1" sz="15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Bootstrap Components (Form - Checkbox)</a:t>
            </a:r>
            <a:endParaRPr/>
          </a:p>
        </p:txBody>
      </p:sp>
      <p:sp>
        <p:nvSpPr>
          <p:cNvPr id="215" name="Google Shape;215;p27"/>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lang="en" sz="1150">
                <a:solidFill>
                  <a:srgbClr val="333333"/>
                </a:solidFill>
                <a:latin typeface="Courier New"/>
                <a:ea typeface="Courier New"/>
                <a:cs typeface="Courier New"/>
                <a:sym typeface="Courier New"/>
              </a:rPr>
              <a:t>&lt;</a:t>
            </a:r>
            <a:r>
              <a:rPr lang="en" sz="1150">
                <a:solidFill>
                  <a:srgbClr val="C6303E"/>
                </a:solidFill>
                <a:latin typeface="Courier New"/>
                <a:ea typeface="Courier New"/>
                <a:cs typeface="Courier New"/>
                <a:sym typeface="Courier New"/>
              </a:rPr>
              <a:t>div </a:t>
            </a:r>
            <a:r>
              <a:rPr lang="en" sz="1150">
                <a:solidFill>
                  <a:srgbClr val="084298"/>
                </a:solidFill>
                <a:latin typeface="Courier New"/>
                <a:ea typeface="Courier New"/>
                <a:cs typeface="Courier New"/>
                <a:sym typeface="Courier New"/>
              </a:rPr>
              <a:t>class</a:t>
            </a:r>
            <a:r>
              <a:rPr lang="en" sz="1150">
                <a:solidFill>
                  <a:srgbClr val="333333"/>
                </a:solidFill>
                <a:latin typeface="Courier New"/>
                <a:ea typeface="Courier New"/>
                <a:cs typeface="Courier New"/>
                <a:sym typeface="Courier New"/>
              </a:rPr>
              <a:t>="</a:t>
            </a:r>
            <a:r>
              <a:rPr lang="en" sz="1150">
                <a:solidFill>
                  <a:srgbClr val="AB296A"/>
                </a:solidFill>
                <a:latin typeface="Courier New"/>
                <a:ea typeface="Courier New"/>
                <a:cs typeface="Courier New"/>
                <a:sym typeface="Courier New"/>
              </a:rPr>
              <a:t>form-check</a:t>
            </a:r>
            <a:r>
              <a:rPr lang="en" sz="1150">
                <a:solidFill>
                  <a:srgbClr val="333333"/>
                </a:solidFill>
                <a:latin typeface="Courier New"/>
                <a:ea typeface="Courier New"/>
                <a:cs typeface="Courier New"/>
                <a:sym typeface="Courier New"/>
              </a:rPr>
              <a:t>"&gt;</a:t>
            </a:r>
            <a:endParaRPr sz="11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1150">
                <a:solidFill>
                  <a:srgbClr val="212529"/>
                </a:solidFill>
                <a:latin typeface="Courier New"/>
                <a:ea typeface="Courier New"/>
                <a:cs typeface="Courier New"/>
                <a:sym typeface="Courier New"/>
              </a:rPr>
              <a:t>  </a:t>
            </a:r>
            <a:r>
              <a:rPr lang="en" sz="1150">
                <a:solidFill>
                  <a:srgbClr val="333333"/>
                </a:solidFill>
                <a:latin typeface="Courier New"/>
                <a:ea typeface="Courier New"/>
                <a:cs typeface="Courier New"/>
                <a:sym typeface="Courier New"/>
              </a:rPr>
              <a:t>&lt;</a:t>
            </a:r>
            <a:r>
              <a:rPr lang="en" sz="1150">
                <a:solidFill>
                  <a:srgbClr val="C6303E"/>
                </a:solidFill>
                <a:latin typeface="Courier New"/>
                <a:ea typeface="Courier New"/>
                <a:cs typeface="Courier New"/>
                <a:sym typeface="Courier New"/>
              </a:rPr>
              <a:t>input </a:t>
            </a:r>
            <a:r>
              <a:rPr lang="en" sz="1150">
                <a:solidFill>
                  <a:srgbClr val="084298"/>
                </a:solidFill>
                <a:latin typeface="Courier New"/>
                <a:ea typeface="Courier New"/>
                <a:cs typeface="Courier New"/>
                <a:sym typeface="Courier New"/>
              </a:rPr>
              <a:t>class</a:t>
            </a:r>
            <a:r>
              <a:rPr lang="en" sz="1150">
                <a:solidFill>
                  <a:srgbClr val="333333"/>
                </a:solidFill>
                <a:latin typeface="Courier New"/>
                <a:ea typeface="Courier New"/>
                <a:cs typeface="Courier New"/>
                <a:sym typeface="Courier New"/>
              </a:rPr>
              <a:t>="</a:t>
            </a:r>
            <a:r>
              <a:rPr lang="en" sz="1150">
                <a:solidFill>
                  <a:srgbClr val="AB296A"/>
                </a:solidFill>
                <a:latin typeface="Courier New"/>
                <a:ea typeface="Courier New"/>
                <a:cs typeface="Courier New"/>
                <a:sym typeface="Courier New"/>
              </a:rPr>
              <a:t>form-check-input</a:t>
            </a:r>
            <a:r>
              <a:rPr lang="en" sz="1150">
                <a:solidFill>
                  <a:srgbClr val="333333"/>
                </a:solidFill>
                <a:latin typeface="Courier New"/>
                <a:ea typeface="Courier New"/>
                <a:cs typeface="Courier New"/>
                <a:sym typeface="Courier New"/>
              </a:rPr>
              <a:t>"</a:t>
            </a:r>
            <a:r>
              <a:rPr lang="en" sz="1150">
                <a:solidFill>
                  <a:srgbClr val="C6303E"/>
                </a:solidFill>
                <a:latin typeface="Courier New"/>
                <a:ea typeface="Courier New"/>
                <a:cs typeface="Courier New"/>
                <a:sym typeface="Courier New"/>
              </a:rPr>
              <a:t> </a:t>
            </a:r>
            <a:r>
              <a:rPr lang="en" sz="1150">
                <a:solidFill>
                  <a:srgbClr val="084298"/>
                </a:solidFill>
                <a:latin typeface="Courier New"/>
                <a:ea typeface="Courier New"/>
                <a:cs typeface="Courier New"/>
                <a:sym typeface="Courier New"/>
              </a:rPr>
              <a:t>type</a:t>
            </a:r>
            <a:r>
              <a:rPr lang="en" sz="1150">
                <a:solidFill>
                  <a:srgbClr val="333333"/>
                </a:solidFill>
                <a:latin typeface="Courier New"/>
                <a:ea typeface="Courier New"/>
                <a:cs typeface="Courier New"/>
                <a:sym typeface="Courier New"/>
              </a:rPr>
              <a:t>="</a:t>
            </a:r>
            <a:r>
              <a:rPr lang="en" sz="1150">
                <a:solidFill>
                  <a:srgbClr val="AB296A"/>
                </a:solidFill>
                <a:latin typeface="Courier New"/>
                <a:ea typeface="Courier New"/>
                <a:cs typeface="Courier New"/>
                <a:sym typeface="Courier New"/>
              </a:rPr>
              <a:t>checkbox</a:t>
            </a:r>
            <a:r>
              <a:rPr lang="en" sz="1150">
                <a:solidFill>
                  <a:srgbClr val="333333"/>
                </a:solidFill>
                <a:latin typeface="Courier New"/>
                <a:ea typeface="Courier New"/>
                <a:cs typeface="Courier New"/>
                <a:sym typeface="Courier New"/>
              </a:rPr>
              <a:t>"</a:t>
            </a:r>
            <a:r>
              <a:rPr lang="en" sz="1150">
                <a:solidFill>
                  <a:srgbClr val="C6303E"/>
                </a:solidFill>
                <a:latin typeface="Courier New"/>
                <a:ea typeface="Courier New"/>
                <a:cs typeface="Courier New"/>
                <a:sym typeface="Courier New"/>
              </a:rPr>
              <a:t> </a:t>
            </a:r>
            <a:r>
              <a:rPr lang="en" sz="1150">
                <a:solidFill>
                  <a:srgbClr val="084298"/>
                </a:solidFill>
                <a:latin typeface="Courier New"/>
                <a:ea typeface="Courier New"/>
                <a:cs typeface="Courier New"/>
                <a:sym typeface="Courier New"/>
              </a:rPr>
              <a:t>value</a:t>
            </a:r>
            <a:r>
              <a:rPr lang="en" sz="1150">
                <a:solidFill>
                  <a:srgbClr val="333333"/>
                </a:solidFill>
                <a:latin typeface="Courier New"/>
                <a:ea typeface="Courier New"/>
                <a:cs typeface="Courier New"/>
                <a:sym typeface="Courier New"/>
              </a:rPr>
              <a:t>=""</a:t>
            </a:r>
            <a:r>
              <a:rPr lang="en" sz="1150">
                <a:solidFill>
                  <a:srgbClr val="C6303E"/>
                </a:solidFill>
                <a:latin typeface="Courier New"/>
                <a:ea typeface="Courier New"/>
                <a:cs typeface="Courier New"/>
                <a:sym typeface="Courier New"/>
              </a:rPr>
              <a:t> </a:t>
            </a:r>
            <a:r>
              <a:rPr lang="en" sz="1150">
                <a:solidFill>
                  <a:srgbClr val="084298"/>
                </a:solidFill>
                <a:latin typeface="Courier New"/>
                <a:ea typeface="Courier New"/>
                <a:cs typeface="Courier New"/>
                <a:sym typeface="Courier New"/>
              </a:rPr>
              <a:t>id</a:t>
            </a:r>
            <a:r>
              <a:rPr lang="en" sz="1150">
                <a:solidFill>
                  <a:srgbClr val="333333"/>
                </a:solidFill>
                <a:latin typeface="Courier New"/>
                <a:ea typeface="Courier New"/>
                <a:cs typeface="Courier New"/>
                <a:sym typeface="Courier New"/>
              </a:rPr>
              <a:t>="</a:t>
            </a:r>
            <a:r>
              <a:rPr lang="en" sz="1150">
                <a:solidFill>
                  <a:srgbClr val="AB296A"/>
                </a:solidFill>
                <a:latin typeface="Courier New"/>
                <a:ea typeface="Courier New"/>
                <a:cs typeface="Courier New"/>
                <a:sym typeface="Courier New"/>
              </a:rPr>
              <a:t>checkDefault</a:t>
            </a:r>
            <a:r>
              <a:rPr lang="en" sz="1150">
                <a:solidFill>
                  <a:srgbClr val="333333"/>
                </a:solidFill>
                <a:latin typeface="Courier New"/>
                <a:ea typeface="Courier New"/>
                <a:cs typeface="Courier New"/>
                <a:sym typeface="Courier New"/>
              </a:rPr>
              <a:t>"&gt;</a:t>
            </a:r>
            <a:endParaRPr sz="11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1150">
                <a:solidFill>
                  <a:srgbClr val="212529"/>
                </a:solidFill>
                <a:latin typeface="Courier New"/>
                <a:ea typeface="Courier New"/>
                <a:cs typeface="Courier New"/>
                <a:sym typeface="Courier New"/>
              </a:rPr>
              <a:t>  </a:t>
            </a:r>
            <a:r>
              <a:rPr lang="en" sz="1150">
                <a:solidFill>
                  <a:srgbClr val="333333"/>
                </a:solidFill>
                <a:latin typeface="Courier New"/>
                <a:ea typeface="Courier New"/>
                <a:cs typeface="Courier New"/>
                <a:sym typeface="Courier New"/>
              </a:rPr>
              <a:t>&lt;</a:t>
            </a:r>
            <a:r>
              <a:rPr lang="en" sz="1150">
                <a:solidFill>
                  <a:srgbClr val="C6303E"/>
                </a:solidFill>
                <a:latin typeface="Courier New"/>
                <a:ea typeface="Courier New"/>
                <a:cs typeface="Courier New"/>
                <a:sym typeface="Courier New"/>
              </a:rPr>
              <a:t>label </a:t>
            </a:r>
            <a:r>
              <a:rPr lang="en" sz="1150">
                <a:solidFill>
                  <a:srgbClr val="084298"/>
                </a:solidFill>
                <a:latin typeface="Courier New"/>
                <a:ea typeface="Courier New"/>
                <a:cs typeface="Courier New"/>
                <a:sym typeface="Courier New"/>
              </a:rPr>
              <a:t>class</a:t>
            </a:r>
            <a:r>
              <a:rPr lang="en" sz="1150">
                <a:solidFill>
                  <a:srgbClr val="333333"/>
                </a:solidFill>
                <a:latin typeface="Courier New"/>
                <a:ea typeface="Courier New"/>
                <a:cs typeface="Courier New"/>
                <a:sym typeface="Courier New"/>
              </a:rPr>
              <a:t>="</a:t>
            </a:r>
            <a:r>
              <a:rPr lang="en" sz="1150">
                <a:solidFill>
                  <a:srgbClr val="AB296A"/>
                </a:solidFill>
                <a:latin typeface="Courier New"/>
                <a:ea typeface="Courier New"/>
                <a:cs typeface="Courier New"/>
                <a:sym typeface="Courier New"/>
              </a:rPr>
              <a:t>form-check-label</a:t>
            </a:r>
            <a:r>
              <a:rPr lang="en" sz="1150">
                <a:solidFill>
                  <a:srgbClr val="333333"/>
                </a:solidFill>
                <a:latin typeface="Courier New"/>
                <a:ea typeface="Courier New"/>
                <a:cs typeface="Courier New"/>
                <a:sym typeface="Courier New"/>
              </a:rPr>
              <a:t>"</a:t>
            </a:r>
            <a:r>
              <a:rPr lang="en" sz="1150">
                <a:solidFill>
                  <a:srgbClr val="C6303E"/>
                </a:solidFill>
                <a:latin typeface="Courier New"/>
                <a:ea typeface="Courier New"/>
                <a:cs typeface="Courier New"/>
                <a:sym typeface="Courier New"/>
              </a:rPr>
              <a:t> </a:t>
            </a:r>
            <a:r>
              <a:rPr lang="en" sz="1150">
                <a:solidFill>
                  <a:srgbClr val="084298"/>
                </a:solidFill>
                <a:latin typeface="Courier New"/>
                <a:ea typeface="Courier New"/>
                <a:cs typeface="Courier New"/>
                <a:sym typeface="Courier New"/>
              </a:rPr>
              <a:t>for</a:t>
            </a:r>
            <a:r>
              <a:rPr lang="en" sz="1150">
                <a:solidFill>
                  <a:srgbClr val="333333"/>
                </a:solidFill>
                <a:latin typeface="Courier New"/>
                <a:ea typeface="Courier New"/>
                <a:cs typeface="Courier New"/>
                <a:sym typeface="Courier New"/>
              </a:rPr>
              <a:t>="</a:t>
            </a:r>
            <a:r>
              <a:rPr lang="en" sz="1150">
                <a:solidFill>
                  <a:srgbClr val="AB296A"/>
                </a:solidFill>
                <a:latin typeface="Courier New"/>
                <a:ea typeface="Courier New"/>
                <a:cs typeface="Courier New"/>
                <a:sym typeface="Courier New"/>
              </a:rPr>
              <a:t>checkDefault</a:t>
            </a:r>
            <a:r>
              <a:rPr lang="en" sz="1150">
                <a:solidFill>
                  <a:srgbClr val="333333"/>
                </a:solidFill>
                <a:latin typeface="Courier New"/>
                <a:ea typeface="Courier New"/>
                <a:cs typeface="Courier New"/>
                <a:sym typeface="Courier New"/>
              </a:rPr>
              <a:t>"&gt;</a:t>
            </a:r>
            <a:endParaRPr sz="11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1150">
                <a:solidFill>
                  <a:srgbClr val="212529"/>
                </a:solidFill>
                <a:latin typeface="Courier New"/>
                <a:ea typeface="Courier New"/>
                <a:cs typeface="Courier New"/>
                <a:sym typeface="Courier New"/>
              </a:rPr>
              <a:t>    Default checkbox</a:t>
            </a:r>
            <a:endParaRPr sz="11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1150">
                <a:solidFill>
                  <a:srgbClr val="212529"/>
                </a:solidFill>
                <a:latin typeface="Courier New"/>
                <a:ea typeface="Courier New"/>
                <a:cs typeface="Courier New"/>
                <a:sym typeface="Courier New"/>
              </a:rPr>
              <a:t>  </a:t>
            </a:r>
            <a:r>
              <a:rPr lang="en" sz="1150">
                <a:solidFill>
                  <a:srgbClr val="333333"/>
                </a:solidFill>
                <a:latin typeface="Courier New"/>
                <a:ea typeface="Courier New"/>
                <a:cs typeface="Courier New"/>
                <a:sym typeface="Courier New"/>
              </a:rPr>
              <a:t>&lt;/</a:t>
            </a:r>
            <a:r>
              <a:rPr lang="en" sz="1150">
                <a:solidFill>
                  <a:srgbClr val="C6303E"/>
                </a:solidFill>
                <a:latin typeface="Courier New"/>
                <a:ea typeface="Courier New"/>
                <a:cs typeface="Courier New"/>
                <a:sym typeface="Courier New"/>
              </a:rPr>
              <a:t>label</a:t>
            </a:r>
            <a:r>
              <a:rPr lang="en" sz="1150">
                <a:solidFill>
                  <a:srgbClr val="333333"/>
                </a:solidFill>
                <a:latin typeface="Courier New"/>
                <a:ea typeface="Courier New"/>
                <a:cs typeface="Courier New"/>
                <a:sym typeface="Courier New"/>
              </a:rPr>
              <a:t>&gt;</a:t>
            </a:r>
            <a:endParaRPr sz="11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1150">
                <a:solidFill>
                  <a:srgbClr val="333333"/>
                </a:solidFill>
                <a:latin typeface="Courier New"/>
                <a:ea typeface="Courier New"/>
                <a:cs typeface="Courier New"/>
                <a:sym typeface="Courier New"/>
              </a:rPr>
              <a:t>&lt;/</a:t>
            </a:r>
            <a:r>
              <a:rPr lang="en" sz="1150">
                <a:solidFill>
                  <a:srgbClr val="C6303E"/>
                </a:solidFill>
                <a:latin typeface="Courier New"/>
                <a:ea typeface="Courier New"/>
                <a:cs typeface="Courier New"/>
                <a:sym typeface="Courier New"/>
              </a:rPr>
              <a:t>div</a:t>
            </a:r>
            <a:r>
              <a:rPr lang="en" sz="1150">
                <a:solidFill>
                  <a:srgbClr val="333333"/>
                </a:solidFill>
                <a:latin typeface="Courier New"/>
                <a:ea typeface="Courier New"/>
                <a:cs typeface="Courier New"/>
                <a:sym typeface="Courier New"/>
              </a:rPr>
              <a:t>&gt;</a:t>
            </a:r>
            <a:endParaRPr sz="11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1150">
                <a:solidFill>
                  <a:srgbClr val="333333"/>
                </a:solidFill>
                <a:latin typeface="Courier New"/>
                <a:ea typeface="Courier New"/>
                <a:cs typeface="Courier New"/>
                <a:sym typeface="Courier New"/>
              </a:rPr>
              <a:t>&lt;</a:t>
            </a:r>
            <a:r>
              <a:rPr lang="en" sz="1150">
                <a:solidFill>
                  <a:srgbClr val="C6303E"/>
                </a:solidFill>
                <a:latin typeface="Courier New"/>
                <a:ea typeface="Courier New"/>
                <a:cs typeface="Courier New"/>
                <a:sym typeface="Courier New"/>
              </a:rPr>
              <a:t>div </a:t>
            </a:r>
            <a:r>
              <a:rPr lang="en" sz="1150">
                <a:solidFill>
                  <a:srgbClr val="084298"/>
                </a:solidFill>
                <a:latin typeface="Courier New"/>
                <a:ea typeface="Courier New"/>
                <a:cs typeface="Courier New"/>
                <a:sym typeface="Courier New"/>
              </a:rPr>
              <a:t>class</a:t>
            </a:r>
            <a:r>
              <a:rPr lang="en" sz="1150">
                <a:solidFill>
                  <a:srgbClr val="333333"/>
                </a:solidFill>
                <a:latin typeface="Courier New"/>
                <a:ea typeface="Courier New"/>
                <a:cs typeface="Courier New"/>
                <a:sym typeface="Courier New"/>
              </a:rPr>
              <a:t>="</a:t>
            </a:r>
            <a:r>
              <a:rPr lang="en" sz="1150">
                <a:solidFill>
                  <a:srgbClr val="AB296A"/>
                </a:solidFill>
                <a:latin typeface="Courier New"/>
                <a:ea typeface="Courier New"/>
                <a:cs typeface="Courier New"/>
                <a:sym typeface="Courier New"/>
              </a:rPr>
              <a:t>form-check</a:t>
            </a:r>
            <a:r>
              <a:rPr lang="en" sz="1150">
                <a:solidFill>
                  <a:srgbClr val="333333"/>
                </a:solidFill>
                <a:latin typeface="Courier New"/>
                <a:ea typeface="Courier New"/>
                <a:cs typeface="Courier New"/>
                <a:sym typeface="Courier New"/>
              </a:rPr>
              <a:t>"&gt;</a:t>
            </a:r>
            <a:endParaRPr sz="11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1150">
                <a:solidFill>
                  <a:srgbClr val="212529"/>
                </a:solidFill>
                <a:latin typeface="Courier New"/>
                <a:ea typeface="Courier New"/>
                <a:cs typeface="Courier New"/>
                <a:sym typeface="Courier New"/>
              </a:rPr>
              <a:t>  </a:t>
            </a:r>
            <a:r>
              <a:rPr lang="en" sz="1150">
                <a:solidFill>
                  <a:srgbClr val="333333"/>
                </a:solidFill>
                <a:latin typeface="Courier New"/>
                <a:ea typeface="Courier New"/>
                <a:cs typeface="Courier New"/>
                <a:sym typeface="Courier New"/>
              </a:rPr>
              <a:t>&lt;</a:t>
            </a:r>
            <a:r>
              <a:rPr lang="en" sz="1150">
                <a:solidFill>
                  <a:srgbClr val="C6303E"/>
                </a:solidFill>
                <a:latin typeface="Courier New"/>
                <a:ea typeface="Courier New"/>
                <a:cs typeface="Courier New"/>
                <a:sym typeface="Courier New"/>
              </a:rPr>
              <a:t>input </a:t>
            </a:r>
            <a:r>
              <a:rPr lang="en" sz="1150">
                <a:solidFill>
                  <a:srgbClr val="084298"/>
                </a:solidFill>
                <a:latin typeface="Courier New"/>
                <a:ea typeface="Courier New"/>
                <a:cs typeface="Courier New"/>
                <a:sym typeface="Courier New"/>
              </a:rPr>
              <a:t>class</a:t>
            </a:r>
            <a:r>
              <a:rPr lang="en" sz="1150">
                <a:solidFill>
                  <a:srgbClr val="333333"/>
                </a:solidFill>
                <a:latin typeface="Courier New"/>
                <a:ea typeface="Courier New"/>
                <a:cs typeface="Courier New"/>
                <a:sym typeface="Courier New"/>
              </a:rPr>
              <a:t>="</a:t>
            </a:r>
            <a:r>
              <a:rPr lang="en" sz="1150">
                <a:solidFill>
                  <a:srgbClr val="AB296A"/>
                </a:solidFill>
                <a:latin typeface="Courier New"/>
                <a:ea typeface="Courier New"/>
                <a:cs typeface="Courier New"/>
                <a:sym typeface="Courier New"/>
              </a:rPr>
              <a:t>form-check-input</a:t>
            </a:r>
            <a:r>
              <a:rPr lang="en" sz="1150">
                <a:solidFill>
                  <a:srgbClr val="333333"/>
                </a:solidFill>
                <a:latin typeface="Courier New"/>
                <a:ea typeface="Courier New"/>
                <a:cs typeface="Courier New"/>
                <a:sym typeface="Courier New"/>
              </a:rPr>
              <a:t>"</a:t>
            </a:r>
            <a:r>
              <a:rPr lang="en" sz="1150">
                <a:solidFill>
                  <a:srgbClr val="C6303E"/>
                </a:solidFill>
                <a:latin typeface="Courier New"/>
                <a:ea typeface="Courier New"/>
                <a:cs typeface="Courier New"/>
                <a:sym typeface="Courier New"/>
              </a:rPr>
              <a:t> </a:t>
            </a:r>
            <a:r>
              <a:rPr lang="en" sz="1150">
                <a:solidFill>
                  <a:srgbClr val="084298"/>
                </a:solidFill>
                <a:latin typeface="Courier New"/>
                <a:ea typeface="Courier New"/>
                <a:cs typeface="Courier New"/>
                <a:sym typeface="Courier New"/>
              </a:rPr>
              <a:t>type</a:t>
            </a:r>
            <a:r>
              <a:rPr lang="en" sz="1150">
                <a:solidFill>
                  <a:srgbClr val="333333"/>
                </a:solidFill>
                <a:latin typeface="Courier New"/>
                <a:ea typeface="Courier New"/>
                <a:cs typeface="Courier New"/>
                <a:sym typeface="Courier New"/>
              </a:rPr>
              <a:t>="</a:t>
            </a:r>
            <a:r>
              <a:rPr lang="en" sz="1150">
                <a:solidFill>
                  <a:srgbClr val="AB296A"/>
                </a:solidFill>
                <a:latin typeface="Courier New"/>
                <a:ea typeface="Courier New"/>
                <a:cs typeface="Courier New"/>
                <a:sym typeface="Courier New"/>
              </a:rPr>
              <a:t>checkbox</a:t>
            </a:r>
            <a:r>
              <a:rPr lang="en" sz="1150">
                <a:solidFill>
                  <a:srgbClr val="333333"/>
                </a:solidFill>
                <a:latin typeface="Courier New"/>
                <a:ea typeface="Courier New"/>
                <a:cs typeface="Courier New"/>
                <a:sym typeface="Courier New"/>
              </a:rPr>
              <a:t>"</a:t>
            </a:r>
            <a:r>
              <a:rPr lang="en" sz="1150">
                <a:solidFill>
                  <a:srgbClr val="C6303E"/>
                </a:solidFill>
                <a:latin typeface="Courier New"/>
                <a:ea typeface="Courier New"/>
                <a:cs typeface="Courier New"/>
                <a:sym typeface="Courier New"/>
              </a:rPr>
              <a:t> </a:t>
            </a:r>
            <a:r>
              <a:rPr lang="en" sz="1150">
                <a:solidFill>
                  <a:srgbClr val="084298"/>
                </a:solidFill>
                <a:latin typeface="Courier New"/>
                <a:ea typeface="Courier New"/>
                <a:cs typeface="Courier New"/>
                <a:sym typeface="Courier New"/>
              </a:rPr>
              <a:t>value</a:t>
            </a:r>
            <a:r>
              <a:rPr lang="en" sz="1150">
                <a:solidFill>
                  <a:srgbClr val="333333"/>
                </a:solidFill>
                <a:latin typeface="Courier New"/>
                <a:ea typeface="Courier New"/>
                <a:cs typeface="Courier New"/>
                <a:sym typeface="Courier New"/>
              </a:rPr>
              <a:t>=""</a:t>
            </a:r>
            <a:r>
              <a:rPr lang="en" sz="1150">
                <a:solidFill>
                  <a:srgbClr val="C6303E"/>
                </a:solidFill>
                <a:latin typeface="Courier New"/>
                <a:ea typeface="Courier New"/>
                <a:cs typeface="Courier New"/>
                <a:sym typeface="Courier New"/>
              </a:rPr>
              <a:t> </a:t>
            </a:r>
            <a:r>
              <a:rPr lang="en" sz="1150">
                <a:solidFill>
                  <a:srgbClr val="084298"/>
                </a:solidFill>
                <a:latin typeface="Courier New"/>
                <a:ea typeface="Courier New"/>
                <a:cs typeface="Courier New"/>
                <a:sym typeface="Courier New"/>
              </a:rPr>
              <a:t>id</a:t>
            </a:r>
            <a:r>
              <a:rPr lang="en" sz="1150">
                <a:solidFill>
                  <a:srgbClr val="333333"/>
                </a:solidFill>
                <a:latin typeface="Courier New"/>
                <a:ea typeface="Courier New"/>
                <a:cs typeface="Courier New"/>
                <a:sym typeface="Courier New"/>
              </a:rPr>
              <a:t>="</a:t>
            </a:r>
            <a:r>
              <a:rPr lang="en" sz="1150">
                <a:solidFill>
                  <a:srgbClr val="AB296A"/>
                </a:solidFill>
                <a:latin typeface="Courier New"/>
                <a:ea typeface="Courier New"/>
                <a:cs typeface="Courier New"/>
                <a:sym typeface="Courier New"/>
              </a:rPr>
              <a:t>checkChecked</a:t>
            </a:r>
            <a:r>
              <a:rPr lang="en" sz="1150">
                <a:solidFill>
                  <a:srgbClr val="333333"/>
                </a:solidFill>
                <a:latin typeface="Courier New"/>
                <a:ea typeface="Courier New"/>
                <a:cs typeface="Courier New"/>
                <a:sym typeface="Courier New"/>
              </a:rPr>
              <a:t>"</a:t>
            </a:r>
            <a:r>
              <a:rPr lang="en" sz="1150">
                <a:solidFill>
                  <a:srgbClr val="C6303E"/>
                </a:solidFill>
                <a:latin typeface="Courier New"/>
                <a:ea typeface="Courier New"/>
                <a:cs typeface="Courier New"/>
                <a:sym typeface="Courier New"/>
              </a:rPr>
              <a:t> </a:t>
            </a:r>
            <a:r>
              <a:rPr lang="en" sz="1150">
                <a:solidFill>
                  <a:srgbClr val="084298"/>
                </a:solidFill>
                <a:latin typeface="Courier New"/>
                <a:ea typeface="Courier New"/>
                <a:cs typeface="Courier New"/>
                <a:sym typeface="Courier New"/>
              </a:rPr>
              <a:t>checked</a:t>
            </a:r>
            <a:r>
              <a:rPr lang="en" sz="1150">
                <a:solidFill>
                  <a:srgbClr val="333333"/>
                </a:solidFill>
                <a:latin typeface="Courier New"/>
                <a:ea typeface="Courier New"/>
                <a:cs typeface="Courier New"/>
                <a:sym typeface="Courier New"/>
              </a:rPr>
              <a:t>&gt;</a:t>
            </a:r>
            <a:endParaRPr sz="11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1150">
                <a:solidFill>
                  <a:srgbClr val="212529"/>
                </a:solidFill>
                <a:latin typeface="Courier New"/>
                <a:ea typeface="Courier New"/>
                <a:cs typeface="Courier New"/>
                <a:sym typeface="Courier New"/>
              </a:rPr>
              <a:t>  </a:t>
            </a:r>
            <a:r>
              <a:rPr lang="en" sz="1150">
                <a:solidFill>
                  <a:srgbClr val="333333"/>
                </a:solidFill>
                <a:latin typeface="Courier New"/>
                <a:ea typeface="Courier New"/>
                <a:cs typeface="Courier New"/>
                <a:sym typeface="Courier New"/>
              </a:rPr>
              <a:t>&lt;</a:t>
            </a:r>
            <a:r>
              <a:rPr lang="en" sz="1150">
                <a:solidFill>
                  <a:srgbClr val="C6303E"/>
                </a:solidFill>
                <a:latin typeface="Courier New"/>
                <a:ea typeface="Courier New"/>
                <a:cs typeface="Courier New"/>
                <a:sym typeface="Courier New"/>
              </a:rPr>
              <a:t>label </a:t>
            </a:r>
            <a:r>
              <a:rPr lang="en" sz="1150">
                <a:solidFill>
                  <a:srgbClr val="084298"/>
                </a:solidFill>
                <a:latin typeface="Courier New"/>
                <a:ea typeface="Courier New"/>
                <a:cs typeface="Courier New"/>
                <a:sym typeface="Courier New"/>
              </a:rPr>
              <a:t>class</a:t>
            </a:r>
            <a:r>
              <a:rPr lang="en" sz="1150">
                <a:solidFill>
                  <a:srgbClr val="333333"/>
                </a:solidFill>
                <a:latin typeface="Courier New"/>
                <a:ea typeface="Courier New"/>
                <a:cs typeface="Courier New"/>
                <a:sym typeface="Courier New"/>
              </a:rPr>
              <a:t>="</a:t>
            </a:r>
            <a:r>
              <a:rPr lang="en" sz="1150">
                <a:solidFill>
                  <a:srgbClr val="AB296A"/>
                </a:solidFill>
                <a:latin typeface="Courier New"/>
                <a:ea typeface="Courier New"/>
                <a:cs typeface="Courier New"/>
                <a:sym typeface="Courier New"/>
              </a:rPr>
              <a:t>form-check-label</a:t>
            </a:r>
            <a:r>
              <a:rPr lang="en" sz="1150">
                <a:solidFill>
                  <a:srgbClr val="333333"/>
                </a:solidFill>
                <a:latin typeface="Courier New"/>
                <a:ea typeface="Courier New"/>
                <a:cs typeface="Courier New"/>
                <a:sym typeface="Courier New"/>
              </a:rPr>
              <a:t>"</a:t>
            </a:r>
            <a:r>
              <a:rPr lang="en" sz="1150">
                <a:solidFill>
                  <a:srgbClr val="C6303E"/>
                </a:solidFill>
                <a:latin typeface="Courier New"/>
                <a:ea typeface="Courier New"/>
                <a:cs typeface="Courier New"/>
                <a:sym typeface="Courier New"/>
              </a:rPr>
              <a:t> </a:t>
            </a:r>
            <a:r>
              <a:rPr lang="en" sz="1150">
                <a:solidFill>
                  <a:srgbClr val="084298"/>
                </a:solidFill>
                <a:latin typeface="Courier New"/>
                <a:ea typeface="Courier New"/>
                <a:cs typeface="Courier New"/>
                <a:sym typeface="Courier New"/>
              </a:rPr>
              <a:t>for</a:t>
            </a:r>
            <a:r>
              <a:rPr lang="en" sz="1150">
                <a:solidFill>
                  <a:srgbClr val="333333"/>
                </a:solidFill>
                <a:latin typeface="Courier New"/>
                <a:ea typeface="Courier New"/>
                <a:cs typeface="Courier New"/>
                <a:sym typeface="Courier New"/>
              </a:rPr>
              <a:t>="</a:t>
            </a:r>
            <a:r>
              <a:rPr lang="en" sz="1150">
                <a:solidFill>
                  <a:srgbClr val="AB296A"/>
                </a:solidFill>
                <a:latin typeface="Courier New"/>
                <a:ea typeface="Courier New"/>
                <a:cs typeface="Courier New"/>
                <a:sym typeface="Courier New"/>
              </a:rPr>
              <a:t>checkChecked</a:t>
            </a:r>
            <a:r>
              <a:rPr lang="en" sz="1150">
                <a:solidFill>
                  <a:srgbClr val="333333"/>
                </a:solidFill>
                <a:latin typeface="Courier New"/>
                <a:ea typeface="Courier New"/>
                <a:cs typeface="Courier New"/>
                <a:sym typeface="Courier New"/>
              </a:rPr>
              <a:t>"&gt;</a:t>
            </a:r>
            <a:endParaRPr sz="11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1150">
                <a:solidFill>
                  <a:srgbClr val="212529"/>
                </a:solidFill>
                <a:latin typeface="Courier New"/>
                <a:ea typeface="Courier New"/>
                <a:cs typeface="Courier New"/>
                <a:sym typeface="Courier New"/>
              </a:rPr>
              <a:t>    Checked checkbox</a:t>
            </a:r>
            <a:endParaRPr sz="11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1150">
                <a:solidFill>
                  <a:srgbClr val="212529"/>
                </a:solidFill>
                <a:latin typeface="Courier New"/>
                <a:ea typeface="Courier New"/>
                <a:cs typeface="Courier New"/>
                <a:sym typeface="Courier New"/>
              </a:rPr>
              <a:t>  </a:t>
            </a:r>
            <a:r>
              <a:rPr lang="en" sz="1150">
                <a:solidFill>
                  <a:srgbClr val="333333"/>
                </a:solidFill>
                <a:latin typeface="Courier New"/>
                <a:ea typeface="Courier New"/>
                <a:cs typeface="Courier New"/>
                <a:sym typeface="Courier New"/>
              </a:rPr>
              <a:t>&lt;/</a:t>
            </a:r>
            <a:r>
              <a:rPr lang="en" sz="1150">
                <a:solidFill>
                  <a:srgbClr val="C6303E"/>
                </a:solidFill>
                <a:latin typeface="Courier New"/>
                <a:ea typeface="Courier New"/>
                <a:cs typeface="Courier New"/>
                <a:sym typeface="Courier New"/>
              </a:rPr>
              <a:t>label</a:t>
            </a:r>
            <a:r>
              <a:rPr lang="en" sz="1150">
                <a:solidFill>
                  <a:srgbClr val="333333"/>
                </a:solidFill>
                <a:latin typeface="Courier New"/>
                <a:ea typeface="Courier New"/>
                <a:cs typeface="Courier New"/>
                <a:sym typeface="Courier New"/>
              </a:rPr>
              <a:t>&gt;</a:t>
            </a:r>
            <a:endParaRPr sz="11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1150">
                <a:solidFill>
                  <a:srgbClr val="333333"/>
                </a:solidFill>
                <a:latin typeface="Courier New"/>
                <a:ea typeface="Courier New"/>
                <a:cs typeface="Courier New"/>
                <a:sym typeface="Courier New"/>
              </a:rPr>
              <a:t>&lt;/</a:t>
            </a:r>
            <a:r>
              <a:rPr lang="en" sz="1150">
                <a:solidFill>
                  <a:srgbClr val="C6303E"/>
                </a:solidFill>
                <a:latin typeface="Courier New"/>
                <a:ea typeface="Courier New"/>
                <a:cs typeface="Courier New"/>
                <a:sym typeface="Courier New"/>
              </a:rPr>
              <a:t>div</a:t>
            </a:r>
            <a:r>
              <a:rPr lang="en" sz="1150">
                <a:solidFill>
                  <a:srgbClr val="333333"/>
                </a:solidFill>
                <a:latin typeface="Courier New"/>
                <a:ea typeface="Courier New"/>
                <a:cs typeface="Courier New"/>
                <a:sym typeface="Courier New"/>
              </a:rPr>
              <a:t>&gt;</a:t>
            </a:r>
            <a:endParaRPr sz="1150">
              <a:solidFill>
                <a:srgbClr val="333333"/>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t/>
            </a:r>
            <a:endParaRPr i="1" sz="1405"/>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Bootstrap Components (Form - Radio)</a:t>
            </a:r>
            <a:endParaRPr/>
          </a:p>
        </p:txBody>
      </p:sp>
      <p:sp>
        <p:nvSpPr>
          <p:cNvPr id="221" name="Google Shape;221;p28"/>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lang="en" sz="1150">
                <a:solidFill>
                  <a:srgbClr val="333333"/>
                </a:solidFill>
                <a:latin typeface="Courier New"/>
                <a:ea typeface="Courier New"/>
                <a:cs typeface="Courier New"/>
                <a:sym typeface="Courier New"/>
              </a:rPr>
              <a:t>&lt;</a:t>
            </a:r>
            <a:r>
              <a:rPr lang="en" sz="1150">
                <a:solidFill>
                  <a:srgbClr val="C6303E"/>
                </a:solidFill>
                <a:latin typeface="Courier New"/>
                <a:ea typeface="Courier New"/>
                <a:cs typeface="Courier New"/>
                <a:sym typeface="Courier New"/>
              </a:rPr>
              <a:t>div </a:t>
            </a:r>
            <a:r>
              <a:rPr lang="en" sz="1150">
                <a:solidFill>
                  <a:srgbClr val="084298"/>
                </a:solidFill>
                <a:latin typeface="Courier New"/>
                <a:ea typeface="Courier New"/>
                <a:cs typeface="Courier New"/>
                <a:sym typeface="Courier New"/>
              </a:rPr>
              <a:t>class</a:t>
            </a:r>
            <a:r>
              <a:rPr lang="en" sz="1150">
                <a:solidFill>
                  <a:srgbClr val="333333"/>
                </a:solidFill>
                <a:latin typeface="Courier New"/>
                <a:ea typeface="Courier New"/>
                <a:cs typeface="Courier New"/>
                <a:sym typeface="Courier New"/>
              </a:rPr>
              <a:t>="</a:t>
            </a:r>
            <a:r>
              <a:rPr lang="en" sz="1150">
                <a:solidFill>
                  <a:srgbClr val="AB296A"/>
                </a:solidFill>
                <a:latin typeface="Courier New"/>
                <a:ea typeface="Courier New"/>
                <a:cs typeface="Courier New"/>
                <a:sym typeface="Courier New"/>
              </a:rPr>
              <a:t>form-check</a:t>
            </a:r>
            <a:r>
              <a:rPr lang="en" sz="1150">
                <a:solidFill>
                  <a:srgbClr val="333333"/>
                </a:solidFill>
                <a:latin typeface="Courier New"/>
                <a:ea typeface="Courier New"/>
                <a:cs typeface="Courier New"/>
                <a:sym typeface="Courier New"/>
              </a:rPr>
              <a:t>"&gt;</a:t>
            </a:r>
            <a:endParaRPr sz="11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1150">
                <a:solidFill>
                  <a:srgbClr val="212529"/>
                </a:solidFill>
                <a:latin typeface="Courier New"/>
                <a:ea typeface="Courier New"/>
                <a:cs typeface="Courier New"/>
                <a:sym typeface="Courier New"/>
              </a:rPr>
              <a:t>  </a:t>
            </a:r>
            <a:r>
              <a:rPr lang="en" sz="1150">
                <a:solidFill>
                  <a:srgbClr val="333333"/>
                </a:solidFill>
                <a:latin typeface="Courier New"/>
                <a:ea typeface="Courier New"/>
                <a:cs typeface="Courier New"/>
                <a:sym typeface="Courier New"/>
              </a:rPr>
              <a:t>&lt;</a:t>
            </a:r>
            <a:r>
              <a:rPr lang="en" sz="1150">
                <a:solidFill>
                  <a:srgbClr val="C6303E"/>
                </a:solidFill>
                <a:latin typeface="Courier New"/>
                <a:ea typeface="Courier New"/>
                <a:cs typeface="Courier New"/>
                <a:sym typeface="Courier New"/>
              </a:rPr>
              <a:t>input </a:t>
            </a:r>
            <a:r>
              <a:rPr lang="en" sz="1150">
                <a:solidFill>
                  <a:srgbClr val="084298"/>
                </a:solidFill>
                <a:latin typeface="Courier New"/>
                <a:ea typeface="Courier New"/>
                <a:cs typeface="Courier New"/>
                <a:sym typeface="Courier New"/>
              </a:rPr>
              <a:t>class</a:t>
            </a:r>
            <a:r>
              <a:rPr lang="en" sz="1150">
                <a:solidFill>
                  <a:srgbClr val="333333"/>
                </a:solidFill>
                <a:latin typeface="Courier New"/>
                <a:ea typeface="Courier New"/>
                <a:cs typeface="Courier New"/>
                <a:sym typeface="Courier New"/>
              </a:rPr>
              <a:t>="</a:t>
            </a:r>
            <a:r>
              <a:rPr lang="en" sz="1150">
                <a:solidFill>
                  <a:srgbClr val="AB296A"/>
                </a:solidFill>
                <a:latin typeface="Courier New"/>
                <a:ea typeface="Courier New"/>
                <a:cs typeface="Courier New"/>
                <a:sym typeface="Courier New"/>
              </a:rPr>
              <a:t>form-check-input</a:t>
            </a:r>
            <a:r>
              <a:rPr lang="en" sz="1150">
                <a:solidFill>
                  <a:srgbClr val="333333"/>
                </a:solidFill>
                <a:latin typeface="Courier New"/>
                <a:ea typeface="Courier New"/>
                <a:cs typeface="Courier New"/>
                <a:sym typeface="Courier New"/>
              </a:rPr>
              <a:t>"</a:t>
            </a:r>
            <a:r>
              <a:rPr lang="en" sz="1150">
                <a:solidFill>
                  <a:srgbClr val="C6303E"/>
                </a:solidFill>
                <a:latin typeface="Courier New"/>
                <a:ea typeface="Courier New"/>
                <a:cs typeface="Courier New"/>
                <a:sym typeface="Courier New"/>
              </a:rPr>
              <a:t> </a:t>
            </a:r>
            <a:r>
              <a:rPr lang="en" sz="1150">
                <a:solidFill>
                  <a:srgbClr val="084298"/>
                </a:solidFill>
                <a:latin typeface="Courier New"/>
                <a:ea typeface="Courier New"/>
                <a:cs typeface="Courier New"/>
                <a:sym typeface="Courier New"/>
              </a:rPr>
              <a:t>type</a:t>
            </a:r>
            <a:r>
              <a:rPr lang="en" sz="1150">
                <a:solidFill>
                  <a:srgbClr val="333333"/>
                </a:solidFill>
                <a:latin typeface="Courier New"/>
                <a:ea typeface="Courier New"/>
                <a:cs typeface="Courier New"/>
                <a:sym typeface="Courier New"/>
              </a:rPr>
              <a:t>="</a:t>
            </a:r>
            <a:r>
              <a:rPr lang="en" sz="1150">
                <a:solidFill>
                  <a:srgbClr val="AB296A"/>
                </a:solidFill>
                <a:latin typeface="Courier New"/>
                <a:ea typeface="Courier New"/>
                <a:cs typeface="Courier New"/>
                <a:sym typeface="Courier New"/>
              </a:rPr>
              <a:t>radio</a:t>
            </a:r>
            <a:r>
              <a:rPr lang="en" sz="1150">
                <a:solidFill>
                  <a:srgbClr val="333333"/>
                </a:solidFill>
                <a:latin typeface="Courier New"/>
                <a:ea typeface="Courier New"/>
                <a:cs typeface="Courier New"/>
                <a:sym typeface="Courier New"/>
              </a:rPr>
              <a:t>"</a:t>
            </a:r>
            <a:r>
              <a:rPr lang="en" sz="1150">
                <a:solidFill>
                  <a:srgbClr val="C6303E"/>
                </a:solidFill>
                <a:latin typeface="Courier New"/>
                <a:ea typeface="Courier New"/>
                <a:cs typeface="Courier New"/>
                <a:sym typeface="Courier New"/>
              </a:rPr>
              <a:t> </a:t>
            </a:r>
            <a:r>
              <a:rPr lang="en" sz="1150">
                <a:solidFill>
                  <a:srgbClr val="084298"/>
                </a:solidFill>
                <a:latin typeface="Courier New"/>
                <a:ea typeface="Courier New"/>
                <a:cs typeface="Courier New"/>
                <a:sym typeface="Courier New"/>
              </a:rPr>
              <a:t>name</a:t>
            </a:r>
            <a:r>
              <a:rPr lang="en" sz="1150">
                <a:solidFill>
                  <a:srgbClr val="333333"/>
                </a:solidFill>
                <a:latin typeface="Courier New"/>
                <a:ea typeface="Courier New"/>
                <a:cs typeface="Courier New"/>
                <a:sym typeface="Courier New"/>
              </a:rPr>
              <a:t>="</a:t>
            </a:r>
            <a:r>
              <a:rPr lang="en" sz="1150">
                <a:solidFill>
                  <a:srgbClr val="AB296A"/>
                </a:solidFill>
                <a:latin typeface="Courier New"/>
                <a:ea typeface="Courier New"/>
                <a:cs typeface="Courier New"/>
                <a:sym typeface="Courier New"/>
              </a:rPr>
              <a:t>radioDefault</a:t>
            </a:r>
            <a:r>
              <a:rPr lang="en" sz="1150">
                <a:solidFill>
                  <a:srgbClr val="333333"/>
                </a:solidFill>
                <a:latin typeface="Courier New"/>
                <a:ea typeface="Courier New"/>
                <a:cs typeface="Courier New"/>
                <a:sym typeface="Courier New"/>
              </a:rPr>
              <a:t>"</a:t>
            </a:r>
            <a:r>
              <a:rPr lang="en" sz="1150">
                <a:solidFill>
                  <a:srgbClr val="C6303E"/>
                </a:solidFill>
                <a:latin typeface="Courier New"/>
                <a:ea typeface="Courier New"/>
                <a:cs typeface="Courier New"/>
                <a:sym typeface="Courier New"/>
              </a:rPr>
              <a:t> </a:t>
            </a:r>
            <a:r>
              <a:rPr lang="en" sz="1150">
                <a:solidFill>
                  <a:srgbClr val="084298"/>
                </a:solidFill>
                <a:latin typeface="Courier New"/>
                <a:ea typeface="Courier New"/>
                <a:cs typeface="Courier New"/>
                <a:sym typeface="Courier New"/>
              </a:rPr>
              <a:t>id</a:t>
            </a:r>
            <a:r>
              <a:rPr lang="en" sz="1150">
                <a:solidFill>
                  <a:srgbClr val="333333"/>
                </a:solidFill>
                <a:latin typeface="Courier New"/>
                <a:ea typeface="Courier New"/>
                <a:cs typeface="Courier New"/>
                <a:sym typeface="Courier New"/>
              </a:rPr>
              <a:t>="</a:t>
            </a:r>
            <a:r>
              <a:rPr lang="en" sz="1150">
                <a:solidFill>
                  <a:srgbClr val="AB296A"/>
                </a:solidFill>
                <a:latin typeface="Courier New"/>
                <a:ea typeface="Courier New"/>
                <a:cs typeface="Courier New"/>
                <a:sym typeface="Courier New"/>
              </a:rPr>
              <a:t>radioDefault1</a:t>
            </a:r>
            <a:r>
              <a:rPr lang="en" sz="1150">
                <a:solidFill>
                  <a:srgbClr val="333333"/>
                </a:solidFill>
                <a:latin typeface="Courier New"/>
                <a:ea typeface="Courier New"/>
                <a:cs typeface="Courier New"/>
                <a:sym typeface="Courier New"/>
              </a:rPr>
              <a:t>"&gt;</a:t>
            </a:r>
            <a:endParaRPr sz="11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1150">
                <a:solidFill>
                  <a:srgbClr val="212529"/>
                </a:solidFill>
                <a:latin typeface="Courier New"/>
                <a:ea typeface="Courier New"/>
                <a:cs typeface="Courier New"/>
                <a:sym typeface="Courier New"/>
              </a:rPr>
              <a:t>  </a:t>
            </a:r>
            <a:r>
              <a:rPr lang="en" sz="1150">
                <a:solidFill>
                  <a:srgbClr val="333333"/>
                </a:solidFill>
                <a:latin typeface="Courier New"/>
                <a:ea typeface="Courier New"/>
                <a:cs typeface="Courier New"/>
                <a:sym typeface="Courier New"/>
              </a:rPr>
              <a:t>&lt;</a:t>
            </a:r>
            <a:r>
              <a:rPr lang="en" sz="1150">
                <a:solidFill>
                  <a:srgbClr val="C6303E"/>
                </a:solidFill>
                <a:latin typeface="Courier New"/>
                <a:ea typeface="Courier New"/>
                <a:cs typeface="Courier New"/>
                <a:sym typeface="Courier New"/>
              </a:rPr>
              <a:t>label </a:t>
            </a:r>
            <a:r>
              <a:rPr lang="en" sz="1150">
                <a:solidFill>
                  <a:srgbClr val="084298"/>
                </a:solidFill>
                <a:latin typeface="Courier New"/>
                <a:ea typeface="Courier New"/>
                <a:cs typeface="Courier New"/>
                <a:sym typeface="Courier New"/>
              </a:rPr>
              <a:t>class</a:t>
            </a:r>
            <a:r>
              <a:rPr lang="en" sz="1150">
                <a:solidFill>
                  <a:srgbClr val="333333"/>
                </a:solidFill>
                <a:latin typeface="Courier New"/>
                <a:ea typeface="Courier New"/>
                <a:cs typeface="Courier New"/>
                <a:sym typeface="Courier New"/>
              </a:rPr>
              <a:t>="</a:t>
            </a:r>
            <a:r>
              <a:rPr lang="en" sz="1150">
                <a:solidFill>
                  <a:srgbClr val="AB296A"/>
                </a:solidFill>
                <a:latin typeface="Courier New"/>
                <a:ea typeface="Courier New"/>
                <a:cs typeface="Courier New"/>
                <a:sym typeface="Courier New"/>
              </a:rPr>
              <a:t>form-check-label</a:t>
            </a:r>
            <a:r>
              <a:rPr lang="en" sz="1150">
                <a:solidFill>
                  <a:srgbClr val="333333"/>
                </a:solidFill>
                <a:latin typeface="Courier New"/>
                <a:ea typeface="Courier New"/>
                <a:cs typeface="Courier New"/>
                <a:sym typeface="Courier New"/>
              </a:rPr>
              <a:t>"</a:t>
            </a:r>
            <a:r>
              <a:rPr lang="en" sz="1150">
                <a:solidFill>
                  <a:srgbClr val="C6303E"/>
                </a:solidFill>
                <a:latin typeface="Courier New"/>
                <a:ea typeface="Courier New"/>
                <a:cs typeface="Courier New"/>
                <a:sym typeface="Courier New"/>
              </a:rPr>
              <a:t> </a:t>
            </a:r>
            <a:r>
              <a:rPr lang="en" sz="1150">
                <a:solidFill>
                  <a:srgbClr val="084298"/>
                </a:solidFill>
                <a:latin typeface="Courier New"/>
                <a:ea typeface="Courier New"/>
                <a:cs typeface="Courier New"/>
                <a:sym typeface="Courier New"/>
              </a:rPr>
              <a:t>for</a:t>
            </a:r>
            <a:r>
              <a:rPr lang="en" sz="1150">
                <a:solidFill>
                  <a:srgbClr val="333333"/>
                </a:solidFill>
                <a:latin typeface="Courier New"/>
                <a:ea typeface="Courier New"/>
                <a:cs typeface="Courier New"/>
                <a:sym typeface="Courier New"/>
              </a:rPr>
              <a:t>="</a:t>
            </a:r>
            <a:r>
              <a:rPr lang="en" sz="1150">
                <a:solidFill>
                  <a:srgbClr val="AB296A"/>
                </a:solidFill>
                <a:latin typeface="Courier New"/>
                <a:ea typeface="Courier New"/>
                <a:cs typeface="Courier New"/>
                <a:sym typeface="Courier New"/>
              </a:rPr>
              <a:t>radioDefault1</a:t>
            </a:r>
            <a:r>
              <a:rPr lang="en" sz="1150">
                <a:solidFill>
                  <a:srgbClr val="333333"/>
                </a:solidFill>
                <a:latin typeface="Courier New"/>
                <a:ea typeface="Courier New"/>
                <a:cs typeface="Courier New"/>
                <a:sym typeface="Courier New"/>
              </a:rPr>
              <a:t>"&gt;</a:t>
            </a:r>
            <a:endParaRPr sz="11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1150">
                <a:solidFill>
                  <a:srgbClr val="212529"/>
                </a:solidFill>
                <a:latin typeface="Courier New"/>
                <a:ea typeface="Courier New"/>
                <a:cs typeface="Courier New"/>
                <a:sym typeface="Courier New"/>
              </a:rPr>
              <a:t>    Default radio</a:t>
            </a:r>
            <a:endParaRPr sz="11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1150">
                <a:solidFill>
                  <a:srgbClr val="212529"/>
                </a:solidFill>
                <a:latin typeface="Courier New"/>
                <a:ea typeface="Courier New"/>
                <a:cs typeface="Courier New"/>
                <a:sym typeface="Courier New"/>
              </a:rPr>
              <a:t>  </a:t>
            </a:r>
            <a:r>
              <a:rPr lang="en" sz="1150">
                <a:solidFill>
                  <a:srgbClr val="333333"/>
                </a:solidFill>
                <a:latin typeface="Courier New"/>
                <a:ea typeface="Courier New"/>
                <a:cs typeface="Courier New"/>
                <a:sym typeface="Courier New"/>
              </a:rPr>
              <a:t>&lt;/</a:t>
            </a:r>
            <a:r>
              <a:rPr lang="en" sz="1150">
                <a:solidFill>
                  <a:srgbClr val="C6303E"/>
                </a:solidFill>
                <a:latin typeface="Courier New"/>
                <a:ea typeface="Courier New"/>
                <a:cs typeface="Courier New"/>
                <a:sym typeface="Courier New"/>
              </a:rPr>
              <a:t>label</a:t>
            </a:r>
            <a:r>
              <a:rPr lang="en" sz="1150">
                <a:solidFill>
                  <a:srgbClr val="333333"/>
                </a:solidFill>
                <a:latin typeface="Courier New"/>
                <a:ea typeface="Courier New"/>
                <a:cs typeface="Courier New"/>
                <a:sym typeface="Courier New"/>
              </a:rPr>
              <a:t>&gt;</a:t>
            </a:r>
            <a:endParaRPr sz="11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1150">
                <a:solidFill>
                  <a:srgbClr val="333333"/>
                </a:solidFill>
                <a:latin typeface="Courier New"/>
                <a:ea typeface="Courier New"/>
                <a:cs typeface="Courier New"/>
                <a:sym typeface="Courier New"/>
              </a:rPr>
              <a:t>&lt;/</a:t>
            </a:r>
            <a:r>
              <a:rPr lang="en" sz="1150">
                <a:solidFill>
                  <a:srgbClr val="C6303E"/>
                </a:solidFill>
                <a:latin typeface="Courier New"/>
                <a:ea typeface="Courier New"/>
                <a:cs typeface="Courier New"/>
                <a:sym typeface="Courier New"/>
              </a:rPr>
              <a:t>div</a:t>
            </a:r>
            <a:r>
              <a:rPr lang="en" sz="1150">
                <a:solidFill>
                  <a:srgbClr val="333333"/>
                </a:solidFill>
                <a:latin typeface="Courier New"/>
                <a:ea typeface="Courier New"/>
                <a:cs typeface="Courier New"/>
                <a:sym typeface="Courier New"/>
              </a:rPr>
              <a:t>&gt;</a:t>
            </a:r>
            <a:endParaRPr sz="11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1150">
                <a:solidFill>
                  <a:srgbClr val="333333"/>
                </a:solidFill>
                <a:latin typeface="Courier New"/>
                <a:ea typeface="Courier New"/>
                <a:cs typeface="Courier New"/>
                <a:sym typeface="Courier New"/>
              </a:rPr>
              <a:t>&lt;</a:t>
            </a:r>
            <a:r>
              <a:rPr lang="en" sz="1150">
                <a:solidFill>
                  <a:srgbClr val="C6303E"/>
                </a:solidFill>
                <a:latin typeface="Courier New"/>
                <a:ea typeface="Courier New"/>
                <a:cs typeface="Courier New"/>
                <a:sym typeface="Courier New"/>
              </a:rPr>
              <a:t>div </a:t>
            </a:r>
            <a:r>
              <a:rPr lang="en" sz="1150">
                <a:solidFill>
                  <a:srgbClr val="084298"/>
                </a:solidFill>
                <a:latin typeface="Courier New"/>
                <a:ea typeface="Courier New"/>
                <a:cs typeface="Courier New"/>
                <a:sym typeface="Courier New"/>
              </a:rPr>
              <a:t>class</a:t>
            </a:r>
            <a:r>
              <a:rPr lang="en" sz="1150">
                <a:solidFill>
                  <a:srgbClr val="333333"/>
                </a:solidFill>
                <a:latin typeface="Courier New"/>
                <a:ea typeface="Courier New"/>
                <a:cs typeface="Courier New"/>
                <a:sym typeface="Courier New"/>
              </a:rPr>
              <a:t>="</a:t>
            </a:r>
            <a:r>
              <a:rPr lang="en" sz="1150">
                <a:solidFill>
                  <a:srgbClr val="AB296A"/>
                </a:solidFill>
                <a:latin typeface="Courier New"/>
                <a:ea typeface="Courier New"/>
                <a:cs typeface="Courier New"/>
                <a:sym typeface="Courier New"/>
              </a:rPr>
              <a:t>form-check</a:t>
            </a:r>
            <a:r>
              <a:rPr lang="en" sz="1150">
                <a:solidFill>
                  <a:srgbClr val="333333"/>
                </a:solidFill>
                <a:latin typeface="Courier New"/>
                <a:ea typeface="Courier New"/>
                <a:cs typeface="Courier New"/>
                <a:sym typeface="Courier New"/>
              </a:rPr>
              <a:t>"&gt;</a:t>
            </a:r>
            <a:endParaRPr sz="11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1150">
                <a:solidFill>
                  <a:srgbClr val="212529"/>
                </a:solidFill>
                <a:latin typeface="Courier New"/>
                <a:ea typeface="Courier New"/>
                <a:cs typeface="Courier New"/>
                <a:sym typeface="Courier New"/>
              </a:rPr>
              <a:t>  </a:t>
            </a:r>
            <a:r>
              <a:rPr lang="en" sz="1150">
                <a:solidFill>
                  <a:srgbClr val="333333"/>
                </a:solidFill>
                <a:latin typeface="Courier New"/>
                <a:ea typeface="Courier New"/>
                <a:cs typeface="Courier New"/>
                <a:sym typeface="Courier New"/>
              </a:rPr>
              <a:t>&lt;</a:t>
            </a:r>
            <a:r>
              <a:rPr lang="en" sz="1150">
                <a:solidFill>
                  <a:srgbClr val="C6303E"/>
                </a:solidFill>
                <a:latin typeface="Courier New"/>
                <a:ea typeface="Courier New"/>
                <a:cs typeface="Courier New"/>
                <a:sym typeface="Courier New"/>
              </a:rPr>
              <a:t>input </a:t>
            </a:r>
            <a:r>
              <a:rPr lang="en" sz="1150">
                <a:solidFill>
                  <a:srgbClr val="084298"/>
                </a:solidFill>
                <a:latin typeface="Courier New"/>
                <a:ea typeface="Courier New"/>
                <a:cs typeface="Courier New"/>
                <a:sym typeface="Courier New"/>
              </a:rPr>
              <a:t>class</a:t>
            </a:r>
            <a:r>
              <a:rPr lang="en" sz="1150">
                <a:solidFill>
                  <a:srgbClr val="333333"/>
                </a:solidFill>
                <a:latin typeface="Courier New"/>
                <a:ea typeface="Courier New"/>
                <a:cs typeface="Courier New"/>
                <a:sym typeface="Courier New"/>
              </a:rPr>
              <a:t>="</a:t>
            </a:r>
            <a:r>
              <a:rPr lang="en" sz="1150">
                <a:solidFill>
                  <a:srgbClr val="AB296A"/>
                </a:solidFill>
                <a:latin typeface="Courier New"/>
                <a:ea typeface="Courier New"/>
                <a:cs typeface="Courier New"/>
                <a:sym typeface="Courier New"/>
              </a:rPr>
              <a:t>form-check-input</a:t>
            </a:r>
            <a:r>
              <a:rPr lang="en" sz="1150">
                <a:solidFill>
                  <a:srgbClr val="333333"/>
                </a:solidFill>
                <a:latin typeface="Courier New"/>
                <a:ea typeface="Courier New"/>
                <a:cs typeface="Courier New"/>
                <a:sym typeface="Courier New"/>
              </a:rPr>
              <a:t>"</a:t>
            </a:r>
            <a:r>
              <a:rPr lang="en" sz="1150">
                <a:solidFill>
                  <a:srgbClr val="C6303E"/>
                </a:solidFill>
                <a:latin typeface="Courier New"/>
                <a:ea typeface="Courier New"/>
                <a:cs typeface="Courier New"/>
                <a:sym typeface="Courier New"/>
              </a:rPr>
              <a:t> </a:t>
            </a:r>
            <a:r>
              <a:rPr lang="en" sz="1150">
                <a:solidFill>
                  <a:srgbClr val="084298"/>
                </a:solidFill>
                <a:latin typeface="Courier New"/>
                <a:ea typeface="Courier New"/>
                <a:cs typeface="Courier New"/>
                <a:sym typeface="Courier New"/>
              </a:rPr>
              <a:t>type</a:t>
            </a:r>
            <a:r>
              <a:rPr lang="en" sz="1150">
                <a:solidFill>
                  <a:srgbClr val="333333"/>
                </a:solidFill>
                <a:latin typeface="Courier New"/>
                <a:ea typeface="Courier New"/>
                <a:cs typeface="Courier New"/>
                <a:sym typeface="Courier New"/>
              </a:rPr>
              <a:t>="</a:t>
            </a:r>
            <a:r>
              <a:rPr lang="en" sz="1150">
                <a:solidFill>
                  <a:srgbClr val="AB296A"/>
                </a:solidFill>
                <a:latin typeface="Courier New"/>
                <a:ea typeface="Courier New"/>
                <a:cs typeface="Courier New"/>
                <a:sym typeface="Courier New"/>
              </a:rPr>
              <a:t>radio</a:t>
            </a:r>
            <a:r>
              <a:rPr lang="en" sz="1150">
                <a:solidFill>
                  <a:srgbClr val="333333"/>
                </a:solidFill>
                <a:latin typeface="Courier New"/>
                <a:ea typeface="Courier New"/>
                <a:cs typeface="Courier New"/>
                <a:sym typeface="Courier New"/>
              </a:rPr>
              <a:t>"</a:t>
            </a:r>
            <a:r>
              <a:rPr lang="en" sz="1150">
                <a:solidFill>
                  <a:srgbClr val="C6303E"/>
                </a:solidFill>
                <a:latin typeface="Courier New"/>
                <a:ea typeface="Courier New"/>
                <a:cs typeface="Courier New"/>
                <a:sym typeface="Courier New"/>
              </a:rPr>
              <a:t> </a:t>
            </a:r>
            <a:r>
              <a:rPr lang="en" sz="1150">
                <a:solidFill>
                  <a:srgbClr val="084298"/>
                </a:solidFill>
                <a:latin typeface="Courier New"/>
                <a:ea typeface="Courier New"/>
                <a:cs typeface="Courier New"/>
                <a:sym typeface="Courier New"/>
              </a:rPr>
              <a:t>name</a:t>
            </a:r>
            <a:r>
              <a:rPr lang="en" sz="1150">
                <a:solidFill>
                  <a:srgbClr val="333333"/>
                </a:solidFill>
                <a:latin typeface="Courier New"/>
                <a:ea typeface="Courier New"/>
                <a:cs typeface="Courier New"/>
                <a:sym typeface="Courier New"/>
              </a:rPr>
              <a:t>="</a:t>
            </a:r>
            <a:r>
              <a:rPr lang="en" sz="1150">
                <a:solidFill>
                  <a:srgbClr val="AB296A"/>
                </a:solidFill>
                <a:latin typeface="Courier New"/>
                <a:ea typeface="Courier New"/>
                <a:cs typeface="Courier New"/>
                <a:sym typeface="Courier New"/>
              </a:rPr>
              <a:t>radioDefault</a:t>
            </a:r>
            <a:r>
              <a:rPr lang="en" sz="1150">
                <a:solidFill>
                  <a:srgbClr val="333333"/>
                </a:solidFill>
                <a:latin typeface="Courier New"/>
                <a:ea typeface="Courier New"/>
                <a:cs typeface="Courier New"/>
                <a:sym typeface="Courier New"/>
              </a:rPr>
              <a:t>"</a:t>
            </a:r>
            <a:r>
              <a:rPr lang="en" sz="1150">
                <a:solidFill>
                  <a:srgbClr val="C6303E"/>
                </a:solidFill>
                <a:latin typeface="Courier New"/>
                <a:ea typeface="Courier New"/>
                <a:cs typeface="Courier New"/>
                <a:sym typeface="Courier New"/>
              </a:rPr>
              <a:t> </a:t>
            </a:r>
            <a:r>
              <a:rPr lang="en" sz="1150">
                <a:solidFill>
                  <a:srgbClr val="084298"/>
                </a:solidFill>
                <a:latin typeface="Courier New"/>
                <a:ea typeface="Courier New"/>
                <a:cs typeface="Courier New"/>
                <a:sym typeface="Courier New"/>
              </a:rPr>
              <a:t>id</a:t>
            </a:r>
            <a:r>
              <a:rPr lang="en" sz="1150">
                <a:solidFill>
                  <a:srgbClr val="333333"/>
                </a:solidFill>
                <a:latin typeface="Courier New"/>
                <a:ea typeface="Courier New"/>
                <a:cs typeface="Courier New"/>
                <a:sym typeface="Courier New"/>
              </a:rPr>
              <a:t>="</a:t>
            </a:r>
            <a:r>
              <a:rPr lang="en" sz="1150">
                <a:solidFill>
                  <a:srgbClr val="AB296A"/>
                </a:solidFill>
                <a:latin typeface="Courier New"/>
                <a:ea typeface="Courier New"/>
                <a:cs typeface="Courier New"/>
                <a:sym typeface="Courier New"/>
              </a:rPr>
              <a:t>radioDefault2</a:t>
            </a:r>
            <a:r>
              <a:rPr lang="en" sz="1150">
                <a:solidFill>
                  <a:srgbClr val="333333"/>
                </a:solidFill>
                <a:latin typeface="Courier New"/>
                <a:ea typeface="Courier New"/>
                <a:cs typeface="Courier New"/>
                <a:sym typeface="Courier New"/>
              </a:rPr>
              <a:t>"</a:t>
            </a:r>
            <a:r>
              <a:rPr lang="en" sz="1150">
                <a:solidFill>
                  <a:srgbClr val="C6303E"/>
                </a:solidFill>
                <a:latin typeface="Courier New"/>
                <a:ea typeface="Courier New"/>
                <a:cs typeface="Courier New"/>
                <a:sym typeface="Courier New"/>
              </a:rPr>
              <a:t> </a:t>
            </a:r>
            <a:r>
              <a:rPr lang="en" sz="1150">
                <a:solidFill>
                  <a:srgbClr val="084298"/>
                </a:solidFill>
                <a:latin typeface="Courier New"/>
                <a:ea typeface="Courier New"/>
                <a:cs typeface="Courier New"/>
                <a:sym typeface="Courier New"/>
              </a:rPr>
              <a:t>checked</a:t>
            </a:r>
            <a:r>
              <a:rPr lang="en" sz="1150">
                <a:solidFill>
                  <a:srgbClr val="333333"/>
                </a:solidFill>
                <a:latin typeface="Courier New"/>
                <a:ea typeface="Courier New"/>
                <a:cs typeface="Courier New"/>
                <a:sym typeface="Courier New"/>
              </a:rPr>
              <a:t>&gt;</a:t>
            </a:r>
            <a:endParaRPr sz="11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1150">
                <a:solidFill>
                  <a:srgbClr val="212529"/>
                </a:solidFill>
                <a:latin typeface="Courier New"/>
                <a:ea typeface="Courier New"/>
                <a:cs typeface="Courier New"/>
                <a:sym typeface="Courier New"/>
              </a:rPr>
              <a:t>  </a:t>
            </a:r>
            <a:r>
              <a:rPr lang="en" sz="1150">
                <a:solidFill>
                  <a:srgbClr val="333333"/>
                </a:solidFill>
                <a:latin typeface="Courier New"/>
                <a:ea typeface="Courier New"/>
                <a:cs typeface="Courier New"/>
                <a:sym typeface="Courier New"/>
              </a:rPr>
              <a:t>&lt;</a:t>
            </a:r>
            <a:r>
              <a:rPr lang="en" sz="1150">
                <a:solidFill>
                  <a:srgbClr val="C6303E"/>
                </a:solidFill>
                <a:latin typeface="Courier New"/>
                <a:ea typeface="Courier New"/>
                <a:cs typeface="Courier New"/>
                <a:sym typeface="Courier New"/>
              </a:rPr>
              <a:t>label </a:t>
            </a:r>
            <a:r>
              <a:rPr lang="en" sz="1150">
                <a:solidFill>
                  <a:srgbClr val="084298"/>
                </a:solidFill>
                <a:latin typeface="Courier New"/>
                <a:ea typeface="Courier New"/>
                <a:cs typeface="Courier New"/>
                <a:sym typeface="Courier New"/>
              </a:rPr>
              <a:t>class</a:t>
            </a:r>
            <a:r>
              <a:rPr lang="en" sz="1150">
                <a:solidFill>
                  <a:srgbClr val="333333"/>
                </a:solidFill>
                <a:latin typeface="Courier New"/>
                <a:ea typeface="Courier New"/>
                <a:cs typeface="Courier New"/>
                <a:sym typeface="Courier New"/>
              </a:rPr>
              <a:t>="</a:t>
            </a:r>
            <a:r>
              <a:rPr lang="en" sz="1150">
                <a:solidFill>
                  <a:srgbClr val="AB296A"/>
                </a:solidFill>
                <a:latin typeface="Courier New"/>
                <a:ea typeface="Courier New"/>
                <a:cs typeface="Courier New"/>
                <a:sym typeface="Courier New"/>
              </a:rPr>
              <a:t>form-check-label</a:t>
            </a:r>
            <a:r>
              <a:rPr lang="en" sz="1150">
                <a:solidFill>
                  <a:srgbClr val="333333"/>
                </a:solidFill>
                <a:latin typeface="Courier New"/>
                <a:ea typeface="Courier New"/>
                <a:cs typeface="Courier New"/>
                <a:sym typeface="Courier New"/>
              </a:rPr>
              <a:t>"</a:t>
            </a:r>
            <a:r>
              <a:rPr lang="en" sz="1150">
                <a:solidFill>
                  <a:srgbClr val="C6303E"/>
                </a:solidFill>
                <a:latin typeface="Courier New"/>
                <a:ea typeface="Courier New"/>
                <a:cs typeface="Courier New"/>
                <a:sym typeface="Courier New"/>
              </a:rPr>
              <a:t> </a:t>
            </a:r>
            <a:r>
              <a:rPr lang="en" sz="1150">
                <a:solidFill>
                  <a:srgbClr val="084298"/>
                </a:solidFill>
                <a:latin typeface="Courier New"/>
                <a:ea typeface="Courier New"/>
                <a:cs typeface="Courier New"/>
                <a:sym typeface="Courier New"/>
              </a:rPr>
              <a:t>for</a:t>
            </a:r>
            <a:r>
              <a:rPr lang="en" sz="1150">
                <a:solidFill>
                  <a:srgbClr val="333333"/>
                </a:solidFill>
                <a:latin typeface="Courier New"/>
                <a:ea typeface="Courier New"/>
                <a:cs typeface="Courier New"/>
                <a:sym typeface="Courier New"/>
              </a:rPr>
              <a:t>="</a:t>
            </a:r>
            <a:r>
              <a:rPr lang="en" sz="1150">
                <a:solidFill>
                  <a:srgbClr val="AB296A"/>
                </a:solidFill>
                <a:latin typeface="Courier New"/>
                <a:ea typeface="Courier New"/>
                <a:cs typeface="Courier New"/>
                <a:sym typeface="Courier New"/>
              </a:rPr>
              <a:t>radioDefault2</a:t>
            </a:r>
            <a:r>
              <a:rPr lang="en" sz="1150">
                <a:solidFill>
                  <a:srgbClr val="333333"/>
                </a:solidFill>
                <a:latin typeface="Courier New"/>
                <a:ea typeface="Courier New"/>
                <a:cs typeface="Courier New"/>
                <a:sym typeface="Courier New"/>
              </a:rPr>
              <a:t>"&gt;</a:t>
            </a:r>
            <a:endParaRPr sz="11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1150">
                <a:solidFill>
                  <a:srgbClr val="212529"/>
                </a:solidFill>
                <a:latin typeface="Courier New"/>
                <a:ea typeface="Courier New"/>
                <a:cs typeface="Courier New"/>
                <a:sym typeface="Courier New"/>
              </a:rPr>
              <a:t>    Default checked radio</a:t>
            </a:r>
            <a:endParaRPr sz="11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1150">
                <a:solidFill>
                  <a:srgbClr val="212529"/>
                </a:solidFill>
                <a:latin typeface="Courier New"/>
                <a:ea typeface="Courier New"/>
                <a:cs typeface="Courier New"/>
                <a:sym typeface="Courier New"/>
              </a:rPr>
              <a:t>  </a:t>
            </a:r>
            <a:r>
              <a:rPr lang="en" sz="1150">
                <a:solidFill>
                  <a:srgbClr val="333333"/>
                </a:solidFill>
                <a:latin typeface="Courier New"/>
                <a:ea typeface="Courier New"/>
                <a:cs typeface="Courier New"/>
                <a:sym typeface="Courier New"/>
              </a:rPr>
              <a:t>&lt;/</a:t>
            </a:r>
            <a:r>
              <a:rPr lang="en" sz="1150">
                <a:solidFill>
                  <a:srgbClr val="C6303E"/>
                </a:solidFill>
                <a:latin typeface="Courier New"/>
                <a:ea typeface="Courier New"/>
                <a:cs typeface="Courier New"/>
                <a:sym typeface="Courier New"/>
              </a:rPr>
              <a:t>label</a:t>
            </a:r>
            <a:r>
              <a:rPr lang="en" sz="1150">
                <a:solidFill>
                  <a:srgbClr val="333333"/>
                </a:solidFill>
                <a:latin typeface="Courier New"/>
                <a:ea typeface="Courier New"/>
                <a:cs typeface="Courier New"/>
                <a:sym typeface="Courier New"/>
              </a:rPr>
              <a:t>&gt;</a:t>
            </a:r>
            <a:endParaRPr sz="11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1150">
                <a:solidFill>
                  <a:srgbClr val="333333"/>
                </a:solidFill>
                <a:latin typeface="Courier New"/>
                <a:ea typeface="Courier New"/>
                <a:cs typeface="Courier New"/>
                <a:sym typeface="Courier New"/>
              </a:rPr>
              <a:t>&lt;/</a:t>
            </a:r>
            <a:r>
              <a:rPr lang="en" sz="1150">
                <a:solidFill>
                  <a:srgbClr val="C6303E"/>
                </a:solidFill>
                <a:latin typeface="Courier New"/>
                <a:ea typeface="Courier New"/>
                <a:cs typeface="Courier New"/>
                <a:sym typeface="Courier New"/>
              </a:rPr>
              <a:t>div</a:t>
            </a:r>
            <a:r>
              <a:rPr lang="en" sz="1150">
                <a:solidFill>
                  <a:srgbClr val="333333"/>
                </a:solidFill>
                <a:latin typeface="Courier New"/>
                <a:ea typeface="Courier New"/>
                <a:cs typeface="Courier New"/>
                <a:sym typeface="Courier New"/>
              </a:rPr>
              <a:t>&gt;</a:t>
            </a:r>
            <a:endParaRPr sz="1150">
              <a:solidFill>
                <a:srgbClr val="333333"/>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t/>
            </a:r>
            <a:endParaRPr i="1" sz="1405"/>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Bootstrap Components (Modal)</a:t>
            </a:r>
            <a:endParaRPr/>
          </a:p>
        </p:txBody>
      </p:sp>
      <p:sp>
        <p:nvSpPr>
          <p:cNvPr id="227" name="Google Shape;227;p29"/>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rgbClr val="212529"/>
              </a:buClr>
              <a:buSzPts val="1200"/>
              <a:buFont typeface="Roboto"/>
              <a:buChar char="●"/>
            </a:pPr>
            <a:r>
              <a:rPr lang="en" sz="1200">
                <a:solidFill>
                  <a:srgbClr val="212529"/>
                </a:solidFill>
                <a:highlight>
                  <a:srgbClr val="FFFFFF"/>
                </a:highlight>
                <a:latin typeface="Roboto"/>
                <a:ea typeface="Roboto"/>
                <a:cs typeface="Roboto"/>
                <a:sym typeface="Roboto"/>
              </a:rPr>
              <a:t>Modals are built with HTML, CSS, and JavaScript. They’re positioned over everything else in the document and remove scroll from the </a:t>
            </a:r>
            <a:r>
              <a:rPr lang="en" sz="1050">
                <a:solidFill>
                  <a:srgbClr val="D63384"/>
                </a:solidFill>
                <a:highlight>
                  <a:srgbClr val="FFFFFF"/>
                </a:highlight>
                <a:latin typeface="Courier New"/>
                <a:ea typeface="Courier New"/>
                <a:cs typeface="Courier New"/>
                <a:sym typeface="Courier New"/>
              </a:rPr>
              <a:t>&lt;body&gt;</a:t>
            </a:r>
            <a:r>
              <a:rPr lang="en" sz="1200">
                <a:solidFill>
                  <a:srgbClr val="212529"/>
                </a:solidFill>
                <a:highlight>
                  <a:srgbClr val="FFFFFF"/>
                </a:highlight>
                <a:latin typeface="Roboto"/>
                <a:ea typeface="Roboto"/>
                <a:cs typeface="Roboto"/>
                <a:sym typeface="Roboto"/>
              </a:rPr>
              <a:t> so that modal content scrolls instead.</a:t>
            </a:r>
            <a:endParaRPr sz="1200">
              <a:solidFill>
                <a:srgbClr val="212529"/>
              </a:solidFill>
              <a:highlight>
                <a:srgbClr val="FFFFFF"/>
              </a:highlight>
              <a:latin typeface="Roboto"/>
              <a:ea typeface="Roboto"/>
              <a:cs typeface="Roboto"/>
              <a:sym typeface="Roboto"/>
            </a:endParaRPr>
          </a:p>
          <a:p>
            <a:pPr indent="-304800" lvl="0" marL="457200" rtl="0" algn="l">
              <a:spcBef>
                <a:spcPts val="0"/>
              </a:spcBef>
              <a:spcAft>
                <a:spcPts val="0"/>
              </a:spcAft>
              <a:buClr>
                <a:srgbClr val="212529"/>
              </a:buClr>
              <a:buSzPts val="1200"/>
              <a:buFont typeface="Roboto"/>
              <a:buChar char="●"/>
            </a:pPr>
            <a:r>
              <a:rPr lang="en" sz="1200">
                <a:solidFill>
                  <a:srgbClr val="212529"/>
                </a:solidFill>
                <a:highlight>
                  <a:srgbClr val="FFFFFF"/>
                </a:highlight>
                <a:latin typeface="Roboto"/>
                <a:ea typeface="Roboto"/>
                <a:cs typeface="Roboto"/>
                <a:sym typeface="Roboto"/>
              </a:rPr>
              <a:t>Clicking on the modal “backdrop” will automatically close the modal.</a:t>
            </a:r>
            <a:endParaRPr sz="1200">
              <a:solidFill>
                <a:srgbClr val="212529"/>
              </a:solidFill>
              <a:highlight>
                <a:srgbClr val="FFFFFF"/>
              </a:highlight>
              <a:latin typeface="Roboto"/>
              <a:ea typeface="Roboto"/>
              <a:cs typeface="Roboto"/>
              <a:sym typeface="Roboto"/>
            </a:endParaRPr>
          </a:p>
          <a:p>
            <a:pPr indent="0" lvl="0" marL="0" rtl="0" algn="l">
              <a:lnSpc>
                <a:spcPct val="95000"/>
              </a:lnSpc>
              <a:spcBef>
                <a:spcPts val="1200"/>
              </a:spcBef>
              <a:spcAft>
                <a:spcPts val="0"/>
              </a:spcAft>
              <a:buNone/>
            </a:pPr>
            <a:r>
              <a:t/>
            </a:r>
            <a:endParaRPr sz="1205"/>
          </a:p>
          <a:p>
            <a:pPr indent="0" lvl="0" marL="0" rtl="0" algn="l">
              <a:lnSpc>
                <a:spcPct val="95000"/>
              </a:lnSpc>
              <a:spcBef>
                <a:spcPts val="0"/>
              </a:spcBef>
              <a:spcAft>
                <a:spcPts val="0"/>
              </a:spcAft>
              <a:buNone/>
            </a:pPr>
            <a:r>
              <a:rPr lang="en" sz="950">
                <a:solidFill>
                  <a:srgbClr val="565C64"/>
                </a:solidFill>
                <a:latin typeface="Courier New"/>
                <a:ea typeface="Courier New"/>
                <a:cs typeface="Courier New"/>
                <a:sym typeface="Courier New"/>
              </a:rPr>
              <a:t>&lt;!-- Button trigger modal --&gt;</a:t>
            </a:r>
            <a:endParaRPr sz="9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button </a:t>
            </a:r>
            <a:r>
              <a:rPr lang="en" sz="950">
                <a:solidFill>
                  <a:srgbClr val="084298"/>
                </a:solidFill>
                <a:latin typeface="Courier New"/>
                <a:ea typeface="Courier New"/>
                <a:cs typeface="Courier New"/>
                <a:sym typeface="Courier New"/>
              </a:rPr>
              <a:t>type</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button</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btn btn-primary</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data-bs-toggle</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modal</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data-bs-target</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#exampleModal</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950">
                <a:solidFill>
                  <a:srgbClr val="212529"/>
                </a:solidFill>
                <a:latin typeface="Courier New"/>
                <a:ea typeface="Courier New"/>
                <a:cs typeface="Courier New"/>
                <a:sym typeface="Courier New"/>
              </a:rPr>
              <a:t>  Launch demo modal</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button</a:t>
            </a:r>
            <a:r>
              <a:rPr lang="en" sz="950">
                <a:solidFill>
                  <a:srgbClr val="333333"/>
                </a:solidFill>
                <a:latin typeface="Courier New"/>
                <a:ea typeface="Courier New"/>
                <a:cs typeface="Courier New"/>
                <a:sym typeface="Courier New"/>
              </a:rPr>
              <a:t>&gt;</a:t>
            </a:r>
            <a:endParaRPr sz="950">
              <a:solidFill>
                <a:srgbClr val="333333"/>
              </a:solidFill>
              <a:latin typeface="Courier New"/>
              <a:ea typeface="Courier New"/>
              <a:cs typeface="Courier New"/>
              <a:sym typeface="Courier New"/>
            </a:endParaRPr>
          </a:p>
          <a:p>
            <a:pPr indent="0" lvl="0" marL="0" rtl="0" algn="l">
              <a:lnSpc>
                <a:spcPct val="95000"/>
              </a:lnSpc>
              <a:spcBef>
                <a:spcPts val="0"/>
              </a:spcBef>
              <a:spcAft>
                <a:spcPts val="0"/>
              </a:spcAft>
              <a:buNone/>
            </a:pPr>
            <a:r>
              <a:t/>
            </a:r>
            <a:endParaRPr i="1" sz="1205"/>
          </a:p>
          <a:p>
            <a:pPr indent="0" lvl="0" marL="0" rtl="0" algn="l">
              <a:lnSpc>
                <a:spcPct val="95000"/>
              </a:lnSpc>
              <a:spcBef>
                <a:spcPts val="0"/>
              </a:spcBef>
              <a:spcAft>
                <a:spcPts val="0"/>
              </a:spcAft>
              <a:buNone/>
            </a:pPr>
            <a:r>
              <a:t/>
            </a:r>
            <a:endParaRPr i="1" sz="1205"/>
          </a:p>
          <a:p>
            <a:pPr indent="0" lvl="0" marL="0" rtl="0" algn="l">
              <a:lnSpc>
                <a:spcPct val="95000"/>
              </a:lnSpc>
              <a:spcBef>
                <a:spcPts val="0"/>
              </a:spcBef>
              <a:spcAft>
                <a:spcPts val="0"/>
              </a:spcAft>
              <a:buSzPts val="935"/>
              <a:buNone/>
            </a:pPr>
            <a:r>
              <a:t/>
            </a:r>
            <a:endParaRPr i="1" sz="1205"/>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Bootstrap Components (Modal cont’d)</a:t>
            </a:r>
            <a:endParaRPr/>
          </a:p>
        </p:txBody>
      </p:sp>
      <p:sp>
        <p:nvSpPr>
          <p:cNvPr id="233" name="Google Shape;233;p30"/>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lang="en" sz="950">
                <a:solidFill>
                  <a:srgbClr val="565C64"/>
                </a:solidFill>
                <a:latin typeface="Courier New"/>
                <a:ea typeface="Courier New"/>
                <a:cs typeface="Courier New"/>
                <a:sym typeface="Courier New"/>
              </a:rPr>
              <a:t>&lt;!-- Modal --&gt;</a:t>
            </a:r>
            <a:endParaRPr sz="9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modal fade</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id</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exampleModal</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tabindex</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-1</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aria-labelledby</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exampleModalLabel</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aria-hidden</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true</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modal-dialog</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modal-content</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modal-header</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h1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modal-title fs-5</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id</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exampleModalLabel</a:t>
            </a:r>
            <a:r>
              <a:rPr lang="en" sz="950">
                <a:solidFill>
                  <a:srgbClr val="333333"/>
                </a:solidFill>
                <a:latin typeface="Courier New"/>
                <a:ea typeface="Courier New"/>
                <a:cs typeface="Courier New"/>
                <a:sym typeface="Courier New"/>
              </a:rPr>
              <a:t>"&gt;</a:t>
            </a:r>
            <a:r>
              <a:rPr lang="en" sz="950">
                <a:solidFill>
                  <a:srgbClr val="212529"/>
                </a:solidFill>
                <a:latin typeface="Courier New"/>
                <a:ea typeface="Courier New"/>
                <a:cs typeface="Courier New"/>
                <a:sym typeface="Courier New"/>
              </a:rPr>
              <a:t>Modal title</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h1</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button </a:t>
            </a:r>
            <a:r>
              <a:rPr lang="en" sz="950">
                <a:solidFill>
                  <a:srgbClr val="084298"/>
                </a:solidFill>
                <a:latin typeface="Courier New"/>
                <a:ea typeface="Courier New"/>
                <a:cs typeface="Courier New"/>
                <a:sym typeface="Courier New"/>
              </a:rPr>
              <a:t>type</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button</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btn-close</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data-bs-dismiss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modal</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aria-label</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Close</a:t>
            </a:r>
            <a:r>
              <a:rPr lang="en" sz="950">
                <a:solidFill>
                  <a:srgbClr val="333333"/>
                </a:solidFill>
                <a:latin typeface="Courier New"/>
                <a:ea typeface="Courier New"/>
                <a:cs typeface="Courier New"/>
                <a:sym typeface="Courier New"/>
              </a:rPr>
              <a:t>"&gt;&lt;/</a:t>
            </a:r>
            <a:r>
              <a:rPr lang="en" sz="950">
                <a:solidFill>
                  <a:srgbClr val="C6303E"/>
                </a:solidFill>
                <a:latin typeface="Courier New"/>
                <a:ea typeface="Courier New"/>
                <a:cs typeface="Courier New"/>
                <a:sym typeface="Courier New"/>
              </a:rPr>
              <a:t>button</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modal-body</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950">
                <a:solidFill>
                  <a:srgbClr val="212529"/>
                </a:solidFill>
                <a:latin typeface="Courier New"/>
                <a:ea typeface="Courier New"/>
                <a:cs typeface="Courier New"/>
                <a:sym typeface="Courier New"/>
              </a:rPr>
              <a:t>        ...</a:t>
            </a:r>
            <a:endParaRPr sz="9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modal-footer</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button </a:t>
            </a:r>
            <a:r>
              <a:rPr lang="en" sz="950">
                <a:solidFill>
                  <a:srgbClr val="084298"/>
                </a:solidFill>
                <a:latin typeface="Courier New"/>
                <a:ea typeface="Courier New"/>
                <a:cs typeface="Courier New"/>
                <a:sym typeface="Courier New"/>
              </a:rPr>
              <a:t>type</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button</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btn btn-secondary</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data-bs-dismiss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modal</a:t>
            </a:r>
            <a:r>
              <a:rPr lang="en" sz="950">
                <a:solidFill>
                  <a:srgbClr val="333333"/>
                </a:solidFill>
                <a:latin typeface="Courier New"/>
                <a:ea typeface="Courier New"/>
                <a:cs typeface="Courier New"/>
                <a:sym typeface="Courier New"/>
              </a:rPr>
              <a:t>"&gt;</a:t>
            </a:r>
            <a:r>
              <a:rPr lang="en" sz="950">
                <a:solidFill>
                  <a:srgbClr val="212529"/>
                </a:solidFill>
                <a:latin typeface="Courier New"/>
                <a:ea typeface="Courier New"/>
                <a:cs typeface="Courier New"/>
                <a:sym typeface="Courier New"/>
              </a:rPr>
              <a:t>Close</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button</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button </a:t>
            </a:r>
            <a:r>
              <a:rPr lang="en" sz="950">
                <a:solidFill>
                  <a:srgbClr val="084298"/>
                </a:solidFill>
                <a:latin typeface="Courier New"/>
                <a:ea typeface="Courier New"/>
                <a:cs typeface="Courier New"/>
                <a:sym typeface="Courier New"/>
              </a:rPr>
              <a:t>type</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button</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btn btn-primary</a:t>
            </a:r>
            <a:r>
              <a:rPr lang="en" sz="950">
                <a:solidFill>
                  <a:srgbClr val="333333"/>
                </a:solidFill>
                <a:latin typeface="Courier New"/>
                <a:ea typeface="Courier New"/>
                <a:cs typeface="Courier New"/>
                <a:sym typeface="Courier New"/>
              </a:rPr>
              <a:t>"&gt;</a:t>
            </a:r>
            <a:r>
              <a:rPr lang="en" sz="950">
                <a:solidFill>
                  <a:srgbClr val="212529"/>
                </a:solidFill>
                <a:latin typeface="Courier New"/>
                <a:ea typeface="Courier New"/>
                <a:cs typeface="Courier New"/>
                <a:sym typeface="Courier New"/>
              </a:rPr>
              <a:t>Save changes</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button</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a:t>
            </a:r>
            <a:r>
              <a:rPr lang="en" sz="950">
                <a:solidFill>
                  <a:srgbClr val="333333"/>
                </a:solidFill>
                <a:latin typeface="Courier New"/>
                <a:ea typeface="Courier New"/>
                <a:cs typeface="Courier New"/>
                <a:sym typeface="Courier New"/>
              </a:rPr>
              <a:t>&gt;</a:t>
            </a:r>
            <a:endParaRPr sz="950">
              <a:solidFill>
                <a:srgbClr val="333333"/>
              </a:solidFill>
              <a:latin typeface="Courier New"/>
              <a:ea typeface="Courier New"/>
              <a:cs typeface="Courier New"/>
              <a:sym typeface="Courier New"/>
            </a:endParaRPr>
          </a:p>
          <a:p>
            <a:pPr indent="0" lvl="0" marL="0" rtl="0" algn="l">
              <a:lnSpc>
                <a:spcPct val="95000"/>
              </a:lnSpc>
              <a:spcBef>
                <a:spcPts val="0"/>
              </a:spcBef>
              <a:spcAft>
                <a:spcPts val="0"/>
              </a:spcAft>
              <a:buSzPts val="935"/>
              <a:buNone/>
            </a:pPr>
            <a:r>
              <a:t/>
            </a:r>
            <a:endParaRPr i="1" sz="1005"/>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Bootstrap Components (Alerts)</a:t>
            </a:r>
            <a:endParaRPr/>
          </a:p>
        </p:txBody>
      </p:sp>
      <p:sp>
        <p:nvSpPr>
          <p:cNvPr id="239" name="Google Shape;239;p31"/>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 sz="1200">
                <a:solidFill>
                  <a:srgbClr val="000000"/>
                </a:solidFill>
                <a:highlight>
                  <a:srgbClr val="FFFFFF"/>
                </a:highlight>
              </a:rPr>
              <a:t>Alerts</a:t>
            </a:r>
            <a:endParaRPr sz="1200">
              <a:solidFill>
                <a:srgbClr val="000000"/>
              </a:solidFill>
              <a:highlight>
                <a:srgbClr val="FFFFFF"/>
              </a:highlight>
            </a:endParaRPr>
          </a:p>
          <a:p>
            <a:pPr indent="0" lvl="0" marL="0" rtl="0" algn="l">
              <a:spcBef>
                <a:spcPts val="0"/>
              </a:spcBef>
              <a:spcAft>
                <a:spcPts val="0"/>
              </a:spcAft>
              <a:buNone/>
            </a:pPr>
            <a:r>
              <a:rPr lang="en" sz="1200">
                <a:solidFill>
                  <a:srgbClr val="212529"/>
                </a:solidFill>
                <a:highlight>
                  <a:srgbClr val="FFFFFF"/>
                </a:highlight>
              </a:rPr>
              <a:t>Provide contextual feedback messages for typical user actions with the handful of available and flexible alert messages.</a:t>
            </a:r>
            <a:endParaRPr sz="1200">
              <a:solidFill>
                <a:srgbClr val="212529"/>
              </a:solidFill>
              <a:highlight>
                <a:srgbClr val="FFFFFF"/>
              </a:highlight>
            </a:endParaRPr>
          </a:p>
          <a:p>
            <a:pPr indent="0" lvl="0" marL="0" rtl="0" algn="l">
              <a:spcBef>
                <a:spcPts val="1200"/>
              </a:spcBef>
              <a:spcAft>
                <a:spcPts val="0"/>
              </a:spcAft>
              <a:buNone/>
            </a:pPr>
            <a:r>
              <a:rPr lang="en" sz="1200">
                <a:solidFill>
                  <a:srgbClr val="333333"/>
                </a:solidFill>
              </a:rPr>
              <a:t>&lt;</a:t>
            </a:r>
            <a:r>
              <a:rPr lang="en" sz="1200">
                <a:solidFill>
                  <a:srgbClr val="C6303E"/>
                </a:solidFill>
              </a:rPr>
              <a:t>div </a:t>
            </a:r>
            <a:r>
              <a:rPr lang="en" sz="1200">
                <a:solidFill>
                  <a:srgbClr val="084298"/>
                </a:solidFill>
              </a:rPr>
              <a:t>class</a:t>
            </a:r>
            <a:r>
              <a:rPr lang="en" sz="1200">
                <a:solidFill>
                  <a:srgbClr val="333333"/>
                </a:solidFill>
              </a:rPr>
              <a:t>="</a:t>
            </a:r>
            <a:r>
              <a:rPr lang="en" sz="1200">
                <a:solidFill>
                  <a:srgbClr val="AB296A"/>
                </a:solidFill>
              </a:rPr>
              <a:t>alert alert-primary|secondary|success|danger|warning|info|light|dark</a:t>
            </a:r>
            <a:r>
              <a:rPr lang="en" sz="1200">
                <a:solidFill>
                  <a:srgbClr val="333333"/>
                </a:solidFill>
              </a:rPr>
              <a:t>"</a:t>
            </a:r>
            <a:r>
              <a:rPr lang="en" sz="1200">
                <a:solidFill>
                  <a:srgbClr val="C6303E"/>
                </a:solidFill>
              </a:rPr>
              <a:t> </a:t>
            </a:r>
            <a:r>
              <a:rPr lang="en" sz="1200">
                <a:solidFill>
                  <a:srgbClr val="084298"/>
                </a:solidFill>
              </a:rPr>
              <a:t>role</a:t>
            </a:r>
            <a:r>
              <a:rPr lang="en" sz="1200">
                <a:solidFill>
                  <a:srgbClr val="333333"/>
                </a:solidFill>
              </a:rPr>
              <a:t>="</a:t>
            </a:r>
            <a:r>
              <a:rPr lang="en" sz="1200">
                <a:solidFill>
                  <a:srgbClr val="AB296A"/>
                </a:solidFill>
              </a:rPr>
              <a:t>alert</a:t>
            </a:r>
            <a:r>
              <a:rPr lang="en" sz="1200">
                <a:solidFill>
                  <a:srgbClr val="333333"/>
                </a:solidFill>
              </a:rPr>
              <a:t>"&gt;</a:t>
            </a:r>
            <a:endParaRPr sz="1200">
              <a:solidFill>
                <a:srgbClr val="212529"/>
              </a:solidFill>
            </a:endParaRPr>
          </a:p>
          <a:p>
            <a:pPr indent="0" lvl="0" marL="0" rtl="0" algn="l">
              <a:spcBef>
                <a:spcPts val="1200"/>
              </a:spcBef>
              <a:spcAft>
                <a:spcPts val="0"/>
              </a:spcAft>
              <a:buNone/>
            </a:pPr>
            <a:r>
              <a:rPr lang="en" sz="1200">
                <a:solidFill>
                  <a:srgbClr val="212529"/>
                </a:solidFill>
              </a:rPr>
              <a:t>  A simple primary alert—check it out!</a:t>
            </a:r>
            <a:endParaRPr sz="1200">
              <a:solidFill>
                <a:srgbClr val="212529"/>
              </a:solidFill>
            </a:endParaRPr>
          </a:p>
          <a:p>
            <a:pPr indent="0" lvl="0" marL="0" rtl="0" algn="l">
              <a:spcBef>
                <a:spcPts val="1200"/>
              </a:spcBef>
              <a:spcAft>
                <a:spcPts val="0"/>
              </a:spcAft>
              <a:buNone/>
            </a:pPr>
            <a:r>
              <a:rPr lang="en" sz="1200">
                <a:solidFill>
                  <a:srgbClr val="333333"/>
                </a:solidFill>
              </a:rPr>
              <a:t>&lt;/</a:t>
            </a:r>
            <a:r>
              <a:rPr lang="en" sz="1200">
                <a:solidFill>
                  <a:srgbClr val="C6303E"/>
                </a:solidFill>
              </a:rPr>
              <a:t>div</a:t>
            </a:r>
            <a:r>
              <a:rPr lang="en" sz="1200">
                <a:solidFill>
                  <a:srgbClr val="333333"/>
                </a:solidFill>
              </a:rPr>
              <a:t>&gt;</a:t>
            </a:r>
            <a:endParaRPr sz="1200">
              <a:solidFill>
                <a:srgbClr val="333333"/>
              </a:solidFill>
            </a:endParaRPr>
          </a:p>
          <a:p>
            <a:pPr indent="0" lvl="0" marL="0" rtl="0" algn="l">
              <a:spcBef>
                <a:spcPts val="0"/>
              </a:spcBef>
              <a:spcAft>
                <a:spcPts val="0"/>
              </a:spcAft>
              <a:buNone/>
            </a:pPr>
            <a:r>
              <a:t/>
            </a:r>
            <a:endParaRPr sz="1200">
              <a:solidFill>
                <a:srgbClr val="212529"/>
              </a:solidFill>
              <a:highlight>
                <a:srgbClr val="FFFFFF"/>
              </a:highlight>
            </a:endParaRPr>
          </a:p>
          <a:p>
            <a:pPr indent="0" lvl="0" marL="0" rtl="0" algn="l">
              <a:spcBef>
                <a:spcPts val="1200"/>
              </a:spcBef>
              <a:spcAft>
                <a:spcPts val="1200"/>
              </a:spcAft>
              <a:buNone/>
            </a:pPr>
            <a:r>
              <a:t/>
            </a:r>
            <a:endParaRPr sz="1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Bootstrap Components (Dropdowns)</a:t>
            </a:r>
            <a:endParaRPr/>
          </a:p>
        </p:txBody>
      </p:sp>
      <p:sp>
        <p:nvSpPr>
          <p:cNvPr id="245" name="Google Shape;245;p32"/>
          <p:cNvSpPr txBox="1"/>
          <p:nvPr>
            <p:ph idx="1" type="body"/>
          </p:nvPr>
        </p:nvSpPr>
        <p:spPr>
          <a:xfrm>
            <a:off x="819150" y="1990725"/>
            <a:ext cx="7505700" cy="24480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sz="1200">
                <a:solidFill>
                  <a:srgbClr val="212529"/>
                </a:solidFill>
                <a:highlight>
                  <a:srgbClr val="FFFFFF"/>
                </a:highlight>
                <a:latin typeface="Roboto"/>
                <a:ea typeface="Roboto"/>
                <a:cs typeface="Roboto"/>
                <a:sym typeface="Roboto"/>
              </a:rPr>
              <a:t>Dropdowns are toggleable, contextual overlays for displaying lists of links and more. They’re made interactive with the included Bootstrap dropdown JavaScript plugin. They’re toggled by clicking, not by hovering.</a:t>
            </a:r>
            <a:endParaRPr sz="1200">
              <a:solidFill>
                <a:srgbClr val="212529"/>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212529"/>
              </a:solidFill>
              <a:highlight>
                <a:srgbClr val="FFFFFF"/>
              </a:highlight>
              <a:latin typeface="Roboto"/>
              <a:ea typeface="Roboto"/>
              <a:cs typeface="Roboto"/>
              <a:sym typeface="Roboto"/>
            </a:endParaRPr>
          </a:p>
          <a:p>
            <a:pPr indent="0" lvl="0" marL="0" rtl="0" algn="l">
              <a:spcBef>
                <a:spcPts val="0"/>
              </a:spcBef>
              <a:spcAft>
                <a:spcPts val="0"/>
              </a:spcAft>
              <a:buNone/>
            </a:pP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dropdown</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button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btn btn-secondary dropdown-toggle</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type</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button</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data-bs-toggle</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dropdown</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aria-expanded</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false</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212529"/>
                </a:solidFill>
                <a:latin typeface="Courier New"/>
                <a:ea typeface="Courier New"/>
                <a:cs typeface="Courier New"/>
                <a:sym typeface="Courier New"/>
              </a:rPr>
              <a:t>    Dropdown button</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button</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ul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dropdown-menu</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li</a:t>
            </a:r>
            <a:r>
              <a:rPr lang="en" sz="950">
                <a:solidFill>
                  <a:srgbClr val="333333"/>
                </a:solidFill>
                <a:latin typeface="Courier New"/>
                <a:ea typeface="Courier New"/>
                <a:cs typeface="Courier New"/>
                <a:sym typeface="Courier New"/>
              </a:rPr>
              <a:t>&gt;&lt;</a:t>
            </a:r>
            <a:r>
              <a:rPr lang="en" sz="950">
                <a:solidFill>
                  <a:srgbClr val="C6303E"/>
                </a:solidFill>
                <a:latin typeface="Courier New"/>
                <a:ea typeface="Courier New"/>
                <a:cs typeface="Courier New"/>
                <a:sym typeface="Courier New"/>
              </a:rPr>
              <a:t>a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dropdown-item</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href</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a:t>
            </a:r>
            <a:r>
              <a:rPr lang="en" sz="950">
                <a:solidFill>
                  <a:srgbClr val="333333"/>
                </a:solidFill>
                <a:latin typeface="Courier New"/>
                <a:ea typeface="Courier New"/>
                <a:cs typeface="Courier New"/>
                <a:sym typeface="Courier New"/>
              </a:rPr>
              <a:t>"&gt;</a:t>
            </a:r>
            <a:r>
              <a:rPr lang="en" sz="950">
                <a:solidFill>
                  <a:srgbClr val="212529"/>
                </a:solidFill>
                <a:latin typeface="Courier New"/>
                <a:ea typeface="Courier New"/>
                <a:cs typeface="Courier New"/>
                <a:sym typeface="Courier New"/>
              </a:rPr>
              <a:t>Action</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a</a:t>
            </a:r>
            <a:r>
              <a:rPr lang="en" sz="950">
                <a:solidFill>
                  <a:srgbClr val="333333"/>
                </a:solidFill>
                <a:latin typeface="Courier New"/>
                <a:ea typeface="Courier New"/>
                <a:cs typeface="Courier New"/>
                <a:sym typeface="Courier New"/>
              </a:rPr>
              <a:t>&gt;&lt;/</a:t>
            </a:r>
            <a:r>
              <a:rPr lang="en" sz="950">
                <a:solidFill>
                  <a:srgbClr val="C6303E"/>
                </a:solidFill>
                <a:latin typeface="Courier New"/>
                <a:ea typeface="Courier New"/>
                <a:cs typeface="Courier New"/>
                <a:sym typeface="Courier New"/>
              </a:rPr>
              <a:t>li</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li</a:t>
            </a:r>
            <a:r>
              <a:rPr lang="en" sz="950">
                <a:solidFill>
                  <a:srgbClr val="333333"/>
                </a:solidFill>
                <a:latin typeface="Courier New"/>
                <a:ea typeface="Courier New"/>
                <a:cs typeface="Courier New"/>
                <a:sym typeface="Courier New"/>
              </a:rPr>
              <a:t>&gt;&lt;</a:t>
            </a:r>
            <a:r>
              <a:rPr lang="en" sz="950">
                <a:solidFill>
                  <a:srgbClr val="C6303E"/>
                </a:solidFill>
                <a:latin typeface="Courier New"/>
                <a:ea typeface="Courier New"/>
                <a:cs typeface="Courier New"/>
                <a:sym typeface="Courier New"/>
              </a:rPr>
              <a:t>a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dropdown-item</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href</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a:t>
            </a:r>
            <a:r>
              <a:rPr lang="en" sz="950">
                <a:solidFill>
                  <a:srgbClr val="333333"/>
                </a:solidFill>
                <a:latin typeface="Courier New"/>
                <a:ea typeface="Courier New"/>
                <a:cs typeface="Courier New"/>
                <a:sym typeface="Courier New"/>
              </a:rPr>
              <a:t>"&gt;</a:t>
            </a:r>
            <a:r>
              <a:rPr lang="en" sz="950">
                <a:solidFill>
                  <a:srgbClr val="212529"/>
                </a:solidFill>
                <a:latin typeface="Courier New"/>
                <a:ea typeface="Courier New"/>
                <a:cs typeface="Courier New"/>
                <a:sym typeface="Courier New"/>
              </a:rPr>
              <a:t>Another action</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a</a:t>
            </a:r>
            <a:r>
              <a:rPr lang="en" sz="950">
                <a:solidFill>
                  <a:srgbClr val="333333"/>
                </a:solidFill>
                <a:latin typeface="Courier New"/>
                <a:ea typeface="Courier New"/>
                <a:cs typeface="Courier New"/>
                <a:sym typeface="Courier New"/>
              </a:rPr>
              <a:t>&gt;&lt;/</a:t>
            </a:r>
            <a:r>
              <a:rPr lang="en" sz="950">
                <a:solidFill>
                  <a:srgbClr val="C6303E"/>
                </a:solidFill>
                <a:latin typeface="Courier New"/>
                <a:ea typeface="Courier New"/>
                <a:cs typeface="Courier New"/>
                <a:sym typeface="Courier New"/>
              </a:rPr>
              <a:t>li</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li</a:t>
            </a:r>
            <a:r>
              <a:rPr lang="en" sz="950">
                <a:solidFill>
                  <a:srgbClr val="333333"/>
                </a:solidFill>
                <a:latin typeface="Courier New"/>
                <a:ea typeface="Courier New"/>
                <a:cs typeface="Courier New"/>
                <a:sym typeface="Courier New"/>
              </a:rPr>
              <a:t>&gt;&lt;</a:t>
            </a:r>
            <a:r>
              <a:rPr lang="en" sz="950">
                <a:solidFill>
                  <a:srgbClr val="C6303E"/>
                </a:solidFill>
                <a:latin typeface="Courier New"/>
                <a:ea typeface="Courier New"/>
                <a:cs typeface="Courier New"/>
                <a:sym typeface="Courier New"/>
              </a:rPr>
              <a:t>a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dropdown-item</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href</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a:t>
            </a:r>
            <a:r>
              <a:rPr lang="en" sz="950">
                <a:solidFill>
                  <a:srgbClr val="333333"/>
                </a:solidFill>
                <a:latin typeface="Courier New"/>
                <a:ea typeface="Courier New"/>
                <a:cs typeface="Courier New"/>
                <a:sym typeface="Courier New"/>
              </a:rPr>
              <a:t>"&gt;</a:t>
            </a:r>
            <a:r>
              <a:rPr lang="en" sz="950">
                <a:solidFill>
                  <a:srgbClr val="212529"/>
                </a:solidFill>
                <a:latin typeface="Courier New"/>
                <a:ea typeface="Courier New"/>
                <a:cs typeface="Courier New"/>
                <a:sym typeface="Courier New"/>
              </a:rPr>
              <a:t>Something else here</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a</a:t>
            </a:r>
            <a:r>
              <a:rPr lang="en" sz="950">
                <a:solidFill>
                  <a:srgbClr val="333333"/>
                </a:solidFill>
                <a:latin typeface="Courier New"/>
                <a:ea typeface="Courier New"/>
                <a:cs typeface="Courier New"/>
                <a:sym typeface="Courier New"/>
              </a:rPr>
              <a:t>&gt;&lt;/</a:t>
            </a:r>
            <a:r>
              <a:rPr lang="en" sz="950">
                <a:solidFill>
                  <a:srgbClr val="C6303E"/>
                </a:solidFill>
                <a:latin typeface="Courier New"/>
                <a:ea typeface="Courier New"/>
                <a:cs typeface="Courier New"/>
                <a:sym typeface="Courier New"/>
              </a:rPr>
              <a:t>li</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ul</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a:t>
            </a:r>
            <a:r>
              <a:rPr lang="en" sz="950">
                <a:solidFill>
                  <a:srgbClr val="333333"/>
                </a:solidFill>
                <a:latin typeface="Courier New"/>
                <a:ea typeface="Courier New"/>
                <a:cs typeface="Courier New"/>
                <a:sym typeface="Courier New"/>
              </a:rPr>
              <a:t>&gt;</a:t>
            </a:r>
            <a:endParaRPr sz="950">
              <a:solidFill>
                <a:srgbClr val="333333"/>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212529"/>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212529"/>
              </a:solidFill>
              <a:highlight>
                <a:srgbClr val="FFFFFF"/>
              </a:highlight>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Bootstrap Components (Carousel)</a:t>
            </a:r>
            <a:endParaRPr/>
          </a:p>
        </p:txBody>
      </p:sp>
      <p:sp>
        <p:nvSpPr>
          <p:cNvPr id="251" name="Google Shape;251;p33"/>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7500" lvl="0" marL="457200" rtl="0" algn="l">
              <a:lnSpc>
                <a:spcPct val="100000"/>
              </a:lnSpc>
              <a:spcBef>
                <a:spcPts val="0"/>
              </a:spcBef>
              <a:spcAft>
                <a:spcPts val="0"/>
              </a:spcAft>
              <a:buClr>
                <a:srgbClr val="212529"/>
              </a:buClr>
              <a:buSzPts val="1400"/>
              <a:buChar char="●"/>
            </a:pPr>
            <a:r>
              <a:rPr lang="en" sz="1400">
                <a:solidFill>
                  <a:srgbClr val="212529"/>
                </a:solidFill>
                <a:highlight>
                  <a:srgbClr val="FFFFFF"/>
                </a:highlight>
              </a:rPr>
              <a:t>A slideshow component for cycling through elements—images or slides of text—like a carousel.</a:t>
            </a:r>
            <a:endParaRPr sz="1400">
              <a:solidFill>
                <a:srgbClr val="212529"/>
              </a:solidFill>
              <a:highlight>
                <a:srgbClr val="FFFFFF"/>
              </a:highlight>
            </a:endParaRPr>
          </a:p>
          <a:p>
            <a:pPr indent="-317500" lvl="0" marL="457200" rtl="0" algn="l">
              <a:lnSpc>
                <a:spcPct val="100000"/>
              </a:lnSpc>
              <a:spcBef>
                <a:spcPts val="0"/>
              </a:spcBef>
              <a:spcAft>
                <a:spcPts val="0"/>
              </a:spcAft>
              <a:buClr>
                <a:srgbClr val="212529"/>
              </a:buClr>
              <a:buSzPts val="1400"/>
              <a:buChar char="●"/>
            </a:pPr>
            <a:r>
              <a:rPr lang="en" sz="1400">
                <a:solidFill>
                  <a:srgbClr val="212529"/>
                </a:solidFill>
                <a:highlight>
                  <a:srgbClr val="FFFFFF"/>
                </a:highlight>
              </a:rPr>
              <a:t>The carousel is a slideshow for cycling through a series of content, built with CSS 3D transforms and a bit of JavaScript. It works with a series of images, text, or custom markup. It also includes support for previous/next controls and indicators.</a:t>
            </a:r>
            <a:endParaRPr sz="1400">
              <a:solidFill>
                <a:srgbClr val="212529"/>
              </a:solidFill>
              <a:highlight>
                <a:srgbClr val="FFFFFF"/>
              </a:high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Bootstrap Components (Carousel cont’d)</a:t>
            </a:r>
            <a:endParaRPr/>
          </a:p>
        </p:txBody>
      </p:sp>
      <p:sp>
        <p:nvSpPr>
          <p:cNvPr id="257" name="Google Shape;257;p34"/>
          <p:cNvSpPr txBox="1"/>
          <p:nvPr>
            <p:ph idx="1" type="body"/>
          </p:nvPr>
        </p:nvSpPr>
        <p:spPr>
          <a:xfrm>
            <a:off x="819150" y="1544200"/>
            <a:ext cx="7505700" cy="28947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523"/>
              <a:buNone/>
            </a:pP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 </a:t>
            </a:r>
            <a:r>
              <a:rPr lang="en" sz="950">
                <a:solidFill>
                  <a:srgbClr val="084298"/>
                </a:solidFill>
                <a:latin typeface="Courier New"/>
                <a:ea typeface="Courier New"/>
                <a:cs typeface="Courier New"/>
                <a:sym typeface="Courier New"/>
              </a:rPr>
              <a:t>id</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carouselExample</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carousel slide</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105000"/>
              </a:lnSpc>
              <a:spcBef>
                <a:spcPts val="0"/>
              </a:spcBef>
              <a:spcAft>
                <a:spcPts val="0"/>
              </a:spcAft>
              <a:buSzPts val="523"/>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carousel-inner</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105000"/>
              </a:lnSpc>
              <a:spcBef>
                <a:spcPts val="0"/>
              </a:spcBef>
              <a:spcAft>
                <a:spcPts val="0"/>
              </a:spcAft>
              <a:buSzPts val="523"/>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carousel-item active</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105000"/>
              </a:lnSpc>
              <a:spcBef>
                <a:spcPts val="0"/>
              </a:spcBef>
              <a:spcAft>
                <a:spcPts val="0"/>
              </a:spcAft>
              <a:buSzPts val="523"/>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img </a:t>
            </a:r>
            <a:r>
              <a:rPr lang="en" sz="950">
                <a:solidFill>
                  <a:srgbClr val="084298"/>
                </a:solidFill>
                <a:latin typeface="Courier New"/>
                <a:ea typeface="Courier New"/>
                <a:cs typeface="Courier New"/>
                <a:sym typeface="Courier New"/>
              </a:rPr>
              <a:t>src</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d-block w-100</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alt</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105000"/>
              </a:lnSpc>
              <a:spcBef>
                <a:spcPts val="0"/>
              </a:spcBef>
              <a:spcAft>
                <a:spcPts val="0"/>
              </a:spcAft>
              <a:buSzPts val="523"/>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105000"/>
              </a:lnSpc>
              <a:spcBef>
                <a:spcPts val="0"/>
              </a:spcBef>
              <a:spcAft>
                <a:spcPts val="0"/>
              </a:spcAft>
              <a:buSzPts val="523"/>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carousel-item</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105000"/>
              </a:lnSpc>
              <a:spcBef>
                <a:spcPts val="0"/>
              </a:spcBef>
              <a:spcAft>
                <a:spcPts val="0"/>
              </a:spcAft>
              <a:buSzPts val="523"/>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img </a:t>
            </a:r>
            <a:r>
              <a:rPr lang="en" sz="950">
                <a:solidFill>
                  <a:srgbClr val="084298"/>
                </a:solidFill>
                <a:latin typeface="Courier New"/>
                <a:ea typeface="Courier New"/>
                <a:cs typeface="Courier New"/>
                <a:sym typeface="Courier New"/>
              </a:rPr>
              <a:t>src</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d-block w-100</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alt</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105000"/>
              </a:lnSpc>
              <a:spcBef>
                <a:spcPts val="0"/>
              </a:spcBef>
              <a:spcAft>
                <a:spcPts val="0"/>
              </a:spcAft>
              <a:buSzPts val="523"/>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105000"/>
              </a:lnSpc>
              <a:spcBef>
                <a:spcPts val="0"/>
              </a:spcBef>
              <a:spcAft>
                <a:spcPts val="0"/>
              </a:spcAft>
              <a:buSzPts val="523"/>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carousel-item</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105000"/>
              </a:lnSpc>
              <a:spcBef>
                <a:spcPts val="0"/>
              </a:spcBef>
              <a:spcAft>
                <a:spcPts val="0"/>
              </a:spcAft>
              <a:buSzPts val="523"/>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img </a:t>
            </a:r>
            <a:r>
              <a:rPr lang="en" sz="950">
                <a:solidFill>
                  <a:srgbClr val="084298"/>
                </a:solidFill>
                <a:latin typeface="Courier New"/>
                <a:ea typeface="Courier New"/>
                <a:cs typeface="Courier New"/>
                <a:sym typeface="Courier New"/>
              </a:rPr>
              <a:t>src</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d-block w-100</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alt</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105000"/>
              </a:lnSpc>
              <a:spcBef>
                <a:spcPts val="0"/>
              </a:spcBef>
              <a:spcAft>
                <a:spcPts val="0"/>
              </a:spcAft>
              <a:buSzPts val="523"/>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105000"/>
              </a:lnSpc>
              <a:spcBef>
                <a:spcPts val="0"/>
              </a:spcBef>
              <a:spcAft>
                <a:spcPts val="0"/>
              </a:spcAft>
              <a:buSzPts val="523"/>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105000"/>
              </a:lnSpc>
              <a:spcBef>
                <a:spcPts val="0"/>
              </a:spcBef>
              <a:spcAft>
                <a:spcPts val="0"/>
              </a:spcAft>
              <a:buSzPts val="523"/>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button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carousel-control-prev</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type</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button</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data-bs-target</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#carouselExample</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data-bs-slide</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prev</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105000"/>
              </a:lnSpc>
              <a:spcBef>
                <a:spcPts val="0"/>
              </a:spcBef>
              <a:spcAft>
                <a:spcPts val="0"/>
              </a:spcAft>
              <a:buSzPts val="523"/>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span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carousel-control-prev-icon</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aria-hidden</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true</a:t>
            </a:r>
            <a:r>
              <a:rPr lang="en" sz="950">
                <a:solidFill>
                  <a:srgbClr val="333333"/>
                </a:solidFill>
                <a:latin typeface="Courier New"/>
                <a:ea typeface="Courier New"/>
                <a:cs typeface="Courier New"/>
                <a:sym typeface="Courier New"/>
              </a:rPr>
              <a:t>"&gt;&lt;/</a:t>
            </a:r>
            <a:r>
              <a:rPr lang="en" sz="950">
                <a:solidFill>
                  <a:srgbClr val="C6303E"/>
                </a:solidFill>
                <a:latin typeface="Courier New"/>
                <a:ea typeface="Courier New"/>
                <a:cs typeface="Courier New"/>
                <a:sym typeface="Courier New"/>
              </a:rPr>
              <a:t>span</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105000"/>
              </a:lnSpc>
              <a:spcBef>
                <a:spcPts val="0"/>
              </a:spcBef>
              <a:spcAft>
                <a:spcPts val="0"/>
              </a:spcAft>
              <a:buSzPts val="523"/>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span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visually-hidden</a:t>
            </a:r>
            <a:r>
              <a:rPr lang="en" sz="950">
                <a:solidFill>
                  <a:srgbClr val="333333"/>
                </a:solidFill>
                <a:latin typeface="Courier New"/>
                <a:ea typeface="Courier New"/>
                <a:cs typeface="Courier New"/>
                <a:sym typeface="Courier New"/>
              </a:rPr>
              <a:t>"&gt;</a:t>
            </a:r>
            <a:r>
              <a:rPr lang="en" sz="950">
                <a:solidFill>
                  <a:srgbClr val="212529"/>
                </a:solidFill>
                <a:latin typeface="Courier New"/>
                <a:ea typeface="Courier New"/>
                <a:cs typeface="Courier New"/>
                <a:sym typeface="Courier New"/>
              </a:rPr>
              <a:t>Previous</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span</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105000"/>
              </a:lnSpc>
              <a:spcBef>
                <a:spcPts val="0"/>
              </a:spcBef>
              <a:spcAft>
                <a:spcPts val="0"/>
              </a:spcAft>
              <a:buSzPts val="523"/>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button</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105000"/>
              </a:lnSpc>
              <a:spcBef>
                <a:spcPts val="0"/>
              </a:spcBef>
              <a:spcAft>
                <a:spcPts val="0"/>
              </a:spcAft>
              <a:buSzPts val="523"/>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button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carousel-control-next</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type</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button</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data-bs-target</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#carouselExample</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data-bs-slide</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next</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105000"/>
              </a:lnSpc>
              <a:spcBef>
                <a:spcPts val="0"/>
              </a:spcBef>
              <a:spcAft>
                <a:spcPts val="0"/>
              </a:spcAft>
              <a:buSzPts val="523"/>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span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carousel-control-next-icon</a:t>
            </a:r>
            <a:r>
              <a:rPr lang="en" sz="950">
                <a:solidFill>
                  <a:srgbClr val="333333"/>
                </a:solidFill>
                <a:latin typeface="Courier New"/>
                <a:ea typeface="Courier New"/>
                <a:cs typeface="Courier New"/>
                <a:sym typeface="Courier New"/>
              </a:rPr>
              <a:t>"</a:t>
            </a:r>
            <a:r>
              <a:rPr lang="en" sz="950">
                <a:solidFill>
                  <a:srgbClr val="C6303E"/>
                </a:solidFill>
                <a:latin typeface="Courier New"/>
                <a:ea typeface="Courier New"/>
                <a:cs typeface="Courier New"/>
                <a:sym typeface="Courier New"/>
              </a:rPr>
              <a:t> </a:t>
            </a:r>
            <a:r>
              <a:rPr lang="en" sz="950">
                <a:solidFill>
                  <a:srgbClr val="084298"/>
                </a:solidFill>
                <a:latin typeface="Courier New"/>
                <a:ea typeface="Courier New"/>
                <a:cs typeface="Courier New"/>
                <a:sym typeface="Courier New"/>
              </a:rPr>
              <a:t>aria-hidden</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true</a:t>
            </a:r>
            <a:r>
              <a:rPr lang="en" sz="950">
                <a:solidFill>
                  <a:srgbClr val="333333"/>
                </a:solidFill>
                <a:latin typeface="Courier New"/>
                <a:ea typeface="Courier New"/>
                <a:cs typeface="Courier New"/>
                <a:sym typeface="Courier New"/>
              </a:rPr>
              <a:t>"&gt;&lt;/</a:t>
            </a:r>
            <a:r>
              <a:rPr lang="en" sz="950">
                <a:solidFill>
                  <a:srgbClr val="C6303E"/>
                </a:solidFill>
                <a:latin typeface="Courier New"/>
                <a:ea typeface="Courier New"/>
                <a:cs typeface="Courier New"/>
                <a:sym typeface="Courier New"/>
              </a:rPr>
              <a:t>span</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105000"/>
              </a:lnSpc>
              <a:spcBef>
                <a:spcPts val="0"/>
              </a:spcBef>
              <a:spcAft>
                <a:spcPts val="0"/>
              </a:spcAft>
              <a:buSzPts val="523"/>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span </a:t>
            </a:r>
            <a:r>
              <a:rPr lang="en" sz="950">
                <a:solidFill>
                  <a:srgbClr val="084298"/>
                </a:solidFill>
                <a:latin typeface="Courier New"/>
                <a:ea typeface="Courier New"/>
                <a:cs typeface="Courier New"/>
                <a:sym typeface="Courier New"/>
              </a:rPr>
              <a:t>class</a:t>
            </a:r>
            <a:r>
              <a:rPr lang="en" sz="950">
                <a:solidFill>
                  <a:srgbClr val="333333"/>
                </a:solidFill>
                <a:latin typeface="Courier New"/>
                <a:ea typeface="Courier New"/>
                <a:cs typeface="Courier New"/>
                <a:sym typeface="Courier New"/>
              </a:rPr>
              <a:t>="</a:t>
            </a:r>
            <a:r>
              <a:rPr lang="en" sz="950">
                <a:solidFill>
                  <a:srgbClr val="AB296A"/>
                </a:solidFill>
                <a:latin typeface="Courier New"/>
                <a:ea typeface="Courier New"/>
                <a:cs typeface="Courier New"/>
                <a:sym typeface="Courier New"/>
              </a:rPr>
              <a:t>visually-hidden</a:t>
            </a:r>
            <a:r>
              <a:rPr lang="en" sz="950">
                <a:solidFill>
                  <a:srgbClr val="333333"/>
                </a:solidFill>
                <a:latin typeface="Courier New"/>
                <a:ea typeface="Courier New"/>
                <a:cs typeface="Courier New"/>
                <a:sym typeface="Courier New"/>
              </a:rPr>
              <a:t>"&gt;</a:t>
            </a:r>
            <a:r>
              <a:rPr lang="en" sz="950">
                <a:solidFill>
                  <a:srgbClr val="212529"/>
                </a:solidFill>
                <a:latin typeface="Courier New"/>
                <a:ea typeface="Courier New"/>
                <a:cs typeface="Courier New"/>
                <a:sym typeface="Courier New"/>
              </a:rPr>
              <a:t>Next</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span</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lnSpc>
                <a:spcPct val="105000"/>
              </a:lnSpc>
              <a:spcBef>
                <a:spcPts val="0"/>
              </a:spcBef>
              <a:spcAft>
                <a:spcPts val="0"/>
              </a:spcAft>
              <a:buSzPts val="523"/>
              <a:buNone/>
            </a:pPr>
            <a:r>
              <a:rPr lang="en" sz="950">
                <a:solidFill>
                  <a:srgbClr val="212529"/>
                </a:solidFill>
                <a:latin typeface="Courier New"/>
                <a:ea typeface="Courier New"/>
                <a:cs typeface="Courier New"/>
                <a:sym typeface="Courier New"/>
              </a:rPr>
              <a:t>  </a:t>
            </a: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button</a:t>
            </a:r>
            <a:r>
              <a:rPr lang="en" sz="950">
                <a:solidFill>
                  <a:srgbClr val="333333"/>
                </a:solidFill>
                <a:latin typeface="Courier New"/>
                <a:ea typeface="Courier New"/>
                <a:cs typeface="Courier New"/>
                <a:sym typeface="Courier New"/>
              </a:rPr>
              <a:t>&gt;</a:t>
            </a:r>
            <a:endParaRPr sz="950">
              <a:solidFill>
                <a:srgbClr val="212529"/>
              </a:solidFill>
              <a:latin typeface="Courier New"/>
              <a:ea typeface="Courier New"/>
              <a:cs typeface="Courier New"/>
              <a:sym typeface="Courier New"/>
            </a:endParaRPr>
          </a:p>
          <a:p>
            <a:pPr indent="0" lvl="0" marL="0" rtl="0" algn="l">
              <a:spcBef>
                <a:spcPts val="0"/>
              </a:spcBef>
              <a:spcAft>
                <a:spcPts val="0"/>
              </a:spcAft>
              <a:buNone/>
            </a:pPr>
            <a:r>
              <a:rPr lang="en" sz="950">
                <a:solidFill>
                  <a:srgbClr val="333333"/>
                </a:solidFill>
                <a:latin typeface="Courier New"/>
                <a:ea typeface="Courier New"/>
                <a:cs typeface="Courier New"/>
                <a:sym typeface="Courier New"/>
              </a:rPr>
              <a:t>&lt;/</a:t>
            </a:r>
            <a:r>
              <a:rPr lang="en" sz="950">
                <a:solidFill>
                  <a:srgbClr val="C6303E"/>
                </a:solidFill>
                <a:latin typeface="Courier New"/>
                <a:ea typeface="Courier New"/>
                <a:cs typeface="Courier New"/>
                <a:sym typeface="Courier New"/>
              </a:rPr>
              <a:t>div</a:t>
            </a:r>
            <a:r>
              <a:rPr lang="en" sz="950">
                <a:solidFill>
                  <a:srgbClr val="333333"/>
                </a:solidFill>
                <a:latin typeface="Courier New"/>
                <a:ea typeface="Courier New"/>
                <a:cs typeface="Courier New"/>
                <a:sym typeface="Courier New"/>
              </a:rPr>
              <a:t>&gt;</a:t>
            </a:r>
            <a:endParaRPr sz="950">
              <a:solidFill>
                <a:srgbClr val="333333"/>
              </a:solidFill>
              <a:latin typeface="Courier New"/>
              <a:ea typeface="Courier New"/>
              <a:cs typeface="Courier New"/>
              <a:sym typeface="Courier New"/>
            </a:endParaRPr>
          </a:p>
          <a:p>
            <a:pPr indent="0" lvl="0" marL="0" rtl="0" algn="l">
              <a:lnSpc>
                <a:spcPct val="105000"/>
              </a:lnSpc>
              <a:spcBef>
                <a:spcPts val="0"/>
              </a:spcBef>
              <a:spcAft>
                <a:spcPts val="0"/>
              </a:spcAft>
              <a:buSzPts val="523"/>
              <a:buNone/>
            </a:pPr>
            <a:r>
              <a:t/>
            </a:r>
            <a:endParaRPr sz="1018"/>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Bootstrap Components (Utility classes)</a:t>
            </a:r>
            <a:endParaRPr/>
          </a:p>
        </p:txBody>
      </p:sp>
      <p:sp>
        <p:nvSpPr>
          <p:cNvPr id="263" name="Google Shape;263;p35"/>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800"/>
              </a:spcBef>
              <a:spcAft>
                <a:spcPts val="0"/>
              </a:spcAft>
              <a:buNone/>
            </a:pPr>
            <a:r>
              <a:rPr lang="en" sz="2400">
                <a:solidFill>
                  <a:srgbClr val="000000"/>
                </a:solidFill>
                <a:highlight>
                  <a:srgbClr val="FFFFFF"/>
                </a:highlight>
                <a:latin typeface="Arial"/>
                <a:ea typeface="Arial"/>
                <a:cs typeface="Arial"/>
                <a:sym typeface="Arial"/>
              </a:rPr>
              <a:t>Visibility</a:t>
            </a:r>
            <a:endParaRPr sz="2400">
              <a:solidFill>
                <a:srgbClr val="000000"/>
              </a:solidFill>
              <a:highlight>
                <a:srgbClr val="FFFFFF"/>
              </a:highlight>
              <a:latin typeface="Arial"/>
              <a:ea typeface="Arial"/>
              <a:cs typeface="Arial"/>
              <a:sym typeface="Arial"/>
            </a:endParaRPr>
          </a:p>
          <a:p>
            <a:pPr indent="0" lvl="0" marL="0" rtl="0" algn="l">
              <a:spcBef>
                <a:spcPts val="1400"/>
              </a:spcBef>
              <a:spcAft>
                <a:spcPts val="0"/>
              </a:spcAft>
              <a:buNone/>
            </a:pPr>
            <a:r>
              <a:rPr lang="en" sz="1200">
                <a:solidFill>
                  <a:srgbClr val="000000"/>
                </a:solidFill>
                <a:highlight>
                  <a:srgbClr val="FFFFFF"/>
                </a:highlight>
                <a:latin typeface="Arial"/>
                <a:ea typeface="Arial"/>
                <a:cs typeface="Arial"/>
                <a:sym typeface="Arial"/>
              </a:rPr>
              <a:t>Use the </a:t>
            </a:r>
            <a:r>
              <a:rPr lang="en" sz="1200">
                <a:solidFill>
                  <a:srgbClr val="DC143C"/>
                </a:solidFill>
                <a:highlight>
                  <a:srgbClr val="FFFFFF"/>
                </a:highlight>
                <a:latin typeface="Courier New"/>
                <a:ea typeface="Courier New"/>
                <a:cs typeface="Courier New"/>
                <a:sym typeface="Courier New"/>
              </a:rPr>
              <a:t>.visible</a:t>
            </a:r>
            <a:r>
              <a:rPr lang="en" sz="1200">
                <a:solidFill>
                  <a:srgbClr val="000000"/>
                </a:solidFill>
                <a:highlight>
                  <a:srgbClr val="FFFFFF"/>
                </a:highlight>
                <a:latin typeface="Arial"/>
                <a:ea typeface="Arial"/>
                <a:cs typeface="Arial"/>
                <a:sym typeface="Arial"/>
              </a:rPr>
              <a:t> or </a:t>
            </a:r>
            <a:r>
              <a:rPr lang="en" sz="1200">
                <a:solidFill>
                  <a:srgbClr val="DC143C"/>
                </a:solidFill>
                <a:highlight>
                  <a:srgbClr val="FFFFFF"/>
                </a:highlight>
                <a:latin typeface="Courier New"/>
                <a:ea typeface="Courier New"/>
                <a:cs typeface="Courier New"/>
                <a:sym typeface="Courier New"/>
              </a:rPr>
              <a:t>.invisible</a:t>
            </a:r>
            <a:r>
              <a:rPr lang="en" sz="1200">
                <a:solidFill>
                  <a:srgbClr val="000000"/>
                </a:solidFill>
                <a:highlight>
                  <a:srgbClr val="FFFFFF"/>
                </a:highlight>
                <a:latin typeface="Arial"/>
                <a:ea typeface="Arial"/>
                <a:cs typeface="Arial"/>
                <a:sym typeface="Arial"/>
              </a:rPr>
              <a:t> classes to control the visibility of elements.</a:t>
            </a:r>
            <a:endParaRPr sz="1200">
              <a:solidFill>
                <a:srgbClr val="000000"/>
              </a:solidFill>
              <a:highlight>
                <a:srgbClr val="FFFFFF"/>
              </a:highlight>
              <a:latin typeface="Arial"/>
              <a:ea typeface="Arial"/>
              <a:cs typeface="Arial"/>
              <a:sym typeface="Arial"/>
            </a:endParaRPr>
          </a:p>
          <a:p>
            <a:pPr indent="0" lvl="0" marL="0" rtl="0" algn="l">
              <a:spcBef>
                <a:spcPts val="1400"/>
              </a:spcBef>
              <a:spcAft>
                <a:spcPts val="0"/>
              </a:spcAft>
              <a:buNone/>
            </a:pPr>
            <a:r>
              <a:rPr lang="en" sz="1150">
                <a:solidFill>
                  <a:srgbClr val="999999"/>
                </a:solidFill>
                <a:latin typeface="Courier New"/>
                <a:ea typeface="Courier New"/>
                <a:cs typeface="Courier New"/>
                <a:sym typeface="Courier New"/>
              </a:rPr>
              <a:t>&lt;</a:t>
            </a:r>
            <a:r>
              <a:rPr lang="en" sz="1150">
                <a:solidFill>
                  <a:srgbClr val="990055"/>
                </a:solidFill>
                <a:latin typeface="Courier New"/>
                <a:ea typeface="Courier New"/>
                <a:cs typeface="Courier New"/>
                <a:sym typeface="Courier New"/>
              </a:rPr>
              <a:t>div</a:t>
            </a:r>
            <a:r>
              <a:rPr lang="en" sz="1150">
                <a:solidFill>
                  <a:srgbClr val="008000"/>
                </a:solidFill>
                <a:latin typeface="Courier New"/>
                <a:ea typeface="Courier New"/>
                <a:cs typeface="Courier New"/>
                <a:sym typeface="Courier New"/>
              </a:rPr>
              <a:t> class</a:t>
            </a:r>
            <a:r>
              <a:rPr lang="en" sz="1150">
                <a:solidFill>
                  <a:srgbClr val="005CC5"/>
                </a:solidFill>
                <a:latin typeface="Courier New"/>
                <a:ea typeface="Courier New"/>
                <a:cs typeface="Courier New"/>
                <a:sym typeface="Courier New"/>
              </a:rPr>
              <a:t>="visible"</a:t>
            </a:r>
            <a:r>
              <a:rPr lang="en" sz="1150">
                <a:solidFill>
                  <a:srgbClr val="999999"/>
                </a:solidFill>
                <a:latin typeface="Courier New"/>
                <a:ea typeface="Courier New"/>
                <a:cs typeface="Courier New"/>
                <a:sym typeface="Courier New"/>
              </a:rPr>
              <a:t>&gt;</a:t>
            </a:r>
            <a:r>
              <a:rPr lang="en" sz="1150">
                <a:solidFill>
                  <a:srgbClr val="000000"/>
                </a:solidFill>
                <a:highlight>
                  <a:srgbClr val="FFFFFF"/>
                </a:highlight>
                <a:latin typeface="Courier New"/>
                <a:ea typeface="Courier New"/>
                <a:cs typeface="Courier New"/>
                <a:sym typeface="Courier New"/>
              </a:rPr>
              <a:t>I am visible</a:t>
            </a:r>
            <a:r>
              <a:rPr lang="en" sz="1150">
                <a:solidFill>
                  <a:srgbClr val="999999"/>
                </a:solidFill>
                <a:latin typeface="Courier New"/>
                <a:ea typeface="Courier New"/>
                <a:cs typeface="Courier New"/>
                <a:sym typeface="Courier New"/>
              </a:rPr>
              <a:t>&lt;</a:t>
            </a:r>
            <a:r>
              <a:rPr lang="en" sz="1150">
                <a:solidFill>
                  <a:srgbClr val="990055"/>
                </a:solidFill>
                <a:latin typeface="Courier New"/>
                <a:ea typeface="Courier New"/>
                <a:cs typeface="Courier New"/>
                <a:sym typeface="Courier New"/>
              </a:rPr>
              <a:t>/div</a:t>
            </a:r>
            <a:r>
              <a:rPr lang="en" sz="1150">
                <a:solidFill>
                  <a:srgbClr val="999999"/>
                </a:solidFill>
                <a:latin typeface="Courier New"/>
                <a:ea typeface="Courier New"/>
                <a:cs typeface="Courier New"/>
                <a:sym typeface="Courier New"/>
              </a:rPr>
              <a:t>&gt;</a:t>
            </a:r>
            <a:endParaRPr sz="1150">
              <a:solidFill>
                <a:srgbClr val="999999"/>
              </a:solidFill>
              <a:latin typeface="Courier New"/>
              <a:ea typeface="Courier New"/>
              <a:cs typeface="Courier New"/>
              <a:sym typeface="Courier New"/>
            </a:endParaRPr>
          </a:p>
          <a:p>
            <a:pPr indent="0" lvl="0" marL="0" rtl="0" algn="l">
              <a:spcBef>
                <a:spcPts val="1200"/>
              </a:spcBef>
              <a:spcAft>
                <a:spcPts val="1200"/>
              </a:spcAft>
              <a:buNone/>
            </a:pPr>
            <a:r>
              <a:rPr lang="en" sz="1150">
                <a:solidFill>
                  <a:srgbClr val="999999"/>
                </a:solidFill>
                <a:latin typeface="Courier New"/>
                <a:ea typeface="Courier New"/>
                <a:cs typeface="Courier New"/>
                <a:sym typeface="Courier New"/>
              </a:rPr>
              <a:t>&lt;</a:t>
            </a:r>
            <a:r>
              <a:rPr lang="en" sz="1150">
                <a:solidFill>
                  <a:srgbClr val="990055"/>
                </a:solidFill>
                <a:latin typeface="Courier New"/>
                <a:ea typeface="Courier New"/>
                <a:cs typeface="Courier New"/>
                <a:sym typeface="Courier New"/>
              </a:rPr>
              <a:t>div</a:t>
            </a:r>
            <a:r>
              <a:rPr lang="en" sz="1150">
                <a:solidFill>
                  <a:srgbClr val="008000"/>
                </a:solidFill>
                <a:latin typeface="Courier New"/>
                <a:ea typeface="Courier New"/>
                <a:cs typeface="Courier New"/>
                <a:sym typeface="Courier New"/>
              </a:rPr>
              <a:t> class</a:t>
            </a:r>
            <a:r>
              <a:rPr lang="en" sz="1150">
                <a:solidFill>
                  <a:srgbClr val="005CC5"/>
                </a:solidFill>
                <a:latin typeface="Courier New"/>
                <a:ea typeface="Courier New"/>
                <a:cs typeface="Courier New"/>
                <a:sym typeface="Courier New"/>
              </a:rPr>
              <a:t>="invisible"</a:t>
            </a:r>
            <a:r>
              <a:rPr lang="en" sz="1150">
                <a:solidFill>
                  <a:srgbClr val="999999"/>
                </a:solidFill>
                <a:latin typeface="Courier New"/>
                <a:ea typeface="Courier New"/>
                <a:cs typeface="Courier New"/>
                <a:sym typeface="Courier New"/>
              </a:rPr>
              <a:t>&gt;</a:t>
            </a:r>
            <a:r>
              <a:rPr lang="en" sz="1150">
                <a:solidFill>
                  <a:srgbClr val="000000"/>
                </a:solidFill>
                <a:highlight>
                  <a:srgbClr val="FFFFFF"/>
                </a:highlight>
                <a:latin typeface="Courier New"/>
                <a:ea typeface="Courier New"/>
                <a:cs typeface="Courier New"/>
                <a:sym typeface="Courier New"/>
              </a:rPr>
              <a:t>I am invisible</a:t>
            </a:r>
            <a:r>
              <a:rPr lang="en" sz="1150">
                <a:solidFill>
                  <a:srgbClr val="999999"/>
                </a:solidFill>
                <a:latin typeface="Courier New"/>
                <a:ea typeface="Courier New"/>
                <a:cs typeface="Courier New"/>
                <a:sym typeface="Courier New"/>
              </a:rPr>
              <a:t>&lt;</a:t>
            </a:r>
            <a:r>
              <a:rPr lang="en" sz="1150">
                <a:solidFill>
                  <a:srgbClr val="990055"/>
                </a:solidFill>
                <a:latin typeface="Courier New"/>
                <a:ea typeface="Courier New"/>
                <a:cs typeface="Courier New"/>
                <a:sym typeface="Courier New"/>
              </a:rPr>
              <a:t>/div</a:t>
            </a:r>
            <a:r>
              <a:rPr lang="en" sz="1150">
                <a:solidFill>
                  <a:srgbClr val="999999"/>
                </a:solidFill>
                <a:latin typeface="Courier New"/>
                <a:ea typeface="Courier New"/>
                <a:cs typeface="Courier New"/>
                <a:sym typeface="Courier New"/>
              </a:rPr>
              <a:t>&gt;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6"/>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Bootstrap Components (Utility classes cont’d)</a:t>
            </a:r>
            <a:endParaRPr/>
          </a:p>
        </p:txBody>
      </p:sp>
      <p:sp>
        <p:nvSpPr>
          <p:cNvPr id="269" name="Google Shape;269;p3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800"/>
              </a:spcBef>
              <a:spcAft>
                <a:spcPts val="0"/>
              </a:spcAft>
              <a:buNone/>
            </a:pPr>
            <a:r>
              <a:rPr lang="en" sz="2400">
                <a:solidFill>
                  <a:srgbClr val="000000"/>
                </a:solidFill>
                <a:highlight>
                  <a:srgbClr val="FFFFFF"/>
                </a:highlight>
                <a:latin typeface="Arial"/>
                <a:ea typeface="Arial"/>
                <a:cs typeface="Arial"/>
                <a:sym typeface="Arial"/>
              </a:rPr>
              <a:t>Display</a:t>
            </a:r>
            <a:endParaRPr sz="1200">
              <a:solidFill>
                <a:srgbClr val="0A0A0A"/>
              </a:solidFill>
              <a:highlight>
                <a:srgbClr val="E5EDFF"/>
              </a:highlight>
              <a:latin typeface="Roboto Mono"/>
              <a:ea typeface="Roboto Mono"/>
              <a:cs typeface="Roboto Mono"/>
              <a:sym typeface="Roboto Mono"/>
            </a:endParaRPr>
          </a:p>
          <a:p>
            <a:pPr indent="-304800" lvl="0" marL="457200" rtl="0" algn="l">
              <a:lnSpc>
                <a:spcPct val="150000"/>
              </a:lnSpc>
              <a:spcBef>
                <a:spcPts val="800"/>
              </a:spcBef>
              <a:spcAft>
                <a:spcPts val="0"/>
              </a:spcAft>
              <a:buClr>
                <a:srgbClr val="0A0A0A"/>
              </a:buClr>
              <a:buSzPts val="1200"/>
              <a:buFont typeface="Arial"/>
              <a:buChar char="●"/>
            </a:pPr>
            <a:r>
              <a:rPr lang="en" sz="1200">
                <a:solidFill>
                  <a:srgbClr val="0A0A0A"/>
                </a:solidFill>
                <a:highlight>
                  <a:srgbClr val="E5EDFF"/>
                </a:highlight>
                <a:latin typeface="Roboto Mono"/>
                <a:ea typeface="Roboto Mono"/>
                <a:cs typeface="Roboto Mono"/>
                <a:sym typeface="Roboto Mono"/>
              </a:rPr>
              <a:t>.d-none</a:t>
            </a:r>
            <a:r>
              <a:rPr lang="en" sz="1200">
                <a:solidFill>
                  <a:srgbClr val="0A0A0A"/>
                </a:solidFill>
                <a:highlight>
                  <a:srgbClr val="FFFFFF"/>
                </a:highlight>
                <a:latin typeface="Arial"/>
                <a:ea typeface="Arial"/>
                <a:cs typeface="Arial"/>
                <a:sym typeface="Arial"/>
              </a:rPr>
              <a:t>, </a:t>
            </a:r>
            <a:r>
              <a:rPr lang="en" sz="1200">
                <a:solidFill>
                  <a:srgbClr val="0A0A0A"/>
                </a:solidFill>
                <a:highlight>
                  <a:srgbClr val="E5EDFF"/>
                </a:highlight>
                <a:latin typeface="Roboto Mono"/>
                <a:ea typeface="Roboto Mono"/>
                <a:cs typeface="Roboto Mono"/>
                <a:sym typeface="Roboto Mono"/>
              </a:rPr>
              <a:t>.d-block</a:t>
            </a:r>
            <a:r>
              <a:rPr lang="en" sz="1200">
                <a:solidFill>
                  <a:srgbClr val="0A0A0A"/>
                </a:solidFill>
                <a:highlight>
                  <a:srgbClr val="FFFFFF"/>
                </a:highlight>
                <a:latin typeface="Arial"/>
                <a:ea typeface="Arial"/>
                <a:cs typeface="Arial"/>
                <a:sym typeface="Arial"/>
              </a:rPr>
              <a:t>, </a:t>
            </a:r>
            <a:r>
              <a:rPr lang="en" sz="1200">
                <a:solidFill>
                  <a:srgbClr val="0A0A0A"/>
                </a:solidFill>
                <a:highlight>
                  <a:srgbClr val="E5EDFF"/>
                </a:highlight>
                <a:latin typeface="Roboto Mono"/>
                <a:ea typeface="Roboto Mono"/>
                <a:cs typeface="Roboto Mono"/>
                <a:sym typeface="Roboto Mono"/>
              </a:rPr>
              <a:t>.d-flex</a:t>
            </a:r>
            <a:r>
              <a:rPr lang="en" sz="1200">
                <a:solidFill>
                  <a:srgbClr val="0A0A0A"/>
                </a:solidFill>
                <a:highlight>
                  <a:srgbClr val="FFFFFF"/>
                </a:highlight>
                <a:latin typeface="Arial"/>
                <a:ea typeface="Arial"/>
                <a:cs typeface="Arial"/>
                <a:sym typeface="Arial"/>
              </a:rPr>
              <a:t>, etc.: Control the </a:t>
            </a:r>
            <a:r>
              <a:rPr lang="en" sz="1200">
                <a:solidFill>
                  <a:srgbClr val="0A0A0A"/>
                </a:solidFill>
                <a:highlight>
                  <a:srgbClr val="E5EDFF"/>
                </a:highlight>
                <a:latin typeface="Roboto Mono"/>
                <a:ea typeface="Roboto Mono"/>
                <a:cs typeface="Roboto Mono"/>
                <a:sym typeface="Roboto Mono"/>
              </a:rPr>
              <a:t>display</a:t>
            </a:r>
            <a:r>
              <a:rPr lang="en" sz="1200">
                <a:solidFill>
                  <a:srgbClr val="0A0A0A"/>
                </a:solidFill>
                <a:highlight>
                  <a:srgbClr val="FFFFFF"/>
                </a:highlight>
                <a:latin typeface="Arial"/>
                <a:ea typeface="Arial"/>
                <a:cs typeface="Arial"/>
                <a:sym typeface="Arial"/>
              </a:rPr>
              <a:t> property of an element. Responsive variants like </a:t>
            </a:r>
            <a:r>
              <a:rPr lang="en" sz="1200">
                <a:solidFill>
                  <a:srgbClr val="0A0A0A"/>
                </a:solidFill>
                <a:highlight>
                  <a:srgbClr val="E5EDFF"/>
                </a:highlight>
                <a:latin typeface="Roboto Mono"/>
                <a:ea typeface="Roboto Mono"/>
                <a:cs typeface="Roboto Mono"/>
                <a:sym typeface="Roboto Mono"/>
              </a:rPr>
              <a:t>.d-sm-none</a:t>
            </a:r>
            <a:r>
              <a:rPr lang="en" sz="1200">
                <a:solidFill>
                  <a:srgbClr val="0A0A0A"/>
                </a:solidFill>
                <a:highlight>
                  <a:srgbClr val="FFFFFF"/>
                </a:highlight>
                <a:latin typeface="Arial"/>
                <a:ea typeface="Arial"/>
                <a:cs typeface="Arial"/>
                <a:sym typeface="Arial"/>
              </a:rPr>
              <a:t>, </a:t>
            </a:r>
            <a:r>
              <a:rPr lang="en" sz="1200">
                <a:solidFill>
                  <a:srgbClr val="0A0A0A"/>
                </a:solidFill>
                <a:highlight>
                  <a:srgbClr val="E5EDFF"/>
                </a:highlight>
                <a:latin typeface="Roboto Mono"/>
                <a:ea typeface="Roboto Mono"/>
                <a:cs typeface="Roboto Mono"/>
                <a:sym typeface="Roboto Mono"/>
              </a:rPr>
              <a:t>.d-md-flex</a:t>
            </a:r>
            <a:r>
              <a:rPr lang="en" sz="1200">
                <a:solidFill>
                  <a:srgbClr val="0A0A0A"/>
                </a:solidFill>
                <a:highlight>
                  <a:srgbClr val="FFFFFF"/>
                </a:highlight>
                <a:latin typeface="Arial"/>
                <a:ea typeface="Arial"/>
                <a:cs typeface="Arial"/>
                <a:sym typeface="Arial"/>
              </a:rPr>
              <a:t> allow for responsive control over display.</a:t>
            </a:r>
            <a:endParaRPr sz="1200">
              <a:solidFill>
                <a:srgbClr val="0A0A0A"/>
              </a:solidFill>
              <a:highlight>
                <a:srgbClr val="FFFFFF"/>
              </a:highlight>
              <a:latin typeface="Arial"/>
              <a:ea typeface="Arial"/>
              <a:cs typeface="Arial"/>
              <a:sym typeface="Arial"/>
            </a:endParaRPr>
          </a:p>
          <a:p>
            <a:pPr indent="-304800" lvl="0" marL="457200" rtl="0" algn="l">
              <a:lnSpc>
                <a:spcPct val="150000"/>
              </a:lnSpc>
              <a:spcBef>
                <a:spcPts val="0"/>
              </a:spcBef>
              <a:spcAft>
                <a:spcPts val="0"/>
              </a:spcAft>
              <a:buClr>
                <a:srgbClr val="0A0A0A"/>
              </a:buClr>
              <a:buSzPts val="1200"/>
              <a:buFont typeface="Arial"/>
              <a:buChar char="●"/>
            </a:pPr>
            <a:r>
              <a:rPr lang="en" sz="1200">
                <a:solidFill>
                  <a:srgbClr val="0A0A0A"/>
                </a:solidFill>
                <a:highlight>
                  <a:srgbClr val="E5EDFF"/>
                </a:highlight>
                <a:latin typeface="Roboto Mono"/>
                <a:ea typeface="Roboto Mono"/>
                <a:cs typeface="Roboto Mono"/>
                <a:sym typeface="Roboto Mono"/>
              </a:rPr>
              <a:t>.d-print-*</a:t>
            </a:r>
            <a:r>
              <a:rPr lang="en" sz="1200">
                <a:solidFill>
                  <a:srgbClr val="0A0A0A"/>
                </a:solidFill>
                <a:highlight>
                  <a:srgbClr val="FFFFFF"/>
                </a:highlight>
                <a:latin typeface="Arial"/>
                <a:ea typeface="Arial"/>
                <a:cs typeface="Arial"/>
                <a:sym typeface="Arial"/>
              </a:rPr>
              <a:t>: Control the display of elements specifically for printing.</a:t>
            </a:r>
            <a:endParaRPr sz="1200">
              <a:solidFill>
                <a:srgbClr val="0A0A0A"/>
              </a:solidFill>
              <a:highlight>
                <a:srgbClr val="FFFFFF"/>
              </a:highlight>
              <a:latin typeface="Arial"/>
              <a:ea typeface="Arial"/>
              <a:cs typeface="Arial"/>
              <a:sym typeface="Arial"/>
            </a:endParaRPr>
          </a:p>
          <a:p>
            <a:pPr indent="-304800" lvl="0" marL="457200" rtl="0" algn="l">
              <a:lnSpc>
                <a:spcPct val="150000"/>
              </a:lnSpc>
              <a:spcBef>
                <a:spcPts val="0"/>
              </a:spcBef>
              <a:spcAft>
                <a:spcPts val="0"/>
              </a:spcAft>
              <a:buClr>
                <a:srgbClr val="0A0A0A"/>
              </a:buClr>
              <a:buSzPts val="1200"/>
              <a:buFont typeface="Arial"/>
              <a:buChar char="●"/>
            </a:pPr>
            <a:r>
              <a:rPr lang="en" sz="1200">
                <a:solidFill>
                  <a:srgbClr val="0A0A0A"/>
                </a:solidFill>
                <a:highlight>
                  <a:srgbClr val="E5EDFF"/>
                </a:highlight>
                <a:latin typeface="Roboto Mono"/>
                <a:ea typeface="Roboto Mono"/>
                <a:cs typeface="Roboto Mono"/>
                <a:sym typeface="Roboto Mono"/>
              </a:rPr>
              <a:t>.visually-hidden</a:t>
            </a:r>
            <a:r>
              <a:rPr lang="en" sz="1200">
                <a:solidFill>
                  <a:srgbClr val="0A0A0A"/>
                </a:solidFill>
                <a:highlight>
                  <a:srgbClr val="FFFFFF"/>
                </a:highlight>
                <a:latin typeface="Arial"/>
                <a:ea typeface="Arial"/>
                <a:cs typeface="Arial"/>
                <a:sym typeface="Arial"/>
              </a:rPr>
              <a:t>: Hides an element visually while keeping it accessible to screen readers.</a:t>
            </a:r>
            <a:endParaRPr sz="1200">
              <a:solidFill>
                <a:srgbClr val="0A0A0A"/>
              </a:solidFill>
              <a:highlight>
                <a:srgbClr val="FFFFFF"/>
              </a:highlight>
              <a:latin typeface="Arial"/>
              <a:ea typeface="Arial"/>
              <a:cs typeface="Arial"/>
              <a:sym typeface="Arial"/>
            </a:endParaRPr>
          </a:p>
          <a:p>
            <a:pPr indent="0" lvl="0" marL="0" rtl="0" algn="l">
              <a:spcBef>
                <a:spcPts val="1500"/>
              </a:spcBef>
              <a:spcAft>
                <a:spcPts val="12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7"/>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Bootstrap Components (Utility classes cont’d)</a:t>
            </a:r>
            <a:endParaRPr/>
          </a:p>
        </p:txBody>
      </p:sp>
      <p:sp>
        <p:nvSpPr>
          <p:cNvPr id="275" name="Google Shape;275;p37"/>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800"/>
              </a:spcBef>
              <a:spcAft>
                <a:spcPts val="0"/>
              </a:spcAft>
              <a:buNone/>
            </a:pPr>
            <a:r>
              <a:rPr lang="en" sz="2400">
                <a:solidFill>
                  <a:srgbClr val="000000"/>
                </a:solidFill>
                <a:highlight>
                  <a:srgbClr val="FFFFFF"/>
                </a:highlight>
                <a:latin typeface="Arial"/>
                <a:ea typeface="Arial"/>
                <a:cs typeface="Arial"/>
                <a:sym typeface="Arial"/>
              </a:rPr>
              <a:t>Spacing</a:t>
            </a:r>
            <a:endParaRPr b="1" sz="1200">
              <a:solidFill>
                <a:srgbClr val="0A0A0A"/>
              </a:solidFill>
              <a:highlight>
                <a:srgbClr val="FFFFFF"/>
              </a:highlight>
              <a:latin typeface="Arial"/>
              <a:ea typeface="Arial"/>
              <a:cs typeface="Arial"/>
              <a:sym typeface="Arial"/>
            </a:endParaRPr>
          </a:p>
          <a:p>
            <a:pPr indent="0" lvl="0" marL="0" rtl="0" algn="l">
              <a:lnSpc>
                <a:spcPct val="150000"/>
              </a:lnSpc>
              <a:spcBef>
                <a:spcPts val="800"/>
              </a:spcBef>
              <a:spcAft>
                <a:spcPts val="1500"/>
              </a:spcAft>
              <a:buNone/>
            </a:pPr>
            <a:r>
              <a:rPr b="1" lang="en" sz="1200">
                <a:solidFill>
                  <a:srgbClr val="0A0A0A"/>
                </a:solidFill>
                <a:highlight>
                  <a:srgbClr val="FFFFFF"/>
                </a:highlight>
                <a:latin typeface="Arial"/>
                <a:ea typeface="Arial"/>
                <a:cs typeface="Arial"/>
                <a:sym typeface="Arial"/>
              </a:rPr>
              <a:t>Margin and Padding Utilities:</a:t>
            </a:r>
            <a:r>
              <a:rPr lang="en" sz="1200">
                <a:solidFill>
                  <a:srgbClr val="0A0A0A"/>
                </a:solidFill>
                <a:highlight>
                  <a:srgbClr val="FFFFFF"/>
                </a:highlight>
                <a:latin typeface="Arial"/>
                <a:ea typeface="Arial"/>
                <a:cs typeface="Arial"/>
                <a:sym typeface="Arial"/>
              </a:rPr>
              <a:t> Classes like </a:t>
            </a:r>
            <a:r>
              <a:rPr lang="en" sz="1200">
                <a:solidFill>
                  <a:srgbClr val="0A0A0A"/>
                </a:solidFill>
                <a:highlight>
                  <a:srgbClr val="E5EDFF"/>
                </a:highlight>
                <a:latin typeface="Roboto Mono"/>
                <a:ea typeface="Roboto Mono"/>
                <a:cs typeface="Roboto Mono"/>
                <a:sym typeface="Roboto Mono"/>
              </a:rPr>
              <a:t>m-*</a:t>
            </a:r>
            <a:r>
              <a:rPr lang="en" sz="1200">
                <a:solidFill>
                  <a:srgbClr val="0A0A0A"/>
                </a:solidFill>
                <a:highlight>
                  <a:srgbClr val="FFFFFF"/>
                </a:highlight>
                <a:latin typeface="Arial"/>
                <a:ea typeface="Arial"/>
                <a:cs typeface="Arial"/>
                <a:sym typeface="Arial"/>
              </a:rPr>
              <a:t>, </a:t>
            </a:r>
            <a:r>
              <a:rPr lang="en" sz="1200">
                <a:solidFill>
                  <a:srgbClr val="0A0A0A"/>
                </a:solidFill>
                <a:highlight>
                  <a:srgbClr val="E5EDFF"/>
                </a:highlight>
                <a:latin typeface="Roboto Mono"/>
                <a:ea typeface="Roboto Mono"/>
                <a:cs typeface="Roboto Mono"/>
                <a:sym typeface="Roboto Mono"/>
              </a:rPr>
              <a:t>p-*</a:t>
            </a:r>
            <a:r>
              <a:rPr lang="en" sz="1200">
                <a:solidFill>
                  <a:srgbClr val="0A0A0A"/>
                </a:solidFill>
                <a:highlight>
                  <a:srgbClr val="FFFFFF"/>
                </a:highlight>
                <a:latin typeface="Arial"/>
                <a:ea typeface="Arial"/>
                <a:cs typeface="Arial"/>
                <a:sym typeface="Arial"/>
              </a:rPr>
              <a:t>, </a:t>
            </a:r>
            <a:r>
              <a:rPr lang="en" sz="1200">
                <a:solidFill>
                  <a:srgbClr val="0A0A0A"/>
                </a:solidFill>
                <a:highlight>
                  <a:srgbClr val="E5EDFF"/>
                </a:highlight>
                <a:latin typeface="Roboto Mono"/>
                <a:ea typeface="Roboto Mono"/>
                <a:cs typeface="Roboto Mono"/>
                <a:sym typeface="Roboto Mono"/>
              </a:rPr>
              <a:t>mt-*</a:t>
            </a:r>
            <a:r>
              <a:rPr lang="en" sz="1200">
                <a:solidFill>
                  <a:srgbClr val="0A0A0A"/>
                </a:solidFill>
                <a:highlight>
                  <a:srgbClr val="FFFFFF"/>
                </a:highlight>
                <a:latin typeface="Arial"/>
                <a:ea typeface="Arial"/>
                <a:cs typeface="Arial"/>
                <a:sym typeface="Arial"/>
              </a:rPr>
              <a:t>, </a:t>
            </a:r>
            <a:r>
              <a:rPr lang="en" sz="1200">
                <a:solidFill>
                  <a:srgbClr val="0A0A0A"/>
                </a:solidFill>
                <a:highlight>
                  <a:srgbClr val="E5EDFF"/>
                </a:highlight>
                <a:latin typeface="Roboto Mono"/>
                <a:ea typeface="Roboto Mono"/>
                <a:cs typeface="Roboto Mono"/>
                <a:sym typeface="Roboto Mono"/>
              </a:rPr>
              <a:t>pb-*</a:t>
            </a:r>
            <a:r>
              <a:rPr lang="en" sz="1200">
                <a:solidFill>
                  <a:srgbClr val="0A0A0A"/>
                </a:solidFill>
                <a:highlight>
                  <a:srgbClr val="FFFFFF"/>
                </a:highlight>
                <a:latin typeface="Arial"/>
                <a:ea typeface="Arial"/>
                <a:cs typeface="Arial"/>
                <a:sym typeface="Arial"/>
              </a:rPr>
              <a:t>, </a:t>
            </a:r>
            <a:r>
              <a:rPr lang="en" sz="1200">
                <a:solidFill>
                  <a:srgbClr val="0A0A0A"/>
                </a:solidFill>
                <a:highlight>
                  <a:srgbClr val="E5EDFF"/>
                </a:highlight>
                <a:latin typeface="Roboto Mono"/>
                <a:ea typeface="Roboto Mono"/>
                <a:cs typeface="Roboto Mono"/>
                <a:sym typeface="Roboto Mono"/>
              </a:rPr>
              <a:t>mx-*</a:t>
            </a:r>
            <a:r>
              <a:rPr lang="en" sz="1200">
                <a:solidFill>
                  <a:srgbClr val="0A0A0A"/>
                </a:solidFill>
                <a:highlight>
                  <a:srgbClr val="FFFFFF"/>
                </a:highlight>
                <a:latin typeface="Arial"/>
                <a:ea typeface="Arial"/>
                <a:cs typeface="Arial"/>
                <a:sym typeface="Arial"/>
              </a:rPr>
              <a:t>, </a:t>
            </a:r>
            <a:r>
              <a:rPr lang="en" sz="1200">
                <a:solidFill>
                  <a:srgbClr val="0A0A0A"/>
                </a:solidFill>
                <a:highlight>
                  <a:srgbClr val="E5EDFF"/>
                </a:highlight>
                <a:latin typeface="Roboto Mono"/>
                <a:ea typeface="Roboto Mono"/>
                <a:cs typeface="Roboto Mono"/>
                <a:sym typeface="Roboto Mono"/>
              </a:rPr>
              <a:t>py-*</a:t>
            </a:r>
            <a:r>
              <a:rPr lang="en" sz="1200">
                <a:solidFill>
                  <a:srgbClr val="0A0A0A"/>
                </a:solidFill>
                <a:highlight>
                  <a:srgbClr val="FFFFFF"/>
                </a:highlight>
                <a:latin typeface="Arial"/>
                <a:ea typeface="Arial"/>
                <a:cs typeface="Arial"/>
                <a:sym typeface="Arial"/>
              </a:rPr>
              <a:t> with values from </a:t>
            </a:r>
            <a:r>
              <a:rPr lang="en" sz="1200">
                <a:solidFill>
                  <a:srgbClr val="0A0A0A"/>
                </a:solidFill>
                <a:highlight>
                  <a:srgbClr val="E5EDFF"/>
                </a:highlight>
                <a:latin typeface="Roboto Mono"/>
                <a:ea typeface="Roboto Mono"/>
                <a:cs typeface="Roboto Mono"/>
                <a:sym typeface="Roboto Mono"/>
              </a:rPr>
              <a:t>0</a:t>
            </a:r>
            <a:r>
              <a:rPr lang="en" sz="1200">
                <a:solidFill>
                  <a:srgbClr val="0A0A0A"/>
                </a:solidFill>
                <a:highlight>
                  <a:srgbClr val="FFFFFF"/>
                </a:highlight>
                <a:latin typeface="Arial"/>
                <a:ea typeface="Arial"/>
                <a:cs typeface="Arial"/>
                <a:sym typeface="Arial"/>
              </a:rPr>
              <a:t> to </a:t>
            </a:r>
            <a:r>
              <a:rPr lang="en" sz="1200">
                <a:solidFill>
                  <a:srgbClr val="0A0A0A"/>
                </a:solidFill>
                <a:highlight>
                  <a:srgbClr val="E5EDFF"/>
                </a:highlight>
                <a:latin typeface="Roboto Mono"/>
                <a:ea typeface="Roboto Mono"/>
                <a:cs typeface="Roboto Mono"/>
                <a:sym typeface="Roboto Mono"/>
              </a:rPr>
              <a:t>5</a:t>
            </a:r>
            <a:r>
              <a:rPr lang="en" sz="1200">
                <a:solidFill>
                  <a:srgbClr val="0A0A0A"/>
                </a:solidFill>
                <a:highlight>
                  <a:srgbClr val="FFFFFF"/>
                </a:highlight>
                <a:latin typeface="Arial"/>
                <a:ea typeface="Arial"/>
                <a:cs typeface="Arial"/>
                <a:sym typeface="Arial"/>
              </a:rPr>
              <a:t> (and </a:t>
            </a:r>
            <a:r>
              <a:rPr lang="en" sz="1200">
                <a:solidFill>
                  <a:srgbClr val="0A0A0A"/>
                </a:solidFill>
                <a:highlight>
                  <a:srgbClr val="E5EDFF"/>
                </a:highlight>
                <a:latin typeface="Roboto Mono"/>
                <a:ea typeface="Roboto Mono"/>
                <a:cs typeface="Roboto Mono"/>
                <a:sym typeface="Roboto Mono"/>
              </a:rPr>
              <a:t>auto</a:t>
            </a:r>
            <a:r>
              <a:rPr lang="en" sz="1200">
                <a:solidFill>
                  <a:srgbClr val="0A0A0A"/>
                </a:solidFill>
                <a:highlight>
                  <a:srgbClr val="FFFFFF"/>
                </a:highlight>
                <a:latin typeface="Arial"/>
                <a:ea typeface="Arial"/>
                <a:cs typeface="Arial"/>
                <a:sym typeface="Arial"/>
              </a:rPr>
              <a:t> for margins) control margin and padding on all sides, top/bottom, left/right, or specific sides. Responsive variants are also available (e.g., </a:t>
            </a:r>
            <a:r>
              <a:rPr lang="en" sz="1200">
                <a:solidFill>
                  <a:srgbClr val="0A0A0A"/>
                </a:solidFill>
                <a:highlight>
                  <a:srgbClr val="E5EDFF"/>
                </a:highlight>
                <a:latin typeface="Roboto Mono"/>
                <a:ea typeface="Roboto Mono"/>
                <a:cs typeface="Roboto Mono"/>
                <a:sym typeface="Roboto Mono"/>
              </a:rPr>
              <a:t>.me-md-3</a:t>
            </a:r>
            <a:r>
              <a:rPr lang="en" sz="1200">
                <a:solidFill>
                  <a:srgbClr val="0A0A0A"/>
                </a:solidFill>
                <a:highlight>
                  <a:srgbClr val="FFFFFF"/>
                </a:highlight>
                <a:latin typeface="Arial"/>
                <a:ea typeface="Arial"/>
                <a:cs typeface="Arial"/>
                <a:sym typeface="Arial"/>
              </a:rPr>
              <a: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8"/>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Bootstrap Components (Utility classes cont’d)</a:t>
            </a:r>
            <a:endParaRPr/>
          </a:p>
        </p:txBody>
      </p:sp>
      <p:sp>
        <p:nvSpPr>
          <p:cNvPr id="281" name="Google Shape;281;p38"/>
          <p:cNvSpPr txBox="1"/>
          <p:nvPr>
            <p:ph idx="1" type="body"/>
          </p:nvPr>
        </p:nvSpPr>
        <p:spPr>
          <a:xfrm>
            <a:off x="819150" y="1990725"/>
            <a:ext cx="7505700" cy="2448000"/>
          </a:xfrm>
          <a:prstGeom prst="rect">
            <a:avLst/>
          </a:prstGeom>
        </p:spPr>
        <p:txBody>
          <a:bodyPr anchorCtr="0" anchor="t" bIns="91425" lIns="91425" spcFirstLastPara="1" rIns="91425" wrap="square" tIns="91425">
            <a:normAutofit fontScale="70000" lnSpcReduction="10000"/>
          </a:bodyPr>
          <a:lstStyle/>
          <a:p>
            <a:pPr indent="0" lvl="0" marL="0" rtl="0" algn="l">
              <a:lnSpc>
                <a:spcPct val="140000"/>
              </a:lnSpc>
              <a:spcBef>
                <a:spcPts val="1500"/>
              </a:spcBef>
              <a:spcAft>
                <a:spcPts val="0"/>
              </a:spcAft>
              <a:buNone/>
            </a:pPr>
            <a:r>
              <a:rPr lang="en" sz="3400">
                <a:solidFill>
                  <a:srgbClr val="0A0A0A"/>
                </a:solidFill>
                <a:highlight>
                  <a:srgbClr val="FFFFFF"/>
                </a:highlight>
                <a:latin typeface="Arial"/>
                <a:ea typeface="Arial"/>
                <a:cs typeface="Arial"/>
                <a:sym typeface="Arial"/>
              </a:rPr>
              <a:t>Flexbox</a:t>
            </a:r>
            <a:r>
              <a:rPr lang="en" sz="1500">
                <a:solidFill>
                  <a:srgbClr val="0A0A0A"/>
                </a:solidFill>
                <a:highlight>
                  <a:srgbClr val="FFFFFF"/>
                </a:highlight>
                <a:latin typeface="Arial"/>
                <a:ea typeface="Arial"/>
                <a:cs typeface="Arial"/>
                <a:sym typeface="Arial"/>
              </a:rPr>
              <a:t>:</a:t>
            </a:r>
            <a:endParaRPr sz="1500">
              <a:solidFill>
                <a:srgbClr val="0A0A0A"/>
              </a:solidFill>
              <a:highlight>
                <a:srgbClr val="FFFFFF"/>
              </a:highlight>
              <a:latin typeface="Arial"/>
              <a:ea typeface="Arial"/>
              <a:cs typeface="Arial"/>
              <a:sym typeface="Arial"/>
            </a:endParaRPr>
          </a:p>
          <a:p>
            <a:pPr indent="-290830" lvl="0" marL="457200" rtl="0" algn="l">
              <a:lnSpc>
                <a:spcPct val="150000"/>
              </a:lnSpc>
              <a:spcBef>
                <a:spcPts val="800"/>
              </a:spcBef>
              <a:spcAft>
                <a:spcPts val="0"/>
              </a:spcAft>
              <a:buClr>
                <a:srgbClr val="0A0A0A"/>
              </a:buClr>
              <a:buSzPct val="100000"/>
              <a:buFont typeface="Arial"/>
              <a:buChar char="●"/>
            </a:pPr>
            <a:r>
              <a:rPr lang="en" sz="1400">
                <a:solidFill>
                  <a:srgbClr val="0A0A0A"/>
                </a:solidFill>
                <a:highlight>
                  <a:srgbClr val="E5EDFF"/>
                </a:highlight>
                <a:latin typeface="Roboto Mono"/>
                <a:ea typeface="Roboto Mono"/>
                <a:cs typeface="Roboto Mono"/>
                <a:sym typeface="Roboto Mono"/>
              </a:rPr>
              <a:t>.d-flex</a:t>
            </a:r>
            <a:r>
              <a:rPr lang="en" sz="1400">
                <a:solidFill>
                  <a:srgbClr val="0A0A0A"/>
                </a:solidFill>
                <a:highlight>
                  <a:srgbClr val="FFFFFF"/>
                </a:highlight>
                <a:latin typeface="Arial"/>
                <a:ea typeface="Arial"/>
                <a:cs typeface="Arial"/>
                <a:sym typeface="Arial"/>
              </a:rPr>
              <a:t>: Initializes a flex container.</a:t>
            </a:r>
            <a:endParaRPr sz="1400">
              <a:solidFill>
                <a:srgbClr val="0A0A0A"/>
              </a:solidFill>
              <a:highlight>
                <a:srgbClr val="FFFFFF"/>
              </a:highlight>
              <a:latin typeface="Arial"/>
              <a:ea typeface="Arial"/>
              <a:cs typeface="Arial"/>
              <a:sym typeface="Arial"/>
            </a:endParaRPr>
          </a:p>
          <a:p>
            <a:pPr indent="-290830" lvl="0" marL="457200" rtl="0" algn="l">
              <a:lnSpc>
                <a:spcPct val="150000"/>
              </a:lnSpc>
              <a:spcBef>
                <a:spcPts val="0"/>
              </a:spcBef>
              <a:spcAft>
                <a:spcPts val="0"/>
              </a:spcAft>
              <a:buClr>
                <a:srgbClr val="0A0A0A"/>
              </a:buClr>
              <a:buSzPct val="100000"/>
              <a:buFont typeface="Arial"/>
              <a:buChar char="●"/>
            </a:pPr>
            <a:r>
              <a:rPr lang="en" sz="1400">
                <a:solidFill>
                  <a:srgbClr val="0A0A0A"/>
                </a:solidFill>
                <a:highlight>
                  <a:srgbClr val="E5EDFF"/>
                </a:highlight>
                <a:latin typeface="Roboto Mono"/>
                <a:ea typeface="Roboto Mono"/>
                <a:cs typeface="Roboto Mono"/>
                <a:sym typeface="Roboto Mono"/>
              </a:rPr>
              <a:t>.flex-row</a:t>
            </a:r>
            <a:r>
              <a:rPr lang="en" sz="1400">
                <a:solidFill>
                  <a:srgbClr val="0A0A0A"/>
                </a:solidFill>
                <a:highlight>
                  <a:srgbClr val="FFFFFF"/>
                </a:highlight>
                <a:latin typeface="Arial"/>
                <a:ea typeface="Arial"/>
                <a:cs typeface="Arial"/>
                <a:sym typeface="Arial"/>
              </a:rPr>
              <a:t>, </a:t>
            </a:r>
            <a:r>
              <a:rPr lang="en" sz="1400">
                <a:solidFill>
                  <a:srgbClr val="0A0A0A"/>
                </a:solidFill>
                <a:highlight>
                  <a:srgbClr val="E5EDFF"/>
                </a:highlight>
                <a:latin typeface="Roboto Mono"/>
                <a:ea typeface="Roboto Mono"/>
                <a:cs typeface="Roboto Mono"/>
                <a:sym typeface="Roboto Mono"/>
              </a:rPr>
              <a:t>.flex-column</a:t>
            </a:r>
            <a:r>
              <a:rPr lang="en" sz="1400">
                <a:solidFill>
                  <a:srgbClr val="0A0A0A"/>
                </a:solidFill>
                <a:highlight>
                  <a:srgbClr val="FFFFFF"/>
                </a:highlight>
                <a:latin typeface="Arial"/>
                <a:ea typeface="Arial"/>
                <a:cs typeface="Arial"/>
                <a:sym typeface="Arial"/>
              </a:rPr>
              <a:t>: Sets the flex direction.</a:t>
            </a:r>
            <a:endParaRPr sz="1400">
              <a:solidFill>
                <a:srgbClr val="0A0A0A"/>
              </a:solidFill>
              <a:highlight>
                <a:srgbClr val="FFFFFF"/>
              </a:highlight>
              <a:latin typeface="Arial"/>
              <a:ea typeface="Arial"/>
              <a:cs typeface="Arial"/>
              <a:sym typeface="Arial"/>
            </a:endParaRPr>
          </a:p>
          <a:p>
            <a:pPr indent="-290830" lvl="0" marL="457200" rtl="0" algn="l">
              <a:lnSpc>
                <a:spcPct val="150000"/>
              </a:lnSpc>
              <a:spcBef>
                <a:spcPts val="0"/>
              </a:spcBef>
              <a:spcAft>
                <a:spcPts val="0"/>
              </a:spcAft>
              <a:buClr>
                <a:srgbClr val="0A0A0A"/>
              </a:buClr>
              <a:buSzPct val="100000"/>
              <a:buFont typeface="Arial"/>
              <a:buChar char="●"/>
            </a:pPr>
            <a:r>
              <a:rPr lang="en" sz="1400">
                <a:solidFill>
                  <a:srgbClr val="0A0A0A"/>
                </a:solidFill>
                <a:highlight>
                  <a:srgbClr val="E5EDFF"/>
                </a:highlight>
                <a:latin typeface="Roboto Mono"/>
                <a:ea typeface="Roboto Mono"/>
                <a:cs typeface="Roboto Mono"/>
                <a:sym typeface="Roboto Mono"/>
              </a:rPr>
              <a:t>.justify-content-*</a:t>
            </a:r>
            <a:r>
              <a:rPr lang="en" sz="1400">
                <a:solidFill>
                  <a:srgbClr val="0A0A0A"/>
                </a:solidFill>
                <a:highlight>
                  <a:srgbClr val="FFFFFF"/>
                </a:highlight>
                <a:latin typeface="Arial"/>
                <a:ea typeface="Arial"/>
                <a:cs typeface="Arial"/>
                <a:sym typeface="Arial"/>
              </a:rPr>
              <a:t>: Aligns flex items along the main axis (e.g., </a:t>
            </a:r>
            <a:r>
              <a:rPr lang="en" sz="1400">
                <a:solidFill>
                  <a:srgbClr val="0A0A0A"/>
                </a:solidFill>
                <a:highlight>
                  <a:srgbClr val="E5EDFF"/>
                </a:highlight>
                <a:latin typeface="Roboto Mono"/>
                <a:ea typeface="Roboto Mono"/>
                <a:cs typeface="Roboto Mono"/>
                <a:sym typeface="Roboto Mono"/>
              </a:rPr>
              <a:t>justify-content-center</a:t>
            </a:r>
            <a:r>
              <a:rPr lang="en" sz="1400">
                <a:solidFill>
                  <a:srgbClr val="0A0A0A"/>
                </a:solidFill>
                <a:highlight>
                  <a:srgbClr val="FFFFFF"/>
                </a:highlight>
                <a:latin typeface="Arial"/>
                <a:ea typeface="Arial"/>
                <a:cs typeface="Arial"/>
                <a:sym typeface="Arial"/>
              </a:rPr>
              <a:t>, </a:t>
            </a:r>
            <a:r>
              <a:rPr lang="en" sz="1400">
                <a:solidFill>
                  <a:srgbClr val="0A0A0A"/>
                </a:solidFill>
                <a:highlight>
                  <a:srgbClr val="E5EDFF"/>
                </a:highlight>
                <a:latin typeface="Roboto Mono"/>
                <a:ea typeface="Roboto Mono"/>
                <a:cs typeface="Roboto Mono"/>
                <a:sym typeface="Roboto Mono"/>
              </a:rPr>
              <a:t>justify-content-between</a:t>
            </a:r>
            <a:r>
              <a:rPr lang="en" sz="1400">
                <a:solidFill>
                  <a:srgbClr val="0A0A0A"/>
                </a:solidFill>
                <a:highlight>
                  <a:srgbClr val="FFFFFF"/>
                </a:highlight>
                <a:latin typeface="Arial"/>
                <a:ea typeface="Arial"/>
                <a:cs typeface="Arial"/>
                <a:sym typeface="Arial"/>
              </a:rPr>
              <a:t>).</a:t>
            </a:r>
            <a:endParaRPr sz="1400">
              <a:solidFill>
                <a:srgbClr val="0A0A0A"/>
              </a:solidFill>
              <a:highlight>
                <a:srgbClr val="FFFFFF"/>
              </a:highlight>
              <a:latin typeface="Arial"/>
              <a:ea typeface="Arial"/>
              <a:cs typeface="Arial"/>
              <a:sym typeface="Arial"/>
            </a:endParaRPr>
          </a:p>
          <a:p>
            <a:pPr indent="-290830" lvl="0" marL="457200" rtl="0" algn="l">
              <a:lnSpc>
                <a:spcPct val="150000"/>
              </a:lnSpc>
              <a:spcBef>
                <a:spcPts val="0"/>
              </a:spcBef>
              <a:spcAft>
                <a:spcPts val="0"/>
              </a:spcAft>
              <a:buClr>
                <a:srgbClr val="0A0A0A"/>
              </a:buClr>
              <a:buSzPct val="100000"/>
              <a:buFont typeface="Arial"/>
              <a:buChar char="●"/>
            </a:pPr>
            <a:r>
              <a:rPr lang="en" sz="1400">
                <a:solidFill>
                  <a:srgbClr val="0A0A0A"/>
                </a:solidFill>
                <a:highlight>
                  <a:srgbClr val="E5EDFF"/>
                </a:highlight>
                <a:latin typeface="Roboto Mono"/>
                <a:ea typeface="Roboto Mono"/>
                <a:cs typeface="Roboto Mono"/>
                <a:sym typeface="Roboto Mono"/>
              </a:rPr>
              <a:t>.align-items-*</a:t>
            </a:r>
            <a:r>
              <a:rPr lang="en" sz="1400">
                <a:solidFill>
                  <a:srgbClr val="0A0A0A"/>
                </a:solidFill>
                <a:highlight>
                  <a:srgbClr val="FFFFFF"/>
                </a:highlight>
                <a:latin typeface="Arial"/>
                <a:ea typeface="Arial"/>
                <a:cs typeface="Arial"/>
                <a:sym typeface="Arial"/>
              </a:rPr>
              <a:t>: Aligns flex items along the cross axis (e.g., </a:t>
            </a:r>
            <a:r>
              <a:rPr lang="en" sz="1400">
                <a:solidFill>
                  <a:srgbClr val="0A0A0A"/>
                </a:solidFill>
                <a:highlight>
                  <a:srgbClr val="E5EDFF"/>
                </a:highlight>
                <a:latin typeface="Roboto Mono"/>
                <a:ea typeface="Roboto Mono"/>
                <a:cs typeface="Roboto Mono"/>
                <a:sym typeface="Roboto Mono"/>
              </a:rPr>
              <a:t>align-items-start</a:t>
            </a:r>
            <a:r>
              <a:rPr lang="en" sz="1400">
                <a:solidFill>
                  <a:srgbClr val="0A0A0A"/>
                </a:solidFill>
                <a:highlight>
                  <a:srgbClr val="FFFFFF"/>
                </a:highlight>
                <a:latin typeface="Arial"/>
                <a:ea typeface="Arial"/>
                <a:cs typeface="Arial"/>
                <a:sym typeface="Arial"/>
              </a:rPr>
              <a:t>, </a:t>
            </a:r>
            <a:r>
              <a:rPr lang="en" sz="1400">
                <a:solidFill>
                  <a:srgbClr val="0A0A0A"/>
                </a:solidFill>
                <a:highlight>
                  <a:srgbClr val="E5EDFF"/>
                </a:highlight>
                <a:latin typeface="Roboto Mono"/>
                <a:ea typeface="Roboto Mono"/>
                <a:cs typeface="Roboto Mono"/>
                <a:sym typeface="Roboto Mono"/>
              </a:rPr>
              <a:t>align-items-center</a:t>
            </a:r>
            <a:r>
              <a:rPr lang="en" sz="1400">
                <a:solidFill>
                  <a:srgbClr val="0A0A0A"/>
                </a:solidFill>
                <a:highlight>
                  <a:srgbClr val="FFFFFF"/>
                </a:highlight>
                <a:latin typeface="Arial"/>
                <a:ea typeface="Arial"/>
                <a:cs typeface="Arial"/>
                <a:sym typeface="Arial"/>
              </a:rPr>
              <a:t>).</a:t>
            </a:r>
            <a:endParaRPr sz="1400">
              <a:solidFill>
                <a:srgbClr val="0A0A0A"/>
              </a:solidFill>
              <a:highlight>
                <a:srgbClr val="FFFFFF"/>
              </a:highlight>
              <a:latin typeface="Arial"/>
              <a:ea typeface="Arial"/>
              <a:cs typeface="Arial"/>
              <a:sym typeface="Arial"/>
            </a:endParaRPr>
          </a:p>
          <a:p>
            <a:pPr indent="-290830" lvl="0" marL="457200" rtl="0" algn="l">
              <a:lnSpc>
                <a:spcPct val="150000"/>
              </a:lnSpc>
              <a:spcBef>
                <a:spcPts val="0"/>
              </a:spcBef>
              <a:spcAft>
                <a:spcPts val="0"/>
              </a:spcAft>
              <a:buClr>
                <a:srgbClr val="0A0A0A"/>
              </a:buClr>
              <a:buSzPct val="100000"/>
              <a:buFont typeface="Arial"/>
              <a:buChar char="●"/>
            </a:pPr>
            <a:r>
              <a:rPr lang="en" sz="1400">
                <a:solidFill>
                  <a:srgbClr val="0A0A0A"/>
                </a:solidFill>
                <a:highlight>
                  <a:srgbClr val="E5EDFF"/>
                </a:highlight>
                <a:latin typeface="Roboto Mono"/>
                <a:ea typeface="Roboto Mono"/>
                <a:cs typeface="Roboto Mono"/>
                <a:sym typeface="Roboto Mono"/>
              </a:rPr>
              <a:t>.flex-grow-1</a:t>
            </a:r>
            <a:r>
              <a:rPr lang="en" sz="1400">
                <a:solidFill>
                  <a:srgbClr val="0A0A0A"/>
                </a:solidFill>
                <a:highlight>
                  <a:srgbClr val="FFFFFF"/>
                </a:highlight>
                <a:latin typeface="Arial"/>
                <a:ea typeface="Arial"/>
                <a:cs typeface="Arial"/>
                <a:sym typeface="Arial"/>
              </a:rPr>
              <a:t>, </a:t>
            </a:r>
            <a:r>
              <a:rPr lang="en" sz="1400">
                <a:solidFill>
                  <a:srgbClr val="0A0A0A"/>
                </a:solidFill>
                <a:highlight>
                  <a:srgbClr val="E5EDFF"/>
                </a:highlight>
                <a:latin typeface="Roboto Mono"/>
                <a:ea typeface="Roboto Mono"/>
                <a:cs typeface="Roboto Mono"/>
                <a:sym typeface="Roboto Mono"/>
              </a:rPr>
              <a:t>.flex-shrink-1</a:t>
            </a:r>
            <a:r>
              <a:rPr lang="en" sz="1400">
                <a:solidFill>
                  <a:srgbClr val="0A0A0A"/>
                </a:solidFill>
                <a:highlight>
                  <a:srgbClr val="FFFFFF"/>
                </a:highlight>
                <a:latin typeface="Arial"/>
                <a:ea typeface="Arial"/>
                <a:cs typeface="Arial"/>
                <a:sym typeface="Arial"/>
              </a:rPr>
              <a:t>: Control how flex items grow or shrink.</a:t>
            </a:r>
            <a:endParaRPr sz="1400">
              <a:solidFill>
                <a:srgbClr val="0A0A0A"/>
              </a:solidFill>
              <a:highlight>
                <a:srgbClr val="FFFFFF"/>
              </a:highlight>
              <a:latin typeface="Arial"/>
              <a:ea typeface="Arial"/>
              <a:cs typeface="Arial"/>
              <a:sym typeface="Arial"/>
            </a:endParaRPr>
          </a:p>
          <a:p>
            <a:pPr indent="0" lvl="0" marL="0" rtl="0" algn="l">
              <a:spcBef>
                <a:spcPts val="1500"/>
              </a:spcBef>
              <a:spcAft>
                <a:spcPts val="12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9"/>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Bootstrap Components (Utility classes cont’d)</a:t>
            </a:r>
            <a:endParaRPr/>
          </a:p>
        </p:txBody>
      </p:sp>
      <p:sp>
        <p:nvSpPr>
          <p:cNvPr id="287" name="Google Shape;287;p39"/>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lnSpc>
                <a:spcPct val="140000"/>
              </a:lnSpc>
              <a:spcBef>
                <a:spcPts val="1500"/>
              </a:spcBef>
              <a:spcAft>
                <a:spcPts val="0"/>
              </a:spcAft>
              <a:buNone/>
            </a:pPr>
            <a:r>
              <a:rPr lang="en" sz="2400">
                <a:solidFill>
                  <a:srgbClr val="0A0A0A"/>
                </a:solidFill>
                <a:highlight>
                  <a:srgbClr val="FFFFFF"/>
                </a:highlight>
                <a:latin typeface="Arial"/>
                <a:ea typeface="Arial"/>
                <a:cs typeface="Arial"/>
                <a:sym typeface="Arial"/>
              </a:rPr>
              <a:t>Text and Typography</a:t>
            </a:r>
            <a:r>
              <a:rPr lang="en" sz="1500">
                <a:solidFill>
                  <a:srgbClr val="0A0A0A"/>
                </a:solidFill>
                <a:highlight>
                  <a:srgbClr val="FFFFFF"/>
                </a:highlight>
                <a:latin typeface="Arial"/>
                <a:ea typeface="Arial"/>
                <a:cs typeface="Arial"/>
                <a:sym typeface="Arial"/>
              </a:rPr>
              <a:t>:</a:t>
            </a:r>
            <a:endParaRPr sz="1500">
              <a:solidFill>
                <a:srgbClr val="0A0A0A"/>
              </a:solidFill>
              <a:highlight>
                <a:srgbClr val="FFFFFF"/>
              </a:highlight>
              <a:latin typeface="Arial"/>
              <a:ea typeface="Arial"/>
              <a:cs typeface="Arial"/>
              <a:sym typeface="Arial"/>
            </a:endParaRPr>
          </a:p>
          <a:p>
            <a:pPr indent="-304800" lvl="0" marL="457200" rtl="0" algn="l">
              <a:lnSpc>
                <a:spcPct val="150000"/>
              </a:lnSpc>
              <a:spcBef>
                <a:spcPts val="800"/>
              </a:spcBef>
              <a:spcAft>
                <a:spcPts val="0"/>
              </a:spcAft>
              <a:buClr>
                <a:srgbClr val="0A0A0A"/>
              </a:buClr>
              <a:buSzPts val="1200"/>
              <a:buFont typeface="Arial"/>
              <a:buChar char="●"/>
            </a:pPr>
            <a:r>
              <a:rPr lang="en" sz="1200">
                <a:solidFill>
                  <a:srgbClr val="0A0A0A"/>
                </a:solidFill>
                <a:highlight>
                  <a:srgbClr val="E5EDFF"/>
                </a:highlight>
                <a:latin typeface="Roboto Mono"/>
                <a:ea typeface="Roboto Mono"/>
                <a:cs typeface="Roboto Mono"/>
                <a:sym typeface="Roboto Mono"/>
              </a:rPr>
              <a:t>.text-*</a:t>
            </a:r>
            <a:r>
              <a:rPr lang="en" sz="1200">
                <a:solidFill>
                  <a:srgbClr val="0A0A0A"/>
                </a:solidFill>
                <a:highlight>
                  <a:srgbClr val="FFFFFF"/>
                </a:highlight>
                <a:latin typeface="Arial"/>
                <a:ea typeface="Arial"/>
                <a:cs typeface="Arial"/>
                <a:sym typeface="Arial"/>
              </a:rPr>
              <a:t>: Controls text alignment (e.g., </a:t>
            </a:r>
            <a:r>
              <a:rPr lang="en" sz="1200">
                <a:solidFill>
                  <a:srgbClr val="0A0A0A"/>
                </a:solidFill>
                <a:highlight>
                  <a:srgbClr val="E5EDFF"/>
                </a:highlight>
                <a:latin typeface="Roboto Mono"/>
                <a:ea typeface="Roboto Mono"/>
                <a:cs typeface="Roboto Mono"/>
                <a:sym typeface="Roboto Mono"/>
              </a:rPr>
              <a:t>text-start</a:t>
            </a:r>
            <a:r>
              <a:rPr lang="en" sz="1200">
                <a:solidFill>
                  <a:srgbClr val="0A0A0A"/>
                </a:solidFill>
                <a:highlight>
                  <a:srgbClr val="FFFFFF"/>
                </a:highlight>
                <a:latin typeface="Arial"/>
                <a:ea typeface="Arial"/>
                <a:cs typeface="Arial"/>
                <a:sym typeface="Arial"/>
              </a:rPr>
              <a:t>, </a:t>
            </a:r>
            <a:r>
              <a:rPr lang="en" sz="1200">
                <a:solidFill>
                  <a:srgbClr val="0A0A0A"/>
                </a:solidFill>
                <a:highlight>
                  <a:srgbClr val="E5EDFF"/>
                </a:highlight>
                <a:latin typeface="Roboto Mono"/>
                <a:ea typeface="Roboto Mono"/>
                <a:cs typeface="Roboto Mono"/>
                <a:sym typeface="Roboto Mono"/>
              </a:rPr>
              <a:t>text-center</a:t>
            </a:r>
            <a:r>
              <a:rPr lang="en" sz="1200">
                <a:solidFill>
                  <a:srgbClr val="0A0A0A"/>
                </a:solidFill>
                <a:highlight>
                  <a:srgbClr val="FFFFFF"/>
                </a:highlight>
                <a:latin typeface="Arial"/>
                <a:ea typeface="Arial"/>
                <a:cs typeface="Arial"/>
                <a:sym typeface="Arial"/>
              </a:rPr>
              <a:t>), color (e.g., </a:t>
            </a:r>
            <a:r>
              <a:rPr lang="en" sz="1200">
                <a:solidFill>
                  <a:srgbClr val="0A0A0A"/>
                </a:solidFill>
                <a:highlight>
                  <a:srgbClr val="E5EDFF"/>
                </a:highlight>
                <a:latin typeface="Roboto Mono"/>
                <a:ea typeface="Roboto Mono"/>
                <a:cs typeface="Roboto Mono"/>
                <a:sym typeface="Roboto Mono"/>
              </a:rPr>
              <a:t>text-primary</a:t>
            </a:r>
            <a:r>
              <a:rPr lang="en" sz="1200">
                <a:solidFill>
                  <a:srgbClr val="0A0A0A"/>
                </a:solidFill>
                <a:highlight>
                  <a:srgbClr val="FFFFFF"/>
                </a:highlight>
                <a:latin typeface="Arial"/>
                <a:ea typeface="Arial"/>
                <a:cs typeface="Arial"/>
                <a:sym typeface="Arial"/>
              </a:rPr>
              <a:t>, </a:t>
            </a:r>
            <a:r>
              <a:rPr lang="en" sz="1200">
                <a:solidFill>
                  <a:srgbClr val="0A0A0A"/>
                </a:solidFill>
                <a:highlight>
                  <a:srgbClr val="E5EDFF"/>
                </a:highlight>
                <a:latin typeface="Roboto Mono"/>
                <a:ea typeface="Roboto Mono"/>
                <a:cs typeface="Roboto Mono"/>
                <a:sym typeface="Roboto Mono"/>
              </a:rPr>
              <a:t>text-muted</a:t>
            </a:r>
            <a:r>
              <a:rPr lang="en" sz="1200">
                <a:solidFill>
                  <a:srgbClr val="0A0A0A"/>
                </a:solidFill>
                <a:highlight>
                  <a:srgbClr val="FFFFFF"/>
                </a:highlight>
                <a:latin typeface="Arial"/>
                <a:ea typeface="Arial"/>
                <a:cs typeface="Arial"/>
                <a:sym typeface="Arial"/>
              </a:rPr>
              <a:t>), and transformation (e.g., </a:t>
            </a:r>
            <a:r>
              <a:rPr lang="en" sz="1200">
                <a:solidFill>
                  <a:srgbClr val="0A0A0A"/>
                </a:solidFill>
                <a:highlight>
                  <a:srgbClr val="E5EDFF"/>
                </a:highlight>
                <a:latin typeface="Roboto Mono"/>
                <a:ea typeface="Roboto Mono"/>
                <a:cs typeface="Roboto Mono"/>
                <a:sym typeface="Roboto Mono"/>
              </a:rPr>
              <a:t>text-uppercase</a:t>
            </a:r>
            <a:r>
              <a:rPr lang="en" sz="1200">
                <a:solidFill>
                  <a:srgbClr val="0A0A0A"/>
                </a:solidFill>
                <a:highlight>
                  <a:srgbClr val="FFFFFF"/>
                </a:highlight>
                <a:latin typeface="Arial"/>
                <a:ea typeface="Arial"/>
                <a:cs typeface="Arial"/>
                <a:sym typeface="Arial"/>
              </a:rPr>
              <a:t>).</a:t>
            </a:r>
            <a:endParaRPr sz="1200">
              <a:solidFill>
                <a:srgbClr val="0A0A0A"/>
              </a:solidFill>
              <a:highlight>
                <a:srgbClr val="FFFFFF"/>
              </a:highlight>
              <a:latin typeface="Arial"/>
              <a:ea typeface="Arial"/>
              <a:cs typeface="Arial"/>
              <a:sym typeface="Arial"/>
            </a:endParaRPr>
          </a:p>
          <a:p>
            <a:pPr indent="-304800" lvl="0" marL="457200" rtl="0" algn="l">
              <a:lnSpc>
                <a:spcPct val="150000"/>
              </a:lnSpc>
              <a:spcBef>
                <a:spcPts val="0"/>
              </a:spcBef>
              <a:spcAft>
                <a:spcPts val="0"/>
              </a:spcAft>
              <a:buClr>
                <a:srgbClr val="0A0A0A"/>
              </a:buClr>
              <a:buSzPts val="1200"/>
              <a:buFont typeface="Arial"/>
              <a:buChar char="●"/>
            </a:pPr>
            <a:r>
              <a:rPr lang="en" sz="1200">
                <a:solidFill>
                  <a:srgbClr val="0A0A0A"/>
                </a:solidFill>
                <a:highlight>
                  <a:srgbClr val="E5EDFF"/>
                </a:highlight>
                <a:latin typeface="Roboto Mono"/>
                <a:ea typeface="Roboto Mono"/>
                <a:cs typeface="Roboto Mono"/>
                <a:sym typeface="Roboto Mono"/>
              </a:rPr>
              <a:t>.fw-bold</a:t>
            </a:r>
            <a:r>
              <a:rPr lang="en" sz="1200">
                <a:solidFill>
                  <a:srgbClr val="0A0A0A"/>
                </a:solidFill>
                <a:highlight>
                  <a:srgbClr val="FFFFFF"/>
                </a:highlight>
                <a:latin typeface="Arial"/>
                <a:ea typeface="Arial"/>
                <a:cs typeface="Arial"/>
                <a:sym typeface="Arial"/>
              </a:rPr>
              <a:t>, </a:t>
            </a:r>
            <a:r>
              <a:rPr lang="en" sz="1200">
                <a:solidFill>
                  <a:srgbClr val="0A0A0A"/>
                </a:solidFill>
                <a:highlight>
                  <a:srgbClr val="E5EDFF"/>
                </a:highlight>
                <a:latin typeface="Roboto Mono"/>
                <a:ea typeface="Roboto Mono"/>
                <a:cs typeface="Roboto Mono"/>
                <a:sym typeface="Roboto Mono"/>
              </a:rPr>
              <a:t>.fw-light</a:t>
            </a:r>
            <a:r>
              <a:rPr lang="en" sz="1200">
                <a:solidFill>
                  <a:srgbClr val="0A0A0A"/>
                </a:solidFill>
                <a:highlight>
                  <a:srgbClr val="FFFFFF"/>
                </a:highlight>
                <a:latin typeface="Arial"/>
                <a:ea typeface="Arial"/>
                <a:cs typeface="Arial"/>
                <a:sym typeface="Arial"/>
              </a:rPr>
              <a:t>, </a:t>
            </a:r>
            <a:r>
              <a:rPr lang="en" sz="1200">
                <a:solidFill>
                  <a:srgbClr val="0A0A0A"/>
                </a:solidFill>
                <a:highlight>
                  <a:srgbClr val="E5EDFF"/>
                </a:highlight>
                <a:latin typeface="Roboto Mono"/>
                <a:ea typeface="Roboto Mono"/>
                <a:cs typeface="Roboto Mono"/>
                <a:sym typeface="Roboto Mono"/>
              </a:rPr>
              <a:t>.fst-italic</a:t>
            </a:r>
            <a:r>
              <a:rPr lang="en" sz="1200">
                <a:solidFill>
                  <a:srgbClr val="0A0A0A"/>
                </a:solidFill>
                <a:highlight>
                  <a:srgbClr val="FFFFFF"/>
                </a:highlight>
                <a:latin typeface="Arial"/>
                <a:ea typeface="Arial"/>
                <a:cs typeface="Arial"/>
                <a:sym typeface="Arial"/>
              </a:rPr>
              <a:t>: Control font weight and style.</a:t>
            </a:r>
            <a:endParaRPr sz="1200">
              <a:solidFill>
                <a:srgbClr val="0A0A0A"/>
              </a:solidFill>
              <a:highlight>
                <a:srgbClr val="FFFFFF"/>
              </a:highlight>
              <a:latin typeface="Arial"/>
              <a:ea typeface="Arial"/>
              <a:cs typeface="Arial"/>
              <a:sym typeface="Arial"/>
            </a:endParaRPr>
          </a:p>
          <a:p>
            <a:pPr indent="0" lvl="0" marL="0" rtl="0" algn="l">
              <a:spcBef>
                <a:spcPts val="1500"/>
              </a:spcBef>
              <a:spcAft>
                <a:spcPts val="12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0"/>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Bootstrap Components (Utility classes cont’d)</a:t>
            </a:r>
            <a:endParaRPr/>
          </a:p>
        </p:txBody>
      </p:sp>
      <p:sp>
        <p:nvSpPr>
          <p:cNvPr id="293" name="Google Shape;293;p40"/>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lnSpc>
                <a:spcPct val="140000"/>
              </a:lnSpc>
              <a:spcBef>
                <a:spcPts val="1500"/>
              </a:spcBef>
              <a:spcAft>
                <a:spcPts val="0"/>
              </a:spcAft>
              <a:buNone/>
            </a:pPr>
            <a:r>
              <a:rPr lang="en" sz="2400">
                <a:solidFill>
                  <a:srgbClr val="0A0A0A"/>
                </a:solidFill>
                <a:highlight>
                  <a:srgbClr val="FFFFFF"/>
                </a:highlight>
                <a:latin typeface="Arial"/>
                <a:ea typeface="Arial"/>
                <a:cs typeface="Arial"/>
                <a:sym typeface="Arial"/>
              </a:rPr>
              <a:t>Borders</a:t>
            </a:r>
            <a:r>
              <a:rPr lang="en" sz="1500">
                <a:solidFill>
                  <a:srgbClr val="0A0A0A"/>
                </a:solidFill>
                <a:highlight>
                  <a:srgbClr val="FFFFFF"/>
                </a:highlight>
                <a:latin typeface="Arial"/>
                <a:ea typeface="Arial"/>
                <a:cs typeface="Arial"/>
                <a:sym typeface="Arial"/>
              </a:rPr>
              <a:t>:</a:t>
            </a:r>
            <a:endParaRPr sz="1500">
              <a:solidFill>
                <a:srgbClr val="0A0A0A"/>
              </a:solidFill>
              <a:highlight>
                <a:srgbClr val="FFFFFF"/>
              </a:highlight>
              <a:latin typeface="Arial"/>
              <a:ea typeface="Arial"/>
              <a:cs typeface="Arial"/>
              <a:sym typeface="Arial"/>
            </a:endParaRPr>
          </a:p>
          <a:p>
            <a:pPr indent="-304800" lvl="0" marL="457200" rtl="0" algn="l">
              <a:lnSpc>
                <a:spcPct val="150000"/>
              </a:lnSpc>
              <a:spcBef>
                <a:spcPts val="800"/>
              </a:spcBef>
              <a:spcAft>
                <a:spcPts val="0"/>
              </a:spcAft>
              <a:buClr>
                <a:srgbClr val="0A0A0A"/>
              </a:buClr>
              <a:buSzPts val="1200"/>
              <a:buFont typeface="Arial"/>
              <a:buChar char="●"/>
            </a:pPr>
            <a:r>
              <a:rPr lang="en" sz="1200">
                <a:solidFill>
                  <a:srgbClr val="0A0A0A"/>
                </a:solidFill>
                <a:highlight>
                  <a:srgbClr val="E5EDFF"/>
                </a:highlight>
                <a:latin typeface="Roboto Mono"/>
                <a:ea typeface="Roboto Mono"/>
                <a:cs typeface="Roboto Mono"/>
                <a:sym typeface="Roboto Mono"/>
              </a:rPr>
              <a:t>.border</a:t>
            </a:r>
            <a:r>
              <a:rPr lang="en" sz="1200">
                <a:solidFill>
                  <a:srgbClr val="0A0A0A"/>
                </a:solidFill>
                <a:highlight>
                  <a:srgbClr val="FFFFFF"/>
                </a:highlight>
                <a:latin typeface="Arial"/>
                <a:ea typeface="Arial"/>
                <a:cs typeface="Arial"/>
                <a:sym typeface="Arial"/>
              </a:rPr>
              <a:t>: Adds a border to all sides.</a:t>
            </a:r>
            <a:endParaRPr sz="1200">
              <a:solidFill>
                <a:srgbClr val="0A0A0A"/>
              </a:solidFill>
              <a:highlight>
                <a:srgbClr val="FFFFFF"/>
              </a:highlight>
              <a:latin typeface="Arial"/>
              <a:ea typeface="Arial"/>
              <a:cs typeface="Arial"/>
              <a:sym typeface="Arial"/>
            </a:endParaRPr>
          </a:p>
          <a:p>
            <a:pPr indent="-304800" lvl="0" marL="457200" rtl="0" algn="l">
              <a:lnSpc>
                <a:spcPct val="150000"/>
              </a:lnSpc>
              <a:spcBef>
                <a:spcPts val="0"/>
              </a:spcBef>
              <a:spcAft>
                <a:spcPts val="0"/>
              </a:spcAft>
              <a:buClr>
                <a:srgbClr val="0A0A0A"/>
              </a:buClr>
              <a:buSzPts val="1200"/>
              <a:buFont typeface="Arial"/>
              <a:buChar char="●"/>
            </a:pPr>
            <a:r>
              <a:rPr lang="en" sz="1200">
                <a:solidFill>
                  <a:srgbClr val="0A0A0A"/>
                </a:solidFill>
                <a:highlight>
                  <a:srgbClr val="E5EDFF"/>
                </a:highlight>
                <a:latin typeface="Roboto Mono"/>
                <a:ea typeface="Roboto Mono"/>
                <a:cs typeface="Roboto Mono"/>
                <a:sym typeface="Roboto Mono"/>
              </a:rPr>
              <a:t>.border-top</a:t>
            </a:r>
            <a:r>
              <a:rPr lang="en" sz="1200">
                <a:solidFill>
                  <a:srgbClr val="0A0A0A"/>
                </a:solidFill>
                <a:highlight>
                  <a:srgbClr val="FFFFFF"/>
                </a:highlight>
                <a:latin typeface="Arial"/>
                <a:ea typeface="Arial"/>
                <a:cs typeface="Arial"/>
                <a:sym typeface="Arial"/>
              </a:rPr>
              <a:t>, </a:t>
            </a:r>
            <a:r>
              <a:rPr lang="en" sz="1200">
                <a:solidFill>
                  <a:srgbClr val="0A0A0A"/>
                </a:solidFill>
                <a:highlight>
                  <a:srgbClr val="E5EDFF"/>
                </a:highlight>
                <a:latin typeface="Roboto Mono"/>
                <a:ea typeface="Roboto Mono"/>
                <a:cs typeface="Roboto Mono"/>
                <a:sym typeface="Roboto Mono"/>
              </a:rPr>
              <a:t>.border-bottom-0</a:t>
            </a:r>
            <a:r>
              <a:rPr lang="en" sz="1200">
                <a:solidFill>
                  <a:srgbClr val="0A0A0A"/>
                </a:solidFill>
                <a:highlight>
                  <a:srgbClr val="FFFFFF"/>
                </a:highlight>
                <a:latin typeface="Arial"/>
                <a:ea typeface="Arial"/>
                <a:cs typeface="Arial"/>
                <a:sym typeface="Arial"/>
              </a:rPr>
              <a:t>: Adds or removes borders from specific sides.</a:t>
            </a:r>
            <a:endParaRPr sz="1200">
              <a:solidFill>
                <a:srgbClr val="0A0A0A"/>
              </a:solidFill>
              <a:highlight>
                <a:srgbClr val="FFFFFF"/>
              </a:highlight>
              <a:latin typeface="Arial"/>
              <a:ea typeface="Arial"/>
              <a:cs typeface="Arial"/>
              <a:sym typeface="Arial"/>
            </a:endParaRPr>
          </a:p>
          <a:p>
            <a:pPr indent="-304800" lvl="0" marL="457200" rtl="0" algn="l">
              <a:lnSpc>
                <a:spcPct val="150000"/>
              </a:lnSpc>
              <a:spcBef>
                <a:spcPts val="0"/>
              </a:spcBef>
              <a:spcAft>
                <a:spcPts val="0"/>
              </a:spcAft>
              <a:buClr>
                <a:srgbClr val="0A0A0A"/>
              </a:buClr>
              <a:buSzPts val="1200"/>
              <a:buFont typeface="Arial"/>
              <a:buChar char="●"/>
            </a:pPr>
            <a:r>
              <a:rPr lang="en" sz="1200">
                <a:solidFill>
                  <a:srgbClr val="0A0A0A"/>
                </a:solidFill>
                <a:highlight>
                  <a:srgbClr val="E5EDFF"/>
                </a:highlight>
                <a:latin typeface="Roboto Mono"/>
                <a:ea typeface="Roboto Mono"/>
                <a:cs typeface="Roboto Mono"/>
                <a:sym typeface="Roboto Mono"/>
              </a:rPr>
              <a:t>.border-primary</a:t>
            </a:r>
            <a:r>
              <a:rPr lang="en" sz="1200">
                <a:solidFill>
                  <a:srgbClr val="0A0A0A"/>
                </a:solidFill>
                <a:highlight>
                  <a:srgbClr val="FFFFFF"/>
                </a:highlight>
                <a:latin typeface="Arial"/>
                <a:ea typeface="Arial"/>
                <a:cs typeface="Arial"/>
                <a:sym typeface="Arial"/>
              </a:rPr>
              <a:t>, </a:t>
            </a:r>
            <a:r>
              <a:rPr lang="en" sz="1200">
                <a:solidFill>
                  <a:srgbClr val="0A0A0A"/>
                </a:solidFill>
                <a:highlight>
                  <a:srgbClr val="E5EDFF"/>
                </a:highlight>
                <a:latin typeface="Roboto Mono"/>
                <a:ea typeface="Roboto Mono"/>
                <a:cs typeface="Roboto Mono"/>
                <a:sym typeface="Roboto Mono"/>
              </a:rPr>
              <a:t>.border-width-2</a:t>
            </a:r>
            <a:r>
              <a:rPr lang="en" sz="1200">
                <a:solidFill>
                  <a:srgbClr val="0A0A0A"/>
                </a:solidFill>
                <a:highlight>
                  <a:srgbClr val="FFFFFF"/>
                </a:highlight>
                <a:latin typeface="Arial"/>
                <a:ea typeface="Arial"/>
                <a:cs typeface="Arial"/>
                <a:sym typeface="Arial"/>
              </a:rPr>
              <a:t>: Control border color and width.</a:t>
            </a:r>
            <a:endParaRPr sz="1200">
              <a:solidFill>
                <a:srgbClr val="0A0A0A"/>
              </a:solidFill>
              <a:highlight>
                <a:srgbClr val="FFFFFF"/>
              </a:highlight>
              <a:latin typeface="Arial"/>
              <a:ea typeface="Arial"/>
              <a:cs typeface="Arial"/>
              <a:sym typeface="Arial"/>
            </a:endParaRPr>
          </a:p>
          <a:p>
            <a:pPr indent="-304800" lvl="0" marL="457200" rtl="0" algn="l">
              <a:lnSpc>
                <a:spcPct val="150000"/>
              </a:lnSpc>
              <a:spcBef>
                <a:spcPts val="0"/>
              </a:spcBef>
              <a:spcAft>
                <a:spcPts val="0"/>
              </a:spcAft>
              <a:buClr>
                <a:srgbClr val="0A0A0A"/>
              </a:buClr>
              <a:buSzPts val="1200"/>
              <a:buFont typeface="Arial"/>
              <a:buChar char="●"/>
            </a:pPr>
            <a:r>
              <a:rPr lang="en" sz="1200">
                <a:solidFill>
                  <a:srgbClr val="0A0A0A"/>
                </a:solidFill>
                <a:highlight>
                  <a:srgbClr val="E5EDFF"/>
                </a:highlight>
                <a:latin typeface="Roboto Mono"/>
                <a:ea typeface="Roboto Mono"/>
                <a:cs typeface="Roboto Mono"/>
                <a:sym typeface="Roboto Mono"/>
              </a:rPr>
              <a:t>.rounded</a:t>
            </a:r>
            <a:r>
              <a:rPr lang="en" sz="1200">
                <a:solidFill>
                  <a:srgbClr val="0A0A0A"/>
                </a:solidFill>
                <a:highlight>
                  <a:srgbClr val="FFFFFF"/>
                </a:highlight>
                <a:latin typeface="Arial"/>
                <a:ea typeface="Arial"/>
                <a:cs typeface="Arial"/>
                <a:sym typeface="Arial"/>
              </a:rPr>
              <a:t>, </a:t>
            </a:r>
            <a:r>
              <a:rPr lang="en" sz="1200">
                <a:solidFill>
                  <a:srgbClr val="0A0A0A"/>
                </a:solidFill>
                <a:highlight>
                  <a:srgbClr val="E5EDFF"/>
                </a:highlight>
                <a:latin typeface="Roboto Mono"/>
                <a:ea typeface="Roboto Mono"/>
                <a:cs typeface="Roboto Mono"/>
                <a:sym typeface="Roboto Mono"/>
              </a:rPr>
              <a:t>.rounded-circle</a:t>
            </a:r>
            <a:r>
              <a:rPr lang="en" sz="1200">
                <a:solidFill>
                  <a:srgbClr val="0A0A0A"/>
                </a:solidFill>
                <a:highlight>
                  <a:srgbClr val="FFFFFF"/>
                </a:highlight>
                <a:latin typeface="Arial"/>
                <a:ea typeface="Arial"/>
                <a:cs typeface="Arial"/>
                <a:sym typeface="Arial"/>
              </a:rPr>
              <a:t>: Apply border-radius for rounded corners.</a:t>
            </a:r>
            <a:endParaRPr sz="1200">
              <a:solidFill>
                <a:srgbClr val="0A0A0A"/>
              </a:solidFill>
              <a:highlight>
                <a:srgbClr val="FFFFFF"/>
              </a:highlight>
              <a:latin typeface="Arial"/>
              <a:ea typeface="Arial"/>
              <a:cs typeface="Arial"/>
              <a:sym typeface="Arial"/>
            </a:endParaRPr>
          </a:p>
          <a:p>
            <a:pPr indent="0" lvl="0" marL="0" rtl="0" algn="l">
              <a:spcBef>
                <a:spcPts val="1500"/>
              </a:spcBef>
              <a:spcAft>
                <a:spcPts val="120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1"/>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Bootstrap Components (Utility classes cont’d)</a:t>
            </a:r>
            <a:endParaRPr/>
          </a:p>
        </p:txBody>
      </p:sp>
      <p:sp>
        <p:nvSpPr>
          <p:cNvPr id="299" name="Google Shape;299;p41"/>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lnSpc>
                <a:spcPct val="140000"/>
              </a:lnSpc>
              <a:spcBef>
                <a:spcPts val="1500"/>
              </a:spcBef>
              <a:spcAft>
                <a:spcPts val="0"/>
              </a:spcAft>
              <a:buNone/>
            </a:pPr>
            <a:r>
              <a:rPr lang="en" sz="2400">
                <a:solidFill>
                  <a:srgbClr val="0A0A0A"/>
                </a:solidFill>
                <a:highlight>
                  <a:srgbClr val="FFFFFF"/>
                </a:highlight>
                <a:latin typeface="Arial"/>
                <a:ea typeface="Arial"/>
                <a:cs typeface="Arial"/>
                <a:sym typeface="Arial"/>
              </a:rPr>
              <a:t>Sizing</a:t>
            </a:r>
            <a:r>
              <a:rPr lang="en" sz="1500">
                <a:solidFill>
                  <a:srgbClr val="0A0A0A"/>
                </a:solidFill>
                <a:highlight>
                  <a:srgbClr val="FFFFFF"/>
                </a:highlight>
                <a:latin typeface="Arial"/>
                <a:ea typeface="Arial"/>
                <a:cs typeface="Arial"/>
                <a:sym typeface="Arial"/>
              </a:rPr>
              <a:t>:</a:t>
            </a:r>
            <a:endParaRPr sz="1500">
              <a:solidFill>
                <a:srgbClr val="0A0A0A"/>
              </a:solidFill>
              <a:highlight>
                <a:srgbClr val="FFFFFF"/>
              </a:highlight>
              <a:latin typeface="Arial"/>
              <a:ea typeface="Arial"/>
              <a:cs typeface="Arial"/>
              <a:sym typeface="Arial"/>
            </a:endParaRPr>
          </a:p>
          <a:p>
            <a:pPr indent="-304800" lvl="0" marL="457200" rtl="0" algn="l">
              <a:lnSpc>
                <a:spcPct val="150000"/>
              </a:lnSpc>
              <a:spcBef>
                <a:spcPts val="800"/>
              </a:spcBef>
              <a:spcAft>
                <a:spcPts val="0"/>
              </a:spcAft>
              <a:buClr>
                <a:srgbClr val="0A0A0A"/>
              </a:buClr>
              <a:buSzPts val="1200"/>
              <a:buFont typeface="Arial"/>
              <a:buChar char="●"/>
            </a:pPr>
            <a:r>
              <a:rPr lang="en" sz="1200">
                <a:solidFill>
                  <a:srgbClr val="0A0A0A"/>
                </a:solidFill>
                <a:highlight>
                  <a:srgbClr val="E5EDFF"/>
                </a:highlight>
                <a:latin typeface="Roboto Mono"/>
                <a:ea typeface="Roboto Mono"/>
                <a:cs typeface="Roboto Mono"/>
                <a:sym typeface="Roboto Mono"/>
              </a:rPr>
              <a:t>.w-*</a:t>
            </a:r>
            <a:r>
              <a:rPr lang="en" sz="1200">
                <a:solidFill>
                  <a:srgbClr val="0A0A0A"/>
                </a:solidFill>
                <a:highlight>
                  <a:srgbClr val="FFFFFF"/>
                </a:highlight>
                <a:latin typeface="Arial"/>
                <a:ea typeface="Arial"/>
                <a:cs typeface="Arial"/>
                <a:sym typeface="Arial"/>
              </a:rPr>
              <a:t>, </a:t>
            </a:r>
            <a:r>
              <a:rPr lang="en" sz="1200">
                <a:solidFill>
                  <a:srgbClr val="0A0A0A"/>
                </a:solidFill>
                <a:highlight>
                  <a:srgbClr val="E5EDFF"/>
                </a:highlight>
                <a:latin typeface="Roboto Mono"/>
                <a:ea typeface="Roboto Mono"/>
                <a:cs typeface="Roboto Mono"/>
                <a:sym typeface="Roboto Mono"/>
              </a:rPr>
              <a:t>.h-*</a:t>
            </a:r>
            <a:r>
              <a:rPr lang="en" sz="1200">
                <a:solidFill>
                  <a:srgbClr val="0A0A0A"/>
                </a:solidFill>
                <a:highlight>
                  <a:srgbClr val="FFFFFF"/>
                </a:highlight>
                <a:latin typeface="Arial"/>
                <a:ea typeface="Arial"/>
                <a:cs typeface="Arial"/>
                <a:sym typeface="Arial"/>
              </a:rPr>
              <a:t>: Set width and height with values like </a:t>
            </a:r>
            <a:r>
              <a:rPr lang="en" sz="1200">
                <a:solidFill>
                  <a:srgbClr val="0A0A0A"/>
                </a:solidFill>
                <a:highlight>
                  <a:srgbClr val="E5EDFF"/>
                </a:highlight>
                <a:latin typeface="Roboto Mono"/>
                <a:ea typeface="Roboto Mono"/>
                <a:cs typeface="Roboto Mono"/>
                <a:sym typeface="Roboto Mono"/>
              </a:rPr>
              <a:t>25</a:t>
            </a:r>
            <a:r>
              <a:rPr lang="en" sz="1200">
                <a:solidFill>
                  <a:srgbClr val="0A0A0A"/>
                </a:solidFill>
                <a:highlight>
                  <a:srgbClr val="FFFFFF"/>
                </a:highlight>
                <a:latin typeface="Arial"/>
                <a:ea typeface="Arial"/>
                <a:cs typeface="Arial"/>
                <a:sym typeface="Arial"/>
              </a:rPr>
              <a:t>, </a:t>
            </a:r>
            <a:r>
              <a:rPr lang="en" sz="1200">
                <a:solidFill>
                  <a:srgbClr val="0A0A0A"/>
                </a:solidFill>
                <a:highlight>
                  <a:srgbClr val="E5EDFF"/>
                </a:highlight>
                <a:latin typeface="Roboto Mono"/>
                <a:ea typeface="Roboto Mono"/>
                <a:cs typeface="Roboto Mono"/>
                <a:sym typeface="Roboto Mono"/>
              </a:rPr>
              <a:t>50</a:t>
            </a:r>
            <a:r>
              <a:rPr lang="en" sz="1200">
                <a:solidFill>
                  <a:srgbClr val="0A0A0A"/>
                </a:solidFill>
                <a:highlight>
                  <a:srgbClr val="FFFFFF"/>
                </a:highlight>
                <a:latin typeface="Arial"/>
                <a:ea typeface="Arial"/>
                <a:cs typeface="Arial"/>
                <a:sym typeface="Arial"/>
              </a:rPr>
              <a:t>, </a:t>
            </a:r>
            <a:r>
              <a:rPr lang="en" sz="1200">
                <a:solidFill>
                  <a:srgbClr val="0A0A0A"/>
                </a:solidFill>
                <a:highlight>
                  <a:srgbClr val="E5EDFF"/>
                </a:highlight>
                <a:latin typeface="Roboto Mono"/>
                <a:ea typeface="Roboto Mono"/>
                <a:cs typeface="Roboto Mono"/>
                <a:sym typeface="Roboto Mono"/>
              </a:rPr>
              <a:t>75</a:t>
            </a:r>
            <a:r>
              <a:rPr lang="en" sz="1200">
                <a:solidFill>
                  <a:srgbClr val="0A0A0A"/>
                </a:solidFill>
                <a:highlight>
                  <a:srgbClr val="FFFFFF"/>
                </a:highlight>
                <a:latin typeface="Arial"/>
                <a:ea typeface="Arial"/>
                <a:cs typeface="Arial"/>
                <a:sym typeface="Arial"/>
              </a:rPr>
              <a:t>, </a:t>
            </a:r>
            <a:r>
              <a:rPr lang="en" sz="1200">
                <a:solidFill>
                  <a:srgbClr val="0A0A0A"/>
                </a:solidFill>
                <a:highlight>
                  <a:srgbClr val="E5EDFF"/>
                </a:highlight>
                <a:latin typeface="Roboto Mono"/>
                <a:ea typeface="Roboto Mono"/>
                <a:cs typeface="Roboto Mono"/>
                <a:sym typeface="Roboto Mono"/>
              </a:rPr>
              <a:t>100</a:t>
            </a:r>
            <a:r>
              <a:rPr lang="en" sz="1200">
                <a:solidFill>
                  <a:srgbClr val="0A0A0A"/>
                </a:solidFill>
                <a:highlight>
                  <a:srgbClr val="FFFFFF"/>
                </a:highlight>
                <a:latin typeface="Arial"/>
                <a:ea typeface="Arial"/>
                <a:cs typeface="Arial"/>
                <a:sym typeface="Arial"/>
              </a:rPr>
              <a:t>, </a:t>
            </a:r>
            <a:r>
              <a:rPr lang="en" sz="1200">
                <a:solidFill>
                  <a:srgbClr val="0A0A0A"/>
                </a:solidFill>
                <a:highlight>
                  <a:srgbClr val="E5EDFF"/>
                </a:highlight>
                <a:latin typeface="Roboto Mono"/>
                <a:ea typeface="Roboto Mono"/>
                <a:cs typeface="Roboto Mono"/>
                <a:sym typeface="Roboto Mono"/>
              </a:rPr>
              <a:t>auto</a:t>
            </a:r>
            <a:r>
              <a:rPr lang="en" sz="1200">
                <a:solidFill>
                  <a:srgbClr val="0A0A0A"/>
                </a:solidFill>
                <a:highlight>
                  <a:srgbClr val="FFFFFF"/>
                </a:highlight>
                <a:latin typeface="Arial"/>
                <a:ea typeface="Arial"/>
                <a:cs typeface="Arial"/>
                <a:sym typeface="Arial"/>
              </a:rPr>
              <a:t>.</a:t>
            </a:r>
            <a:endParaRPr sz="1200">
              <a:solidFill>
                <a:srgbClr val="0A0A0A"/>
              </a:solidFill>
              <a:highlight>
                <a:srgbClr val="FFFFFF"/>
              </a:highlight>
              <a:latin typeface="Arial"/>
              <a:ea typeface="Arial"/>
              <a:cs typeface="Arial"/>
              <a:sym typeface="Arial"/>
            </a:endParaRPr>
          </a:p>
          <a:p>
            <a:pPr indent="-304800" lvl="0" marL="457200" rtl="0" algn="l">
              <a:lnSpc>
                <a:spcPct val="150000"/>
              </a:lnSpc>
              <a:spcBef>
                <a:spcPts val="0"/>
              </a:spcBef>
              <a:spcAft>
                <a:spcPts val="0"/>
              </a:spcAft>
              <a:buClr>
                <a:srgbClr val="0A0A0A"/>
              </a:buClr>
              <a:buSzPts val="1200"/>
              <a:buFont typeface="Arial"/>
              <a:buChar char="●"/>
            </a:pPr>
            <a:r>
              <a:rPr lang="en" sz="1200">
                <a:solidFill>
                  <a:srgbClr val="0A0A0A"/>
                </a:solidFill>
                <a:highlight>
                  <a:srgbClr val="E5EDFF"/>
                </a:highlight>
                <a:latin typeface="Roboto Mono"/>
                <a:ea typeface="Roboto Mono"/>
                <a:cs typeface="Roboto Mono"/>
                <a:sym typeface="Roboto Mono"/>
              </a:rPr>
              <a:t>.mw-100</a:t>
            </a:r>
            <a:r>
              <a:rPr lang="en" sz="1200">
                <a:solidFill>
                  <a:srgbClr val="0A0A0A"/>
                </a:solidFill>
                <a:highlight>
                  <a:srgbClr val="FFFFFF"/>
                </a:highlight>
                <a:latin typeface="Arial"/>
                <a:ea typeface="Arial"/>
                <a:cs typeface="Arial"/>
                <a:sym typeface="Arial"/>
              </a:rPr>
              <a:t>, </a:t>
            </a:r>
            <a:r>
              <a:rPr lang="en" sz="1200">
                <a:solidFill>
                  <a:srgbClr val="0A0A0A"/>
                </a:solidFill>
                <a:highlight>
                  <a:srgbClr val="E5EDFF"/>
                </a:highlight>
                <a:latin typeface="Roboto Mono"/>
                <a:ea typeface="Roboto Mono"/>
                <a:cs typeface="Roboto Mono"/>
                <a:sym typeface="Roboto Mono"/>
              </a:rPr>
              <a:t>.mh-100</a:t>
            </a:r>
            <a:r>
              <a:rPr lang="en" sz="1200">
                <a:solidFill>
                  <a:srgbClr val="0A0A0A"/>
                </a:solidFill>
                <a:highlight>
                  <a:srgbClr val="FFFFFF"/>
                </a:highlight>
                <a:latin typeface="Arial"/>
                <a:ea typeface="Arial"/>
                <a:cs typeface="Arial"/>
                <a:sym typeface="Arial"/>
              </a:rPr>
              <a:t>: Set maximum width and height to 100%.</a:t>
            </a:r>
            <a:endParaRPr sz="1200">
              <a:solidFill>
                <a:srgbClr val="0A0A0A"/>
              </a:solidFill>
              <a:highlight>
                <a:srgbClr val="FFFFFF"/>
              </a:highlight>
              <a:latin typeface="Arial"/>
              <a:ea typeface="Arial"/>
              <a:cs typeface="Arial"/>
              <a:sym typeface="Arial"/>
            </a:endParaRPr>
          </a:p>
          <a:p>
            <a:pPr indent="0" lvl="0" marL="0" rtl="0" algn="l">
              <a:spcBef>
                <a:spcPts val="1500"/>
              </a:spcBef>
              <a:spcAft>
                <a:spcPts val="120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2"/>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Bootstrap Components (Utility classes cont’d)</a:t>
            </a:r>
            <a:endParaRPr/>
          </a:p>
        </p:txBody>
      </p:sp>
      <p:sp>
        <p:nvSpPr>
          <p:cNvPr id="305" name="Google Shape;305;p42"/>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lnSpc>
                <a:spcPct val="140000"/>
              </a:lnSpc>
              <a:spcBef>
                <a:spcPts val="1500"/>
              </a:spcBef>
              <a:spcAft>
                <a:spcPts val="0"/>
              </a:spcAft>
              <a:buNone/>
            </a:pPr>
            <a:r>
              <a:rPr lang="en" sz="2400">
                <a:solidFill>
                  <a:srgbClr val="0A0A0A"/>
                </a:solidFill>
                <a:highlight>
                  <a:srgbClr val="FFFFFF"/>
                </a:highlight>
                <a:latin typeface="Arial"/>
                <a:ea typeface="Arial"/>
                <a:cs typeface="Arial"/>
                <a:sym typeface="Arial"/>
              </a:rPr>
              <a:t>Shadows</a:t>
            </a:r>
            <a:r>
              <a:rPr lang="en" sz="1500">
                <a:solidFill>
                  <a:srgbClr val="0A0A0A"/>
                </a:solidFill>
                <a:highlight>
                  <a:srgbClr val="FFFFFF"/>
                </a:highlight>
                <a:latin typeface="Arial"/>
                <a:ea typeface="Arial"/>
                <a:cs typeface="Arial"/>
                <a:sym typeface="Arial"/>
              </a:rPr>
              <a:t>:</a:t>
            </a:r>
            <a:endParaRPr sz="1500">
              <a:solidFill>
                <a:srgbClr val="0A0A0A"/>
              </a:solidFill>
              <a:highlight>
                <a:srgbClr val="FFFFFF"/>
              </a:highlight>
              <a:latin typeface="Arial"/>
              <a:ea typeface="Arial"/>
              <a:cs typeface="Arial"/>
              <a:sym typeface="Arial"/>
            </a:endParaRPr>
          </a:p>
          <a:p>
            <a:pPr indent="-304800" lvl="0" marL="457200" rtl="0" algn="l">
              <a:lnSpc>
                <a:spcPct val="150000"/>
              </a:lnSpc>
              <a:spcBef>
                <a:spcPts val="800"/>
              </a:spcBef>
              <a:spcAft>
                <a:spcPts val="0"/>
              </a:spcAft>
              <a:buClr>
                <a:srgbClr val="0A0A0A"/>
              </a:buClr>
              <a:buSzPts val="1200"/>
              <a:buFont typeface="Arial"/>
              <a:buChar char="●"/>
            </a:pPr>
            <a:r>
              <a:rPr lang="en" sz="1200">
                <a:solidFill>
                  <a:srgbClr val="0A0A0A"/>
                </a:solidFill>
                <a:highlight>
                  <a:srgbClr val="E5EDFF"/>
                </a:highlight>
                <a:latin typeface="Roboto Mono"/>
                <a:ea typeface="Roboto Mono"/>
                <a:cs typeface="Roboto Mono"/>
                <a:sym typeface="Roboto Mono"/>
              </a:rPr>
              <a:t>.shadow</a:t>
            </a:r>
            <a:r>
              <a:rPr lang="en" sz="1200">
                <a:solidFill>
                  <a:srgbClr val="0A0A0A"/>
                </a:solidFill>
                <a:highlight>
                  <a:srgbClr val="FFFFFF"/>
                </a:highlight>
                <a:latin typeface="Arial"/>
                <a:ea typeface="Arial"/>
                <a:cs typeface="Arial"/>
                <a:sym typeface="Arial"/>
              </a:rPr>
              <a:t>, </a:t>
            </a:r>
            <a:r>
              <a:rPr lang="en" sz="1200">
                <a:solidFill>
                  <a:srgbClr val="0A0A0A"/>
                </a:solidFill>
                <a:highlight>
                  <a:srgbClr val="E5EDFF"/>
                </a:highlight>
                <a:latin typeface="Roboto Mono"/>
                <a:ea typeface="Roboto Mono"/>
                <a:cs typeface="Roboto Mono"/>
                <a:sym typeface="Roboto Mono"/>
              </a:rPr>
              <a:t>.shadow-sm</a:t>
            </a:r>
            <a:r>
              <a:rPr lang="en" sz="1200">
                <a:solidFill>
                  <a:srgbClr val="0A0A0A"/>
                </a:solidFill>
                <a:highlight>
                  <a:srgbClr val="FFFFFF"/>
                </a:highlight>
                <a:latin typeface="Arial"/>
                <a:ea typeface="Arial"/>
                <a:cs typeface="Arial"/>
                <a:sym typeface="Arial"/>
              </a:rPr>
              <a:t>, </a:t>
            </a:r>
            <a:r>
              <a:rPr lang="en" sz="1200">
                <a:solidFill>
                  <a:srgbClr val="0A0A0A"/>
                </a:solidFill>
                <a:highlight>
                  <a:srgbClr val="E5EDFF"/>
                </a:highlight>
                <a:latin typeface="Roboto Mono"/>
                <a:ea typeface="Roboto Mono"/>
                <a:cs typeface="Roboto Mono"/>
                <a:sym typeface="Roboto Mono"/>
              </a:rPr>
              <a:t>.shadow-lg</a:t>
            </a:r>
            <a:r>
              <a:rPr lang="en" sz="1200">
                <a:solidFill>
                  <a:srgbClr val="0A0A0A"/>
                </a:solidFill>
                <a:highlight>
                  <a:srgbClr val="FFFFFF"/>
                </a:highlight>
                <a:latin typeface="Arial"/>
                <a:ea typeface="Arial"/>
                <a:cs typeface="Arial"/>
                <a:sym typeface="Arial"/>
              </a:rPr>
              <a:t>: Apply different levels of box-shadow.</a:t>
            </a:r>
            <a:endParaRPr sz="1200">
              <a:solidFill>
                <a:srgbClr val="0A0A0A"/>
              </a:solidFill>
              <a:highlight>
                <a:srgbClr val="FFFFFF"/>
              </a:highlight>
              <a:latin typeface="Arial"/>
              <a:ea typeface="Arial"/>
              <a:cs typeface="Arial"/>
              <a:sym typeface="Arial"/>
            </a:endParaRPr>
          </a:p>
          <a:p>
            <a:pPr indent="0" lvl="0" marL="0" rtl="0" algn="l">
              <a:spcBef>
                <a:spcPts val="15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